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7.xml" ContentType="application/vnd.openxmlformats-officedocument.drawingml.chart+xml"/>
  <Override PartName="/ppt/notesSlides/notesSlide20.xml" ContentType="application/vnd.openxmlformats-officedocument.presentationml.notesSlide+xml"/>
  <Override PartName="/ppt/charts/chart8.xml" ContentType="application/vnd.openxmlformats-officedocument.drawingml.chart+xml"/>
  <Override PartName="/ppt/notesSlides/notesSlide21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22.xml" ContentType="application/vnd.openxmlformats-officedocument.presentationml.notesSlide+xml"/>
  <Override PartName="/ppt/charts/chart11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7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8" r:id="rId15"/>
    <p:sldId id="283" r:id="rId16"/>
    <p:sldId id="282" r:id="rId17"/>
    <p:sldId id="269" r:id="rId18"/>
    <p:sldId id="277" r:id="rId19"/>
    <p:sldId id="270" r:id="rId20"/>
    <p:sldId id="271" r:id="rId21"/>
    <p:sldId id="272" r:id="rId22"/>
    <p:sldId id="273" r:id="rId23"/>
    <p:sldId id="274" r:id="rId24"/>
    <p:sldId id="275" r:id="rId25"/>
    <p:sldId id="279" r:id="rId26"/>
    <p:sldId id="280" r:id="rId27"/>
    <p:sldId id="281" r:id="rId2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35"/>
  </p:normalViewPr>
  <p:slideViewPr>
    <p:cSldViewPr snapToGrid="0">
      <p:cViewPr varScale="1">
        <p:scale>
          <a:sx n="110" d="100"/>
          <a:sy n="110" d="100"/>
        </p:scale>
        <p:origin x="8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Sellers</c:v>
          </c:tx>
          <c:spPr>
            <a:solidFill>
              <a:srgbClr val="9147F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17131B"/>
                    </a:solidFill>
                    <a:latin typeface="DM Sans"/>
                    <a:ea typeface="DM Sans"/>
                    <a:cs typeface="DM San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Data'!$A$2:$A$7</c:f>
              <c:strCache>
                <c:ptCount val="6"/>
                <c:pt idx="0">
                  <c:v>Mexico</c:v>
                </c:pt>
                <c:pt idx="1">
                  <c:v>Colombia</c:v>
                </c:pt>
                <c:pt idx="2">
                  <c:v>Peru</c:v>
                </c:pt>
                <c:pt idx="3">
                  <c:v>Bolivia</c:v>
                </c:pt>
                <c:pt idx="4">
                  <c:v>Ecuador</c:v>
                </c:pt>
                <c:pt idx="5">
                  <c:v>Panama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201</c:v>
                </c:pt>
                <c:pt idx="1">
                  <c:v>63</c:v>
                </c:pt>
                <c:pt idx="2">
                  <c:v>33</c:v>
                </c:pt>
                <c:pt idx="3">
                  <c:v>14</c:v>
                </c:pt>
                <c:pt idx="4">
                  <c:v>7</c:v>
                </c:pt>
                <c:pt idx="5">
                  <c:v>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32D-0B4F-A7A0-71437F8EDA1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endParaRPr lang="pt-B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E6DDEE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endParaRPr lang="pt-BR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v>Sellers</c:v>
          </c:tx>
          <c:dPt>
            <c:idx val="0"/>
            <c:bubble3D val="0"/>
            <c:spPr>
              <a:solidFill>
                <a:srgbClr val="9147FF"/>
              </a:solidFill>
            </c:spPr>
            <c:extLst>
              <c:ext xmlns:c16="http://schemas.microsoft.com/office/drawing/2014/chart" uri="{C3380CC4-5D6E-409C-BE32-E72D297353CC}">
                <c16:uniqueId val="{00000001-E8CC-1245-B805-96E5E443D510}"/>
              </c:ext>
            </c:extLst>
          </c:dPt>
          <c:dPt>
            <c:idx val="1"/>
            <c:bubble3D val="0"/>
            <c:spPr>
              <a:solidFill>
                <a:srgbClr val="E95878"/>
              </a:solidFill>
            </c:spPr>
            <c:extLst>
              <c:ext xmlns:c16="http://schemas.microsoft.com/office/drawing/2014/chart" uri="{C3380CC4-5D6E-409C-BE32-E72D297353CC}">
                <c16:uniqueId val="{00000003-E8CC-1245-B805-96E5E443D510}"/>
              </c:ext>
            </c:extLst>
          </c:dPt>
          <c:dPt>
            <c:idx val="2"/>
            <c:bubble3D val="0"/>
            <c:spPr>
              <a:solidFill>
                <a:srgbClr val="D9D3DF"/>
              </a:solidFill>
            </c:spPr>
            <c:extLst>
              <c:ext xmlns:c16="http://schemas.microsoft.com/office/drawing/2014/chart" uri="{C3380CC4-5D6E-409C-BE32-E72D297353CC}">
                <c16:uniqueId val="{00000005-E8CC-1245-B805-96E5E443D51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17131B"/>
                    </a:solidFill>
                    <a:latin typeface="DM Sans"/>
                    <a:ea typeface="DM Sans"/>
                    <a:cs typeface="DM Sans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'Chart Data'!$A$2:$A$4</c:f>
              <c:strCache>
                <c:ptCount val="3"/>
                <c:pt idx="0">
                  <c:v>Owned</c:v>
                </c:pt>
                <c:pt idx="1">
                  <c:v>3PL</c:v>
                </c:pt>
                <c:pt idx="2">
                  <c:v>Other / missing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169</c:v>
                </c:pt>
                <c:pt idx="1">
                  <c:v>52</c:v>
                </c:pt>
                <c:pt idx="2">
                  <c:v>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8CC-1245-B805-96E5E443D510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0"/>
        </c:dLbls>
        <c:firstSliceAng val="0"/>
        <c:holeSize val="60"/>
      </c:doughnutChart>
      <c:spPr>
        <a:solidFill>
          <a:srgbClr val="FFFFFF"/>
        </a:solidFill>
      </c:spPr>
    </c:plotArea>
    <c:legend>
      <c:legendPos val="r"/>
      <c:overlay val="0"/>
      <c:txPr>
        <a:bodyPr anchorCtr="1"/>
        <a:lstStyle/>
        <a:p>
          <a:pPr>
            <a:defRPr sz="975">
              <a:solidFill>
                <a:srgbClr val="17131B"/>
              </a:solidFill>
              <a:latin typeface="DM Sans"/>
              <a:ea typeface="DM Sans"/>
              <a:cs typeface="DM Sans"/>
            </a:defRPr>
          </a:pPr>
          <a:endParaRPr lang="pt-BR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Sellers</c:v>
          </c:tx>
          <c:spPr>
            <a:solidFill>
              <a:srgbClr val="E86A4A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17131B"/>
                    </a:solidFill>
                    <a:latin typeface="DM Sans"/>
                    <a:ea typeface="DM Sans"/>
                    <a:cs typeface="DM San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Data'!$A$2:$A$6</c:f>
              <c:strCache>
                <c:ptCount val="5"/>
                <c:pt idx="0">
                  <c:v>Manual</c:v>
                </c:pt>
                <c:pt idx="1">
                  <c:v>Own system</c:v>
                </c:pt>
                <c:pt idx="2">
                  <c:v>Spreadsheet</c:v>
                </c:pt>
                <c:pt idx="3">
                  <c:v>ERP/POS</c:v>
                </c:pt>
                <c:pt idx="4">
                  <c:v>Other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142</c:v>
                </c:pt>
                <c:pt idx="1">
                  <c:v>81</c:v>
                </c:pt>
                <c:pt idx="2">
                  <c:v>51</c:v>
                </c:pt>
                <c:pt idx="3">
                  <c:v>30</c:v>
                </c:pt>
                <c:pt idx="4">
                  <c:v>18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9783-E049-A4E0-D1DD7A16D82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endParaRPr lang="pt-B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E6DDEE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endParaRPr lang="pt-BR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Sellers</c:v>
          </c:tx>
          <c:spPr>
            <a:solidFill>
              <a:srgbClr val="9147F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17131B"/>
                    </a:solidFill>
                    <a:latin typeface="DM Sans"/>
                    <a:ea typeface="DM Sans"/>
                    <a:cs typeface="DM San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Data'!$A$2:$A$6</c:f>
              <c:strCache>
                <c:ptCount val="5"/>
                <c:pt idx="0">
                  <c:v>&lt;25%</c:v>
                </c:pt>
                <c:pt idx="1">
                  <c:v>25–50%</c:v>
                </c:pt>
                <c:pt idx="2">
                  <c:v>51–75%</c:v>
                </c:pt>
                <c:pt idx="3">
                  <c:v>&gt;75%</c:v>
                </c:pt>
                <c:pt idx="4">
                  <c:v>100%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56</c:v>
                </c:pt>
                <c:pt idx="1">
                  <c:v>96</c:v>
                </c:pt>
                <c:pt idx="2">
                  <c:v>81</c:v>
                </c:pt>
                <c:pt idx="3">
                  <c:v>39</c:v>
                </c:pt>
                <c:pt idx="4">
                  <c:v>26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1C7-B541-B574-B7620FFC86A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endParaRPr lang="pt-B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E6DDEE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endParaRPr lang="pt-BR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Sellers</c:v>
          </c:tx>
          <c:spPr>
            <a:solidFill>
              <a:srgbClr val="9147F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17131B"/>
                    </a:solidFill>
                    <a:latin typeface="DM Sans"/>
                    <a:ea typeface="DM Sans"/>
                    <a:cs typeface="DM San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Data'!$A$2:$A$9</c:f>
              <c:strCache>
                <c:ptCount val="8"/>
                <c:pt idx="0">
                  <c:v>SLA35</c:v>
                </c:pt>
                <c:pt idx="1">
                  <c:v>Accuracy</c:v>
                </c:pt>
                <c:pt idx="2">
                  <c:v>Order Rating</c:v>
                </c:pt>
                <c:pt idx="3">
                  <c:v>Fill Rate</c:v>
                </c:pt>
                <c:pt idx="4">
                  <c:v>Availability Rate OH</c:v>
                </c:pt>
                <c:pt idx="5">
                  <c:v>TML 10</c:v>
                </c:pt>
                <c:pt idx="6">
                  <c:v>SLA60</c:v>
                </c:pt>
                <c:pt idx="7">
                  <c:v>Demand Coverage</c:v>
                </c:pt>
              </c:strCache>
            </c:str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75.5</c:v>
                </c:pt>
                <c:pt idx="1">
                  <c:v>62.4</c:v>
                </c:pt>
                <c:pt idx="2">
                  <c:v>59.9</c:v>
                </c:pt>
                <c:pt idx="3">
                  <c:v>53.4</c:v>
                </c:pt>
                <c:pt idx="4">
                  <c:v>46</c:v>
                </c:pt>
                <c:pt idx="5">
                  <c:v>40.4</c:v>
                </c:pt>
                <c:pt idx="6">
                  <c:v>24.5</c:v>
                </c:pt>
                <c:pt idx="7">
                  <c:v>23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E3B-BF41-9355-A360EC2872E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endParaRPr lang="pt-B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E6DDEE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endParaRPr lang="pt-BR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Sellers</c:v>
          </c:tx>
          <c:spPr>
            <a:solidFill>
              <a:srgbClr val="E9587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17131B"/>
                    </a:solidFill>
                    <a:latin typeface="DM Sans"/>
                    <a:ea typeface="DM Sans"/>
                    <a:cs typeface="DM San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Data'!$A$2:$A$7</c:f>
              <c:strCache>
                <c:ptCount val="6"/>
                <c:pt idx="0">
                  <c:v>Delivery / couriers</c:v>
                </c:pt>
                <c:pt idx="1">
                  <c:v>Growth / sales</c:v>
                </c:pt>
                <c:pt idx="2">
                  <c:v>Supply / inventory</c:v>
                </c:pt>
                <c:pt idx="3">
                  <c:v>App / data / process</c:v>
                </c:pt>
                <c:pt idx="4">
                  <c:v>Payments / incentives</c:v>
                </c:pt>
                <c:pt idx="5">
                  <c:v>No issue / positive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34.4</c:v>
                </c:pt>
                <c:pt idx="1">
                  <c:v>30.4</c:v>
                </c:pt>
                <c:pt idx="2">
                  <c:v>14.9</c:v>
                </c:pt>
                <c:pt idx="3">
                  <c:v>9.4</c:v>
                </c:pt>
                <c:pt idx="4">
                  <c:v>4</c:v>
                </c:pt>
                <c:pt idx="5">
                  <c:v>5.4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61B-7246-8138-6949D8500CD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endParaRPr lang="pt-B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E6DDEE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endParaRPr lang="pt-BR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Active couriers</c:v>
          </c:tx>
          <c:spPr>
            <a:solidFill>
              <a:srgbClr val="1383A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788" b="1">
                    <a:solidFill>
                      <a:srgbClr val="17131B"/>
                    </a:solidFill>
                    <a:latin typeface="DM Sans"/>
                    <a:ea typeface="DM Sans"/>
                    <a:cs typeface="DM San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Data'!$A$2:$A$7</c:f>
              <c:strCache>
                <c:ptCount val="6"/>
                <c:pt idx="0">
                  <c:v>Mexico</c:v>
                </c:pt>
                <c:pt idx="1">
                  <c:v>Colombia</c:v>
                </c:pt>
                <c:pt idx="2">
                  <c:v>Peru</c:v>
                </c:pt>
                <c:pt idx="3">
                  <c:v>Ecuador</c:v>
                </c:pt>
                <c:pt idx="4">
                  <c:v>Bolivia</c:v>
                </c:pt>
                <c:pt idx="5">
                  <c:v>Panama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45.9</c:v>
                </c:pt>
                <c:pt idx="1">
                  <c:v>26.8</c:v>
                </c:pt>
                <c:pt idx="2">
                  <c:v>15.9</c:v>
                </c:pt>
                <c:pt idx="3">
                  <c:v>5.8</c:v>
                </c:pt>
                <c:pt idx="4">
                  <c:v>4.3</c:v>
                </c:pt>
                <c:pt idx="5">
                  <c:v>1.4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13B-334E-8026-E4D61B332346}"/>
            </c:ext>
          </c:extLst>
        </c:ser>
        <c:ser>
          <c:idx val="1"/>
          <c:order val="1"/>
          <c:tx>
            <c:v>Matched sellers</c:v>
          </c:tx>
          <c:spPr>
            <a:solidFill>
              <a:srgbClr val="9147F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788" b="1">
                    <a:solidFill>
                      <a:srgbClr val="17131B"/>
                    </a:solidFill>
                    <a:latin typeface="DM Sans"/>
                    <a:ea typeface="DM Sans"/>
                    <a:cs typeface="DM San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Data'!$C$2:$C$7</c:f>
              <c:strCache>
                <c:ptCount val="6"/>
                <c:pt idx="0">
                  <c:v>Mexico</c:v>
                </c:pt>
                <c:pt idx="1">
                  <c:v>Colombia</c:v>
                </c:pt>
                <c:pt idx="2">
                  <c:v>Peru</c:v>
                </c:pt>
                <c:pt idx="3">
                  <c:v>Ecuador</c:v>
                </c:pt>
                <c:pt idx="4">
                  <c:v>Bolivia</c:v>
                </c:pt>
                <c:pt idx="5">
                  <c:v>Panama</c:v>
                </c:pt>
              </c:strCache>
            </c:str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62.4</c:v>
                </c:pt>
                <c:pt idx="1">
                  <c:v>19.600000000000001</c:v>
                </c:pt>
                <c:pt idx="2">
                  <c:v>10.199999999999999</c:v>
                </c:pt>
                <c:pt idx="3">
                  <c:v>2.2000000000000002</c:v>
                </c:pt>
                <c:pt idx="4">
                  <c:v>4.3</c:v>
                </c:pt>
                <c:pt idx="5">
                  <c:v>1.2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13B-334E-8026-E4D61B33234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endParaRPr lang="pt-B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E6DDEE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endParaRPr lang="pt-BR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t"/>
      <c:overlay val="0"/>
      <c:txPr>
        <a:bodyPr anchorCtr="1"/>
        <a:lstStyle/>
        <a:p>
          <a:pPr>
            <a:defRPr sz="900">
              <a:solidFill>
                <a:srgbClr val="17131B"/>
              </a:solidFill>
              <a:latin typeface="DM Sans"/>
              <a:ea typeface="DM Sans"/>
              <a:cs typeface="DM Sans"/>
            </a:defRPr>
          </a:pPr>
          <a:endParaRPr lang="pt-BR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Sellers</c:v>
          </c:tx>
          <c:spPr>
            <a:solidFill>
              <a:srgbClr val="1383A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17131B"/>
                    </a:solidFill>
                    <a:latin typeface="DM Sans"/>
                    <a:ea typeface="DM Sans"/>
                    <a:cs typeface="DM San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Data'!$A$2:$A$9</c:f>
              <c:strCache>
                <c:ptCount val="8"/>
                <c:pt idx="0">
                  <c:v>0 days</c:v>
                </c:pt>
                <c:pt idx="1">
                  <c:v>0–1 month</c:v>
                </c:pt>
                <c:pt idx="2">
                  <c:v>1–3 months</c:v>
                </c:pt>
                <c:pt idx="3">
                  <c:v>3–6 months</c:v>
                </c:pt>
                <c:pt idx="4">
                  <c:v>6–12 months</c:v>
                </c:pt>
                <c:pt idx="5">
                  <c:v>12–24 months</c:v>
                </c:pt>
                <c:pt idx="6">
                  <c:v>24–36 months</c:v>
                </c:pt>
                <c:pt idx="7">
                  <c:v>36+ months</c:v>
                </c:pt>
              </c:strCache>
            </c:str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18.899999999999999</c:v>
                </c:pt>
                <c:pt idx="1">
                  <c:v>24.4</c:v>
                </c:pt>
                <c:pt idx="2">
                  <c:v>18.7</c:v>
                </c:pt>
                <c:pt idx="3">
                  <c:v>11.7</c:v>
                </c:pt>
                <c:pt idx="4">
                  <c:v>11.3</c:v>
                </c:pt>
                <c:pt idx="5">
                  <c:v>9.5</c:v>
                </c:pt>
                <c:pt idx="6">
                  <c:v>4.9000000000000004</c:v>
                </c:pt>
                <c:pt idx="7">
                  <c:v>0.5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95A-404C-8EFF-9CF71B7D75A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endParaRPr lang="pt-B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E6DDEE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endParaRPr lang="pt-BR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Sellers</c:v>
          </c:tx>
          <c:spPr>
            <a:solidFill>
              <a:srgbClr val="E86A4A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17131B"/>
                    </a:solidFill>
                    <a:latin typeface="DM Sans"/>
                    <a:ea typeface="DM Sans"/>
                    <a:cs typeface="DM San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Hasta 4 h</c:v>
                </c:pt>
                <c:pt idx="1">
                  <c:v>4–6 h</c:v>
                </c:pt>
                <c:pt idx="2">
                  <c:v>7–10 h</c:v>
                </c:pt>
                <c:pt idx="3">
                  <c:v>Más de 10 h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3.4</c:v>
                </c:pt>
                <c:pt idx="1">
                  <c:v>11.8</c:v>
                </c:pt>
                <c:pt idx="2">
                  <c:v>51</c:v>
                </c:pt>
                <c:pt idx="3">
                  <c:v>33.799999999999997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B3F-C944-9210-30599361ADB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endParaRPr lang="pt-B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E6DDEE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endParaRPr lang="pt-BR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Sellers</c:v>
          </c:tx>
          <c:spPr>
            <a:solidFill>
              <a:srgbClr val="1383A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17131B"/>
                    </a:solidFill>
                    <a:latin typeface="DM Sans"/>
                    <a:ea typeface="DM Sans"/>
                    <a:cs typeface="DM San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Data'!$A$2:$A$8</c:f>
              <c:strCache>
                <c:ptCount val="7"/>
                <c:pt idx="0">
                  <c:v>Lunes</c:v>
                </c:pt>
                <c:pt idx="1">
                  <c:v>Martes</c:v>
                </c:pt>
                <c:pt idx="2">
                  <c:v>Miércoles</c:v>
                </c:pt>
                <c:pt idx="3">
                  <c:v>Jueves</c:v>
                </c:pt>
                <c:pt idx="4">
                  <c:v>Viernes</c:v>
                </c:pt>
                <c:pt idx="5">
                  <c:v>Sábado</c:v>
                </c:pt>
                <c:pt idx="6">
                  <c:v>Domingo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57.6</c:v>
                </c:pt>
                <c:pt idx="1">
                  <c:v>55.7</c:v>
                </c:pt>
                <c:pt idx="2">
                  <c:v>63.2</c:v>
                </c:pt>
                <c:pt idx="3">
                  <c:v>73</c:v>
                </c:pt>
                <c:pt idx="4">
                  <c:v>93.3</c:v>
                </c:pt>
                <c:pt idx="5">
                  <c:v>97.4</c:v>
                </c:pt>
                <c:pt idx="6">
                  <c:v>86.4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995-3D43-93A7-173A444D8F3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endParaRPr lang="pt-B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E6DDEE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endParaRPr lang="pt-BR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Sellers</c:v>
          </c:tx>
          <c:spPr>
            <a:solidFill>
              <a:srgbClr val="1383A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17131B"/>
                    </a:solidFill>
                    <a:latin typeface="DM Sans"/>
                    <a:ea typeface="DM Sans"/>
                    <a:cs typeface="DM San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Data'!$A$2:$A$11</c:f>
              <c:strCache>
                <c:ptCount val="10"/>
                <c:pt idx="0">
                  <c:v>Customer communication</c:v>
                </c:pt>
                <c:pt idx="1">
                  <c:v>Routes / addresses</c:v>
                </c:pt>
                <c:pt idx="2">
                  <c:v>Excessive wait</c:v>
                </c:pt>
                <c:pt idx="3">
                  <c:v>App crashes</c:v>
                </c:pt>
                <c:pt idx="4">
                  <c:v>No support</c:v>
                </c:pt>
                <c:pt idx="5">
                  <c:v>Incomplete order info</c:v>
                </c:pt>
                <c:pt idx="6">
                  <c:v>Pickup delay</c:v>
                </c:pt>
                <c:pt idx="7">
                  <c:v>Payment problems</c:v>
                </c:pt>
                <c:pt idx="8">
                  <c:v>App usability</c:v>
                </c:pt>
                <c:pt idx="9">
                  <c:v>No courier assigned</c:v>
                </c:pt>
              </c:strCache>
            </c:strRef>
          </c:cat>
          <c:val>
            <c:numRef>
              <c:f>'Chart Data'!$B$2:$B$11</c:f>
              <c:numCache>
                <c:formatCode>General</c:formatCode>
                <c:ptCount val="10"/>
                <c:pt idx="0">
                  <c:v>46.9</c:v>
                </c:pt>
                <c:pt idx="1">
                  <c:v>36.5</c:v>
                </c:pt>
                <c:pt idx="2">
                  <c:v>32.5</c:v>
                </c:pt>
                <c:pt idx="3">
                  <c:v>28.1</c:v>
                </c:pt>
                <c:pt idx="4">
                  <c:v>22.4</c:v>
                </c:pt>
                <c:pt idx="5">
                  <c:v>18.8</c:v>
                </c:pt>
                <c:pt idx="6">
                  <c:v>14</c:v>
                </c:pt>
                <c:pt idx="7">
                  <c:v>10.6</c:v>
                </c:pt>
                <c:pt idx="8">
                  <c:v>7.2</c:v>
                </c:pt>
                <c:pt idx="9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F56-2348-94AA-9794F8A6404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75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endParaRPr lang="pt-B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E6DDEE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endParaRPr lang="pt-BR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responses-bYhRoNsu-01M3M1WBJB8MCQVEYXZKMJST3X-AG97MSWOQ8LLLJJJ3K0Y8SW2.csv; results-2.csv, results-3.csv. Cover created in the supplied TaDa Growth Strategy 2027 template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responses-bYhRoNsu-01M3M1WBJB8MCQVEYXZKMJST3X-AG97MSWOQ8LLLJJJ3K0Y8SW2.csv. Seller questionnaire reconstructed from the Typeform export; wording is shown in Spanish and grouped for readability. Sample: 333 raw responses; 325 unique seller 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responses-bYhRoNsu-01M3M1WBJB8MCQVEYXZKMJST3X-AG97MSWOQ8LLLJJJ3K0Y8SW2.csv; results-2.csv, results-3.csv. Calculations use 322 unique matched seller IDs after deduplication.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results-2.csv, results-3.csv. Seller counts are based on 322 unique operational seller IDs. GMV was converted using the FX table on slide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results-2.csv, results-3.csv. Owned = OWNED_STORE; 3PL = DARK_STORE_3RD_PARTY; all other values are shown as Other / missing and should not be treated as a single homogeneous segment.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responses-bYhRoNsu-01M3M1WBJB8MCQVEYXZKMJST3X-AG97MSWOQ8LLLJJJ3K0Y8SW2.csv. Percentages use 322 matched sellers after deduplication. The survey captures self-reported operating model, not an audited process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responses-bYhRoNsu-01M3M1WBJB8MCQVEYXZKMJST3X-AG97MSWOQ8LLLJJJ3K0Y8SW2.csv. Metrics are checkbox selections, so this is a recognition signal—not a proficiency test. Metric labels preserve the survey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responses-bYhRoNsu-01M3M1WBJB8MCQVEYXZKMJST3X-AG97MSWOQ8LLLJJJ3K0Y8SW2.csv; results-2.csv, results-3.csv. Cluster rules: Small &lt;100 orders/week; Medium 100–249; Large ≥250; Novice &lt;12 months; Developing 12–35; Experienced ≥36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responses-bYhRoNsu-01M3M1WBJB8MCQVEYXZKMJST3X-AG97MSWOQ8LLLJJJ3K0Y8SW2.csv; results-2.csv, results-3.csv. The “Thinks / Acts / Knows / Wants” statements are evidence-based working hypotheses derived from the cluster metrics and open-text themes, not verbatim respondent quotes.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responses-bYhRoNsu-01M3M1WBJB8MCQVEYXZKMJST3X-AG97MSWOQ8LLLJJJ3K0Y8SW2.csv; results-2.csv, results-3.csv. The “Thinks / Acts / Knows / Wants” statements are evidence-based working hypotheses derived from the cluster metrics and open-text themes, not verbatim respondent quotes.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responses-bYhRoNsu-01M3M1WBJB8MCQVEYXZKMJST3X-AG97MSWOQ8LLLJJJ3K0Y8SW2.csv; results-2.csv, results-3.csv. The “Thinks / Acts / Knows / Wants” statements are evidence-based working hypotheses derived from the cluster metrics and open-text themes, not verbatim respondent quotes.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responses-bYhRoNsu-01M3M1WBJB8MCQVEYXZKMJST3X-AG97MSWOQ8LLLJJJ3K0Y8SW2.csv. Keyword-coded open text, 276 non-empty comments. Multiple themes may be present in one comment; percentages are not mutually exclusive.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responses-bYhRoNsu-01M3M1WBJB8MCQVEYXZKMJST3X-AG97MSWOQ8LLLJJJ3K0Y8SW2.csv; results-2.csv, results-3.csv. The three plays are proposed interventions derived from seller size, maturity, metric recognition and open-text themes.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responses-bYhRoNsu-01M3M1WBJB8MCQVEYXZKMJST3X-AG97MSWOQ8LLLJJJ3K0Y8SW2.csv. Quote excerpts were selected from the open-ended seller challenge field; they are representative examples, not a frequency-ranked verbatim corpus. Non-empty open comments: 276.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3D005-11CE-F318-A8FE-F4A22C9D9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A15F7B-E0B2-7B76-36C7-8E499FA36A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A328B7-5A24-25C4-6ED1-6E17791566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responses-bYhRoNsu-01M3M1WBJB8MCQVEYXZKMJST3X-AG97MSWOQ8LLLJJJ3K0Y8SW2.csv. Quote excerpts were selected from the open-ended seller challenge field; they are representative examples, not a frequency-ranked verbatim corpus. Non-empty open comments: 276.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A387F-2554-D5BF-8F28-0DE27D34D21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4627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67670-8233-7102-3100-A9FD7C26A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9E1450-EF67-991C-4391-EDD7BD7532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5F73F9-EB03-6D3C-B926-6B3DE7A26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responses-bYhRoNsu-01M3M1WBJB8MCQVEYXZKMJST3X-AG97MSWOQ8LLLJJJ3K0Y8SW2.csv; results-2.csv, results-3.csv. The three plays are proposed interventions derived from seller size, maturity, metric recognition and open-text themes.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11B2E-A7E5-C567-2EF9-28817C1CDD9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60403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Entregadores Ativos — TaD.pdf; responses-K92GJPNF-01M37WC2PC8KKPRNEPY1JD03QP-MHW0XD00PJTQ61GXEHTUK2UU.csv. Courier section added from the previous active courier report and survey.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responses-K92GJPNF-01M37WC2PC8KKPRNEPY1JD03QP-MHW0XD00PJTQ61GXEHTUK2UU.csv. Courier questionnaire reconstructed from the CSV export and grouped for readability. Survey sample: 794 responses.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Entregadores Ativos — TaD.pdf; results-2.csv, results-3.csv. Active courier values are from the PDF report dated 2026-09-28; seller shares are from the 322 matched sellers.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Entregadores Ativos — TaD.pdf. PDF methodology: active courier means at least one valid delivery in the last 30 days; tenure is the difference between first and last valid delivery. Reference date: 2026-09-28.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responses-K92GJPNF-01M37WC2PC8KKPRNEPY1JD03QP-MHW0XD00PJTQ61GXEHTUK2UU.csv. Survey sample: 794 responses. Shares reflect self-reported answers and selected delivery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responses-K92GJPNF-01M37WC2PC8KKPRNEPY1JD03QP-MHW0XD00PJTQ61GXEHTUK2UU.csv. Issue shares are checkbox selections from 794 responses; categories are not mutually exclusive.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responses-K92GJPNF-01M37WC2PC8KKPRNEPY1JD03QP-MHW0XD00PJTQ61GXEHTUK2UU.csv; Entregadores Ativos — TaD.pdf. The four profiles use an exclusive routing rule: flexible/rotating first, then portfolio/multi-store, then new single-store starters, then core store runners.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responses-bYhRoNsu-01M3M1WBJB8MCQVEYXZKMJST3X-AG97MSWOQ8LLLJJJ3K0Y8SW2.csv; results-2.csv, results-3.csv; responses-K92GJPNF-01M37WC2PC8KKPRNEPY1JD03QP-MHW0XD00PJTQ61GXEHTUK2UU.csv; Entregadores Ativos — TaD.pdf. This slide synthesizes seller open text, courier issue selections and courier open text into a shared service-chain hypothesis.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responses-K92GJPNF-01M37WC2PC8KKPRNEPY1JD03QP-MHW0XD00PJTQ61GXEHTUK2UU.csv. Quote excerpts were selected from the open-ended courier improvement field; they are representative examples, not a frequency-ranked verbatim corpus. Non-empty open comments: 370.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responses-bYhRoNsu-01M3M1WBJB8MCQVEYXZKMJST3X-AG97MSWOQ8LLLJJJ3K0Y8SW2.csv; responses-K92GJPNF-01M37WC2PC8KKPRNEPY1JD03QP-MHW0XD00PJTQ61GXEHTUK2UU.csv; Entregadores Ativos — TaD.pdf. Now/Next/Later is a proposed action sequence based on the most repeated seller and courier themes, not a validated impact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responses-bYhRoNsu-01M3M1WBJB8MCQVEYXZKMJST3X-AG97MSWOQ8LLLJJJ3K0Y8SW2.csv; results-2.csv, results-3.csv; responses-K92GJPNF-01M37WC2PC8KKPRNEPY1JD03QP-MHW0XD00PJTQ61GXEHTUK2UU.csv; Entregadores Ativos — TaD.pdf. Leadership decisions are proposed based on the evidence and the limitations described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C44C57E2-9A90-4D0C-B32B-9D3FACC2D299}"/>
              </a:ext>
            </a:extLst>
          </p:cNvPr>
          <p:cNvSpPr>
            <a:spLocks noGrp="1"/>
          </p:cNvSpPr>
          <p:nvPr/>
        </p:nvSpPr>
        <p:spPr>
          <a:xfrm>
            <a:off x="190500" y="304800"/>
            <a:ext cx="419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SELLER ATLAS 2026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3AFC5BE-587F-4CB6-92ED-3F16C48EE3A9}"/>
              </a:ext>
            </a:extLst>
          </p:cNvPr>
          <p:cNvSpPr>
            <a:spLocks noGrp="1"/>
          </p:cNvSpPr>
          <p:nvPr/>
        </p:nvSpPr>
        <p:spPr>
          <a:xfrm>
            <a:off x="228600" y="1104900"/>
            <a:ext cx="6191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2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427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Who is behind</a:t>
            </a:r>
          </a:p>
          <a:p>
            <a:pPr algn="l">
              <a:defRPr sz="42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427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TaDa's growth?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67383FC-DC57-45F5-B4BF-23BD831E14E5}"/>
              </a:ext>
            </a:extLst>
          </p:cNvPr>
          <p:cNvSpPr>
            <a:spLocks noGrp="1"/>
          </p:cNvSpPr>
          <p:nvPr/>
        </p:nvSpPr>
        <p:spPr>
          <a:xfrm>
            <a:off x="228600" y="3000375"/>
            <a:ext cx="6477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E5DFEA"/>
                </a:solidFill>
                <a:latin typeface="DM Sans"/>
                <a:ea typeface="DM Sans"/>
                <a:cs typeface="DM Sans"/>
              </a:defRPr>
            </a:pPr>
            <a:r>
              <a:rPr sz="1725" b="0">
                <a:solidFill>
                  <a:srgbClr val="E5DFEA"/>
                </a:solidFill>
                <a:latin typeface="DM Sans"/>
                <a:ea typeface="DM Sans"/>
                <a:cs typeface="DM Sans"/>
              </a:rPr>
              <a:t>Seller and courier firmographics for product and operations decisions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2B669FB-84A4-478C-9A72-B1E1A737296A}"/>
              </a:ext>
            </a:extLst>
          </p:cNvPr>
          <p:cNvSpPr>
            <a:spLocks noGrp="1"/>
          </p:cNvSpPr>
          <p:nvPr/>
        </p:nvSpPr>
        <p:spPr>
          <a:xfrm>
            <a:off x="228600" y="4095750"/>
            <a:ext cx="5905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AFA5B9"/>
                </a:solidFill>
                <a:latin typeface="DM Sans"/>
                <a:ea typeface="DM Sans"/>
                <a:cs typeface="DM Sans"/>
              </a:defRPr>
            </a:pPr>
            <a:r>
              <a:rPr sz="1200" b="0">
                <a:solidFill>
                  <a:srgbClr val="AFA5B9"/>
                </a:solidFill>
                <a:latin typeface="DM Sans"/>
                <a:ea typeface="DM Sans"/>
                <a:cs typeface="DM Sans"/>
              </a:rPr>
              <a:t>322 matched sellers • 6 countries • 54 cities • 3 segmentation cuts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CDAA93A-8D57-4996-8994-199123AAE0DC}"/>
              </a:ext>
            </a:extLst>
          </p:cNvPr>
          <p:cNvSpPr>
            <a:spLocks noGrp="1"/>
          </p:cNvSpPr>
          <p:nvPr/>
        </p:nvSpPr>
        <p:spPr>
          <a:xfrm>
            <a:off x="228600" y="55816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MEXICO  /  COLOMBIA  /  PERU  /  BOLIVIA  /  ECUADOR  /  PANAMA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7C567C7-3B5B-4C14-86BD-224499B8E8C8}"/>
              </a:ext>
            </a:extLst>
          </p:cNvPr>
          <p:cNvSpPr>
            <a:spLocks noGrp="1"/>
          </p:cNvSpPr>
          <p:nvPr/>
        </p:nvSpPr>
        <p:spPr>
          <a:xfrm>
            <a:off x="7810500" y="1476375"/>
            <a:ext cx="342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3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TRUST</a:t>
            </a:r>
          </a:p>
        </p:txBody>
      </p:sp>
      <p:sp>
        <p:nvSpPr>
          <p:cNvPr id="7" name="Conector Reto 6">
            <a:extLst>
              <a:ext uri="{FF2B5EF4-FFF2-40B4-BE49-F238E27FC236}">
                <a16:creationId xmlns:a16="http://schemas.microsoft.com/office/drawing/2014/main" id="{D373CC0E-65BF-498A-BCE1-44E633CF2DBB}"/>
              </a:ext>
            </a:extLst>
          </p:cNvPr>
          <p:cNvSpPr>
            <a:spLocks noGrp="1"/>
          </p:cNvSpPr>
          <p:nvPr/>
        </p:nvSpPr>
        <p:spPr>
          <a:xfrm>
            <a:off x="7810500" y="2190750"/>
            <a:ext cx="3238500" cy="0"/>
          </a:xfrm>
          <a:prstGeom prst="line">
            <a:avLst/>
          </a:prstGeom>
          <a:ln w="19050">
            <a:solidFill>
              <a:srgbClr val="9147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6C5FDDE-D57B-4416-9EA5-2FD84B8D9176}"/>
              </a:ext>
            </a:extLst>
          </p:cNvPr>
          <p:cNvSpPr>
            <a:spLocks noGrp="1"/>
          </p:cNvSpPr>
          <p:nvPr/>
        </p:nvSpPr>
        <p:spPr>
          <a:xfrm>
            <a:off x="6667500" y="2724150"/>
            <a:ext cx="4381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3900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FREQUENCY</a:t>
            </a:r>
          </a:p>
        </p:txBody>
      </p:sp>
      <p:sp>
        <p:nvSpPr>
          <p:cNvPr id="9" name="Conector Reto 8">
            <a:extLst>
              <a:ext uri="{FF2B5EF4-FFF2-40B4-BE49-F238E27FC236}">
                <a16:creationId xmlns:a16="http://schemas.microsoft.com/office/drawing/2014/main" id="{22579E2C-C2A2-4E75-9801-BA9FAA53DEE5}"/>
              </a:ext>
            </a:extLst>
          </p:cNvPr>
          <p:cNvSpPr>
            <a:spLocks noGrp="1"/>
          </p:cNvSpPr>
          <p:nvPr/>
        </p:nvSpPr>
        <p:spPr>
          <a:xfrm>
            <a:off x="6667500" y="3438525"/>
            <a:ext cx="4381500" cy="0"/>
          </a:xfrm>
          <a:prstGeom prst="line">
            <a:avLst/>
          </a:prstGeom>
          <a:ln w="9525">
            <a:solidFill>
              <a:srgbClr val="3A33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0790B8D-68DD-4897-AE24-9FA4F98955C4}"/>
              </a:ext>
            </a:extLst>
          </p:cNvPr>
          <p:cNvSpPr>
            <a:spLocks noGrp="1"/>
          </p:cNvSpPr>
          <p:nvPr/>
        </p:nvSpPr>
        <p:spPr>
          <a:xfrm>
            <a:off x="6667500" y="3943350"/>
            <a:ext cx="4381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3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EXPANSION</a:t>
            </a:r>
          </a:p>
        </p:txBody>
      </p:sp>
      <p:sp>
        <p:nvSpPr>
          <p:cNvPr id="11" name="Conector Reto 10">
            <a:extLst>
              <a:ext uri="{FF2B5EF4-FFF2-40B4-BE49-F238E27FC236}">
                <a16:creationId xmlns:a16="http://schemas.microsoft.com/office/drawing/2014/main" id="{A3CEDF58-D896-4BF5-A271-ABD5214FB05C}"/>
              </a:ext>
            </a:extLst>
          </p:cNvPr>
          <p:cNvSpPr>
            <a:spLocks noGrp="1"/>
          </p:cNvSpPr>
          <p:nvPr/>
        </p:nvSpPr>
        <p:spPr>
          <a:xfrm>
            <a:off x="6667500" y="4657725"/>
            <a:ext cx="4381500" cy="0"/>
          </a:xfrm>
          <a:prstGeom prst="line">
            <a:avLst/>
          </a:prstGeom>
          <a:ln w="9525">
            <a:solidFill>
              <a:srgbClr val="3A33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7E2BE3C-385F-4E72-9EF1-A0D04B7FA091}"/>
              </a:ext>
            </a:extLst>
          </p:cNvPr>
          <p:cNvSpPr>
            <a:spLocks noGrp="1"/>
          </p:cNvSpPr>
          <p:nvPr/>
        </p:nvSpPr>
        <p:spPr>
          <a:xfrm>
            <a:off x="2095500" y="6372225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Seller Firmographics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108730A-58CB-4EDB-B2CF-24B23B9B0BC1}"/>
              </a:ext>
            </a:extLst>
          </p:cNvPr>
          <p:cNvSpPr>
            <a:spLocks noGrp="1"/>
          </p:cNvSpPr>
          <p:nvPr/>
        </p:nvSpPr>
        <p:spPr>
          <a:xfrm>
            <a:off x="6019800" y="6372225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01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BB9CA06-CB57-47E3-AACD-6E609496E6C1}"/>
              </a:ext>
            </a:extLst>
          </p:cNvPr>
          <p:cNvSpPr>
            <a:spLocks noGrp="1"/>
          </p:cNvSpPr>
          <p:nvPr/>
        </p:nvSpPr>
        <p:spPr>
          <a:xfrm>
            <a:off x="7962900" y="637222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TaDa Growth Strategy 2027</a:t>
            </a:r>
          </a:p>
        </p:txBody>
      </p:sp>
    </p:spTree>
    <p:extLst>
      <p:ext uri="{BB962C8B-B14F-4D97-AF65-F5344CB8AC3E}">
        <p14:creationId xmlns:p14="http://schemas.microsoft.com/office/powerpoint/2010/main" val="1836786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>
            <a:extLst>
              <a:ext uri="{FF2B5EF4-FFF2-40B4-BE49-F238E27FC236}">
                <a16:creationId xmlns:a16="http://schemas.microsoft.com/office/drawing/2014/main" id="{534C4225-3F75-48C1-A4AD-B0E313114CE1}"/>
              </a:ext>
            </a:extLst>
          </p:cNvPr>
          <p:cNvSpPr>
            <a:spLocks noGrp="1"/>
          </p:cNvSpPr>
          <p:nvPr/>
        </p:nvSpPr>
        <p:spPr>
          <a:xfrm>
            <a:off x="190500" y="228600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21 / APPENDIX · SELLER RESEARCH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C265D66-C12C-47BB-BCD4-CEC44CBB6734}"/>
              </a:ext>
            </a:extLst>
          </p:cNvPr>
          <p:cNvSpPr>
            <a:spLocks noGrp="1"/>
          </p:cNvSpPr>
          <p:nvPr/>
        </p:nvSpPr>
        <p:spPr>
          <a:xfrm>
            <a:off x="190500" y="533400"/>
            <a:ext cx="1143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What we asked sellers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D9B2965-3BD2-4202-92C7-E9059F2BCD29}"/>
              </a:ext>
            </a:extLst>
          </p:cNvPr>
          <p:cNvSpPr>
            <a:spLocks noGrp="1"/>
          </p:cNvSpPr>
          <p:nvPr/>
        </p:nvSpPr>
        <p:spPr>
          <a:xfrm>
            <a:off x="190500" y="1219200"/>
            <a:ext cx="1123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16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The questionnaire combines firmographic context, operational setup, metric literacy, satisfaction and one open prompt for the seller’s own priorities. Wording below is preserved in Spanish, as fielded.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59816A9-12DC-4D7A-8221-4F792628357B}"/>
              </a:ext>
            </a:extLst>
          </p:cNvPr>
          <p:cNvSpPr>
            <a:spLocks noGrp="1"/>
          </p:cNvSpPr>
          <p:nvPr/>
        </p:nvSpPr>
        <p:spPr>
          <a:xfrm>
            <a:off x="190500" y="1743075"/>
            <a:ext cx="3524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OPERACIÓN Y CONTEXTO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71DAFB4-2B02-46FB-A12B-B52F4A09B443}"/>
              </a:ext>
            </a:extLst>
          </p:cNvPr>
          <p:cNvSpPr>
            <a:spLocks noGrp="1"/>
          </p:cNvSpPr>
          <p:nvPr/>
        </p:nvSpPr>
        <p:spPr>
          <a:xfrm>
            <a:off x="190500" y="2000250"/>
            <a:ext cx="3476625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¿Con cuántos repartidores propios cuenta tu tienda?</a:t>
            </a:r>
          </a:p>
          <a:p>
            <a:endParaRPr sz="1050" b="0">
              <a:solidFill>
                <a:srgbClr val="17131B"/>
              </a:solidFill>
              <a:latin typeface="DM Sans"/>
              <a:ea typeface="DM Sans"/>
              <a:cs typeface="DM Sans"/>
            </a:endParaRPr>
          </a:p>
          <a:p>
            <a:pPr algn="l">
              <a:defRPr sz="105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¿Cómo gestionas actualmente los pedidos?</a:t>
            </a:r>
          </a:p>
          <a:p>
            <a:endParaRPr sz="1050" b="0">
              <a:solidFill>
                <a:srgbClr val="17131B"/>
              </a:solidFill>
              <a:latin typeface="DM Sans"/>
              <a:ea typeface="DM Sans"/>
              <a:cs typeface="DM Sans"/>
            </a:endParaRPr>
          </a:p>
          <a:p>
            <a:pPr algn="l">
              <a:defRPr sz="105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¿Qué porcentaje de tus ventas totales representa TaDa?</a:t>
            </a:r>
          </a:p>
          <a:p>
            <a:endParaRPr sz="1050" b="0">
              <a:solidFill>
                <a:srgbClr val="17131B"/>
              </a:solidFill>
              <a:latin typeface="DM Sans"/>
              <a:ea typeface="DM Sans"/>
              <a:cs typeface="DM Sans"/>
            </a:endParaRPr>
          </a:p>
          <a:p>
            <a:pPr algn="l">
              <a:defRPr sz="105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¿Quién se encarga de recibir y preparar los pedidos?</a:t>
            </a:r>
          </a:p>
          <a:p>
            <a:endParaRPr sz="1050" b="0">
              <a:solidFill>
                <a:srgbClr val="17131B"/>
              </a:solidFill>
              <a:latin typeface="DM Sans"/>
              <a:ea typeface="DM Sans"/>
              <a:cs typeface="DM Sans"/>
            </a:endParaRPr>
          </a:p>
          <a:p>
            <a:pPr algn="l">
              <a:defRPr sz="105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Antes de trabajar con TaDa, ¿ya tenías experiencia con entregas a domicilio?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E51187B-2816-4746-AB36-32C0E1545C70}"/>
              </a:ext>
            </a:extLst>
          </p:cNvPr>
          <p:cNvSpPr>
            <a:spLocks noGrp="1"/>
          </p:cNvSpPr>
          <p:nvPr/>
        </p:nvSpPr>
        <p:spPr>
          <a:xfrm>
            <a:off x="3952875" y="1743075"/>
            <a:ext cx="35718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MÉTRICAS Y SATISFACCIÓN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42848EA-223B-4630-BCC4-AECE35AA2D1B}"/>
              </a:ext>
            </a:extLst>
          </p:cNvPr>
          <p:cNvSpPr>
            <a:spLocks noGrp="1"/>
          </p:cNvSpPr>
          <p:nvPr/>
        </p:nvSpPr>
        <p:spPr>
          <a:xfrm>
            <a:off x="3952875" y="2000250"/>
            <a:ext cx="3524250" cy="2762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¿Cuáles métricas conoces o acompañas?</a:t>
            </a:r>
          </a:p>
          <a:p>
            <a:pPr algn="l">
              <a:defRPr sz="105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  TML 10 · Fill Rate · Accuracy · SLA35 · SLA60</a:t>
            </a:r>
          </a:p>
          <a:p>
            <a:pPr algn="l">
              <a:defRPr sz="105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  Availability Rate OH · Demand Coverage · Order Rating · Ninguna</a:t>
            </a:r>
          </a:p>
          <a:p>
            <a:endParaRPr sz="1050" b="0">
              <a:solidFill>
                <a:srgbClr val="17131B"/>
              </a:solidFill>
              <a:latin typeface="DM Sans"/>
              <a:ea typeface="DM Sans"/>
              <a:cs typeface="DM Sans"/>
            </a:endParaRPr>
          </a:p>
          <a:p>
            <a:pPr algn="l">
              <a:defRPr sz="105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¿Con qué frecuencia revisas tus resultados?</a:t>
            </a:r>
          </a:p>
          <a:p>
            <a:endParaRPr sz="1050" b="0">
              <a:solidFill>
                <a:srgbClr val="17131B"/>
              </a:solidFill>
              <a:latin typeface="DM Sans"/>
              <a:ea typeface="DM Sans"/>
              <a:cs typeface="DM Sans"/>
            </a:endParaRPr>
          </a:p>
          <a:p>
            <a:pPr algn="l">
              <a:defRPr sz="105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En una escala del 1 al 5, ¿qué tan satisfecho(a) estás trabajando con TaDa?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CC812E0-C1FA-4571-980A-1F67F0FF5294}"/>
              </a:ext>
            </a:extLst>
          </p:cNvPr>
          <p:cNvSpPr>
            <a:spLocks noGrp="1"/>
          </p:cNvSpPr>
          <p:nvPr/>
        </p:nvSpPr>
        <p:spPr>
          <a:xfrm>
            <a:off x="7762875" y="1743075"/>
            <a:ext cx="3476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VOZ ABIERTA</a:t>
            </a:r>
          </a:p>
        </p:txBody>
      </p:sp>
      <p:sp>
        <p:nvSpPr>
          <p:cNvPr id="9" name="Retângulo Arredondado 8">
            <a:extLst>
              <a:ext uri="{FF2B5EF4-FFF2-40B4-BE49-F238E27FC236}">
                <a16:creationId xmlns:a16="http://schemas.microsoft.com/office/drawing/2014/main" id="{7A2253B2-C307-4D3E-861F-FFEB1DBE1BC3}"/>
              </a:ext>
            </a:extLst>
          </p:cNvPr>
          <p:cNvSpPr>
            <a:spLocks noGrp="1"/>
          </p:cNvSpPr>
          <p:nvPr/>
        </p:nvSpPr>
        <p:spPr>
          <a:xfrm>
            <a:off x="7762875" y="2000250"/>
            <a:ext cx="3476625" cy="2143125"/>
          </a:xfrm>
          <a:prstGeom prst="roundRect">
            <a:avLst>
              <a:gd name="adj" fmla="val 6222"/>
            </a:avLst>
          </a:prstGeom>
          <a:solidFill>
            <a:srgbClr val="FFE0E9"/>
          </a:solidFill>
          <a:ln w="11430">
            <a:solidFill>
              <a:srgbClr val="E958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83BB0B2-7DEA-47DE-BE9C-8927F568814B}"/>
              </a:ext>
            </a:extLst>
          </p:cNvPr>
          <p:cNvSpPr>
            <a:spLocks noGrp="1"/>
          </p:cNvSpPr>
          <p:nvPr/>
        </p:nvSpPr>
        <p:spPr>
          <a:xfrm>
            <a:off x="7953375" y="2209800"/>
            <a:ext cx="3095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E95878"/>
                </a:solidFill>
                <a:latin typeface="DM Sans"/>
                <a:ea typeface="DM Sans"/>
                <a:cs typeface="DM Sans"/>
              </a:defRPr>
            </a:pPr>
            <a:r>
              <a:rPr sz="1125" b="1">
                <a:solidFill>
                  <a:srgbClr val="E95878"/>
                </a:solidFill>
                <a:latin typeface="DM Sans"/>
                <a:ea typeface="DM Sans"/>
                <a:cs typeface="DM Sans"/>
              </a:rPr>
              <a:t>Pregunta principal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B3D1B49-B54B-4C3B-9C24-CA99D3EA91EA}"/>
              </a:ext>
            </a:extLst>
          </p:cNvPr>
          <p:cNvSpPr>
            <a:spLocks noGrp="1"/>
          </p:cNvSpPr>
          <p:nvPr/>
        </p:nvSpPr>
        <p:spPr>
          <a:xfrm>
            <a:off x="7953375" y="2571750"/>
            <a:ext cx="3095625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¿Cuáles son actualmente los principales desafíos de tu operación?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2AA3994-CC67-4778-B343-11499D95A0CA}"/>
              </a:ext>
            </a:extLst>
          </p:cNvPr>
          <p:cNvSpPr>
            <a:spLocks noGrp="1"/>
          </p:cNvSpPr>
          <p:nvPr/>
        </p:nvSpPr>
        <p:spPr>
          <a:xfrm>
            <a:off x="7953375" y="3714750"/>
            <a:ext cx="3095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938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Una pregunta abierta para capturar problemas, metas y lenguaje real de los sellers.</a:t>
            </a:r>
          </a:p>
        </p:txBody>
      </p:sp>
      <p:sp>
        <p:nvSpPr>
          <p:cNvPr id="13" name="Retângulo Arredondado 12">
            <a:extLst>
              <a:ext uri="{FF2B5EF4-FFF2-40B4-BE49-F238E27FC236}">
                <a16:creationId xmlns:a16="http://schemas.microsoft.com/office/drawing/2014/main" id="{6BD636BF-C183-4A34-87B6-B86A10BD9366}"/>
              </a:ext>
            </a:extLst>
          </p:cNvPr>
          <p:cNvSpPr>
            <a:spLocks noGrp="1"/>
          </p:cNvSpPr>
          <p:nvPr/>
        </p:nvSpPr>
        <p:spPr>
          <a:xfrm>
            <a:off x="190500" y="5676900"/>
            <a:ext cx="11811000" cy="371475"/>
          </a:xfrm>
          <a:prstGeom prst="roundRect">
            <a:avLst>
              <a:gd name="adj" fmla="val 30769"/>
            </a:avLst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631F241-2D3A-4FA5-B2EC-0C49288A0082}"/>
              </a:ext>
            </a:extLst>
          </p:cNvPr>
          <p:cNvSpPr>
            <a:spLocks noGrp="1"/>
          </p:cNvSpPr>
          <p:nvPr/>
        </p:nvSpPr>
        <p:spPr>
          <a:xfrm>
            <a:off x="361950" y="5762625"/>
            <a:ext cx="1143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Research design → The survey is short enough for completion in one session, while still enabling seller size, maturity, metric literacy and operating-friction cuts.</a:t>
            </a:r>
          </a:p>
        </p:txBody>
      </p:sp>
      <p:sp>
        <p:nvSpPr>
          <p:cNvPr id="15" name="Conector Reto 14">
            <a:extLst>
              <a:ext uri="{FF2B5EF4-FFF2-40B4-BE49-F238E27FC236}">
                <a16:creationId xmlns:a16="http://schemas.microsoft.com/office/drawing/2014/main" id="{33933197-E204-4AA7-A39D-E6C3E333BD03}"/>
              </a:ext>
            </a:extLst>
          </p:cNvPr>
          <p:cNvSpPr>
            <a:spLocks noGrp="1"/>
          </p:cNvSpPr>
          <p:nvPr/>
        </p:nvSpPr>
        <p:spPr>
          <a:xfrm>
            <a:off x="190500" y="6200775"/>
            <a:ext cx="11811000" cy="0"/>
          </a:xfrm>
          <a:prstGeom prst="line">
            <a:avLst/>
          </a:prstGeom>
          <a:ln w="9525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096AC1A5-3F1C-46BB-9BE7-104F8FB7E9F8}"/>
              </a:ext>
            </a:extLst>
          </p:cNvPr>
          <p:cNvSpPr>
            <a:spLocks noGrp="1"/>
          </p:cNvSpPr>
          <p:nvPr/>
        </p:nvSpPr>
        <p:spPr>
          <a:xfrm>
            <a:off x="190500" y="633412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Ta-Da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DFD5C3A8-F8E8-4931-B5C8-4BC3CCB0B4B5}"/>
              </a:ext>
            </a:extLst>
          </p:cNvPr>
          <p:cNvSpPr>
            <a:spLocks noGrp="1"/>
          </p:cNvSpPr>
          <p:nvPr/>
        </p:nvSpPr>
        <p:spPr>
          <a:xfrm>
            <a:off x="5810250" y="633412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21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B32881F-8C42-4899-A309-39EDCCE1DACF}"/>
              </a:ext>
            </a:extLst>
          </p:cNvPr>
          <p:cNvSpPr>
            <a:spLocks noGrp="1"/>
          </p:cNvSpPr>
          <p:nvPr/>
        </p:nvSpPr>
        <p:spPr>
          <a:xfrm>
            <a:off x="7953375" y="63341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Appendix · Research Instrument</a:t>
            </a:r>
          </a:p>
        </p:txBody>
      </p:sp>
    </p:spTree>
    <p:extLst>
      <p:ext uri="{BB962C8B-B14F-4D97-AF65-F5344CB8AC3E}">
        <p14:creationId xmlns:p14="http://schemas.microsoft.com/office/powerpoint/2010/main" val="994192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30">
            <a:extLst>
              <a:ext uri="{FF2B5EF4-FFF2-40B4-BE49-F238E27FC236}">
                <a16:creationId xmlns:a16="http://schemas.microsoft.com/office/drawing/2014/main" id="{EB6A8E42-244F-4629-B0EA-1D03DCB4DC5A}"/>
              </a:ext>
            </a:extLst>
          </p:cNvPr>
          <p:cNvSpPr>
            <a:spLocks noGrp="1"/>
          </p:cNvSpPr>
          <p:nvPr/>
        </p:nvSpPr>
        <p:spPr>
          <a:xfrm>
            <a:off x="190500" y="228600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02 / EXECUTIVE SUMMARY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0266B88-FA96-4A12-9CDE-051D9706C3A4}"/>
              </a:ext>
            </a:extLst>
          </p:cNvPr>
          <p:cNvSpPr>
            <a:spLocks noGrp="1"/>
          </p:cNvSpPr>
          <p:nvPr/>
        </p:nvSpPr>
        <p:spPr>
          <a:xfrm>
            <a:off x="190500" y="533400"/>
            <a:ext cx="1143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Four things leadership should know about the seller base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73CA13C-A225-4CCE-99B8-1CB52F1EC91D}"/>
              </a:ext>
            </a:extLst>
          </p:cNvPr>
          <p:cNvSpPr>
            <a:spLocks noGrp="1"/>
          </p:cNvSpPr>
          <p:nvPr/>
        </p:nvSpPr>
        <p:spPr>
          <a:xfrm>
            <a:off x="190500" y="1219200"/>
            <a:ext cx="1123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16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The research is strong enough to guide targeted pilots, while still descriptive enough that clusters should route discovery before they hard-wire policy.</a:t>
            </a:r>
          </a:p>
        </p:txBody>
      </p:sp>
      <p:sp>
        <p:nvSpPr>
          <p:cNvPr id="4" name="Retângulo Arredondado 3">
            <a:extLst>
              <a:ext uri="{FF2B5EF4-FFF2-40B4-BE49-F238E27FC236}">
                <a16:creationId xmlns:a16="http://schemas.microsoft.com/office/drawing/2014/main" id="{C9554128-859A-4B38-BDC8-E981792559DA}"/>
              </a:ext>
            </a:extLst>
          </p:cNvPr>
          <p:cNvSpPr>
            <a:spLocks noGrp="1"/>
          </p:cNvSpPr>
          <p:nvPr/>
        </p:nvSpPr>
        <p:spPr>
          <a:xfrm>
            <a:off x="190500" y="1724025"/>
            <a:ext cx="2667000" cy="1066800"/>
          </a:xfrm>
          <a:prstGeom prst="roundRect">
            <a:avLst>
              <a:gd name="adj" fmla="val 13393"/>
            </a:avLst>
          </a:prstGeom>
          <a:solidFill>
            <a:srgbClr val="FFFFFF"/>
          </a:solidFill>
          <a:ln w="9525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DE8AB80-790F-4F2A-B070-0C376FDFF9FE}"/>
              </a:ext>
            </a:extLst>
          </p:cNvPr>
          <p:cNvSpPr>
            <a:spLocks noGrp="1"/>
          </p:cNvSpPr>
          <p:nvPr/>
        </p:nvSpPr>
        <p:spPr>
          <a:xfrm>
            <a:off x="361950" y="1895475"/>
            <a:ext cx="2324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322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956A8B7-ECE6-4E30-974A-1FBC26B4EFBB}"/>
              </a:ext>
            </a:extLst>
          </p:cNvPr>
          <p:cNvSpPr>
            <a:spLocks noGrp="1"/>
          </p:cNvSpPr>
          <p:nvPr/>
        </p:nvSpPr>
        <p:spPr>
          <a:xfrm>
            <a:off x="361950" y="238125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matched sellers in the working base</a:t>
            </a:r>
          </a:p>
        </p:txBody>
      </p:sp>
      <p:sp>
        <p:nvSpPr>
          <p:cNvPr id="7" name="Retângulo Arredondado 6">
            <a:extLst>
              <a:ext uri="{FF2B5EF4-FFF2-40B4-BE49-F238E27FC236}">
                <a16:creationId xmlns:a16="http://schemas.microsoft.com/office/drawing/2014/main" id="{C8BD2876-E0E4-4FA0-81F4-D11D7A30B44D}"/>
              </a:ext>
            </a:extLst>
          </p:cNvPr>
          <p:cNvSpPr>
            <a:spLocks noGrp="1"/>
          </p:cNvSpPr>
          <p:nvPr/>
        </p:nvSpPr>
        <p:spPr>
          <a:xfrm>
            <a:off x="3048000" y="1724025"/>
            <a:ext cx="2667000" cy="1066800"/>
          </a:xfrm>
          <a:prstGeom prst="roundRect">
            <a:avLst>
              <a:gd name="adj" fmla="val 13393"/>
            </a:avLst>
          </a:prstGeom>
          <a:solidFill>
            <a:srgbClr val="FFE0E9"/>
          </a:solidFill>
          <a:ln w="9525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D65A701-45F1-47D3-B4C1-03653F0E67C7}"/>
              </a:ext>
            </a:extLst>
          </p:cNvPr>
          <p:cNvSpPr>
            <a:spLocks noGrp="1"/>
          </p:cNvSpPr>
          <p:nvPr/>
        </p:nvSpPr>
        <p:spPr>
          <a:xfrm>
            <a:off x="3219450" y="1895475"/>
            <a:ext cx="2324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E95878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E95878"/>
                </a:solidFill>
                <a:latin typeface="DM Sans"/>
                <a:ea typeface="DM Sans"/>
                <a:cs typeface="DM Sans"/>
              </a:rPr>
              <a:t>62%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20D502E-32D4-4F56-ACDA-3D1A417F7A07}"/>
              </a:ext>
            </a:extLst>
          </p:cNvPr>
          <p:cNvSpPr>
            <a:spLocks noGrp="1"/>
          </p:cNvSpPr>
          <p:nvPr/>
        </p:nvSpPr>
        <p:spPr>
          <a:xfrm>
            <a:off x="3219450" y="238125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Mexico share of matched sellers</a:t>
            </a:r>
          </a:p>
        </p:txBody>
      </p:sp>
      <p:sp>
        <p:nvSpPr>
          <p:cNvPr id="10" name="Retângulo Arredondado 9">
            <a:extLst>
              <a:ext uri="{FF2B5EF4-FFF2-40B4-BE49-F238E27FC236}">
                <a16:creationId xmlns:a16="http://schemas.microsoft.com/office/drawing/2014/main" id="{A2367DB2-7673-41D1-9C72-48A87414F380}"/>
              </a:ext>
            </a:extLst>
          </p:cNvPr>
          <p:cNvSpPr>
            <a:spLocks noGrp="1"/>
          </p:cNvSpPr>
          <p:nvPr/>
        </p:nvSpPr>
        <p:spPr>
          <a:xfrm>
            <a:off x="5905500" y="1724025"/>
            <a:ext cx="2667000" cy="1066800"/>
          </a:xfrm>
          <a:prstGeom prst="roundRect">
            <a:avLst>
              <a:gd name="adj" fmla="val 13393"/>
            </a:avLst>
          </a:prstGeom>
          <a:solidFill>
            <a:srgbClr val="E5E8FF"/>
          </a:solidFill>
          <a:ln w="9525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BFADB03-2B03-49A1-9FBB-F97ADE1AE55F}"/>
              </a:ext>
            </a:extLst>
          </p:cNvPr>
          <p:cNvSpPr>
            <a:spLocks noGrp="1"/>
          </p:cNvSpPr>
          <p:nvPr/>
        </p:nvSpPr>
        <p:spPr>
          <a:xfrm>
            <a:off x="6076950" y="1895475"/>
            <a:ext cx="2324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5E6BE8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5E6BE8"/>
                </a:solidFill>
                <a:latin typeface="DM Sans"/>
                <a:ea typeface="DM Sans"/>
                <a:cs typeface="DM Sans"/>
              </a:rPr>
              <a:t>$19.88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50F7B6D-CA2B-4A2B-B3EC-CDA68DD3C963}"/>
              </a:ext>
            </a:extLst>
          </p:cNvPr>
          <p:cNvSpPr>
            <a:spLocks noGrp="1"/>
          </p:cNvSpPr>
          <p:nvPr/>
        </p:nvSpPr>
        <p:spPr>
          <a:xfrm>
            <a:off x="6076950" y="238125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average reported GMV after FX</a:t>
            </a:r>
          </a:p>
        </p:txBody>
      </p:sp>
      <p:sp>
        <p:nvSpPr>
          <p:cNvPr id="13" name="Retângulo Arredondado 12">
            <a:extLst>
              <a:ext uri="{FF2B5EF4-FFF2-40B4-BE49-F238E27FC236}">
                <a16:creationId xmlns:a16="http://schemas.microsoft.com/office/drawing/2014/main" id="{86E60293-94DB-4217-B1ED-6FC940308566}"/>
              </a:ext>
            </a:extLst>
          </p:cNvPr>
          <p:cNvSpPr>
            <a:spLocks noGrp="1"/>
          </p:cNvSpPr>
          <p:nvPr/>
        </p:nvSpPr>
        <p:spPr>
          <a:xfrm>
            <a:off x="8763000" y="1724025"/>
            <a:ext cx="2667000" cy="1066800"/>
          </a:xfrm>
          <a:prstGeom prst="roundRect">
            <a:avLst>
              <a:gd name="adj" fmla="val 13393"/>
            </a:avLst>
          </a:prstGeom>
          <a:solidFill>
            <a:srgbClr val="EAD9FF"/>
          </a:solidFill>
          <a:ln w="9525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AD16144-FD9C-4AF4-9BFD-7680CE86FF83}"/>
              </a:ext>
            </a:extLst>
          </p:cNvPr>
          <p:cNvSpPr>
            <a:spLocks noGrp="1"/>
          </p:cNvSpPr>
          <p:nvPr/>
        </p:nvSpPr>
        <p:spPr>
          <a:xfrm>
            <a:off x="8934450" y="1895475"/>
            <a:ext cx="2324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82%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C18158B-7C57-4BAD-A7FB-52A875FC6151}"/>
              </a:ext>
            </a:extLst>
          </p:cNvPr>
          <p:cNvSpPr>
            <a:spLocks noGrp="1"/>
          </p:cNvSpPr>
          <p:nvPr/>
        </p:nvSpPr>
        <p:spPr>
          <a:xfrm>
            <a:off x="8934450" y="238125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score 4–5 satisfaction</a:t>
            </a:r>
          </a:p>
        </p:txBody>
      </p:sp>
      <p:sp>
        <p:nvSpPr>
          <p:cNvPr id="16" name="Retângulo Arredondado 15">
            <a:extLst>
              <a:ext uri="{FF2B5EF4-FFF2-40B4-BE49-F238E27FC236}">
                <a16:creationId xmlns:a16="http://schemas.microsoft.com/office/drawing/2014/main" id="{CB09FB95-EFF4-493F-9E8B-EA5042CF0D3F}"/>
              </a:ext>
            </a:extLst>
          </p:cNvPr>
          <p:cNvSpPr>
            <a:spLocks noGrp="1"/>
          </p:cNvSpPr>
          <p:nvPr/>
        </p:nvSpPr>
        <p:spPr>
          <a:xfrm>
            <a:off x="190500" y="3095625"/>
            <a:ext cx="3667125" cy="1924050"/>
          </a:xfrm>
          <a:prstGeom prst="roundRect">
            <a:avLst>
              <a:gd name="adj" fmla="val 7921"/>
            </a:avLst>
          </a:prstGeom>
          <a:solidFill>
            <a:srgbClr val="FFE0E9"/>
          </a:solidFill>
          <a:ln w="13335">
            <a:solidFill>
              <a:srgbClr val="E958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9BD755E-9C25-4619-B214-C2261E88F5AC}"/>
              </a:ext>
            </a:extLst>
          </p:cNvPr>
          <p:cNvSpPr>
            <a:spLocks noGrp="1"/>
          </p:cNvSpPr>
          <p:nvPr/>
        </p:nvSpPr>
        <p:spPr>
          <a:xfrm>
            <a:off x="361950" y="3257550"/>
            <a:ext cx="33242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E95878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E95878"/>
                </a:solidFill>
                <a:latin typeface="DM Sans"/>
                <a:ea typeface="DM Sans"/>
                <a:cs typeface="DM Sans"/>
              </a:rPr>
              <a:t>01  The first gap is small + new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711095E-0417-4CA0-9377-5C3B9F5D396A}"/>
              </a:ext>
            </a:extLst>
          </p:cNvPr>
          <p:cNvSpPr>
            <a:spLocks noGrp="1"/>
          </p:cNvSpPr>
          <p:nvPr/>
        </p:nvSpPr>
        <p:spPr>
          <a:xfrm>
            <a:off x="361950" y="3600450"/>
            <a:ext cx="3324225" cy="1304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Small in discovery is the largest cell (85 / 26%). It has the lowest satisfaction (3.86/5), lower metric recognition (2.9/8) and the longest clean delivery average (22.0 min).</a:t>
            </a:r>
          </a:p>
        </p:txBody>
      </p:sp>
      <p:sp>
        <p:nvSpPr>
          <p:cNvPr id="19" name="Retângulo Arredondado 18">
            <a:extLst>
              <a:ext uri="{FF2B5EF4-FFF2-40B4-BE49-F238E27FC236}">
                <a16:creationId xmlns:a16="http://schemas.microsoft.com/office/drawing/2014/main" id="{D00DE6F2-C5B6-4266-8C3D-101E37ACD751}"/>
              </a:ext>
            </a:extLst>
          </p:cNvPr>
          <p:cNvSpPr>
            <a:spLocks noGrp="1"/>
          </p:cNvSpPr>
          <p:nvPr/>
        </p:nvSpPr>
        <p:spPr>
          <a:xfrm>
            <a:off x="4048125" y="3095625"/>
            <a:ext cx="3667125" cy="1924050"/>
          </a:xfrm>
          <a:prstGeom prst="roundRect">
            <a:avLst>
              <a:gd name="adj" fmla="val 7921"/>
            </a:avLst>
          </a:prstGeom>
          <a:solidFill>
            <a:srgbClr val="E5E8FF"/>
          </a:solidFill>
          <a:ln w="13335">
            <a:solidFill>
              <a:srgbClr val="5E6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E1994FD-08D3-4489-8440-8C9D58646FD1}"/>
              </a:ext>
            </a:extLst>
          </p:cNvPr>
          <p:cNvSpPr>
            <a:spLocks noGrp="1"/>
          </p:cNvSpPr>
          <p:nvPr/>
        </p:nvSpPr>
        <p:spPr>
          <a:xfrm>
            <a:off x="4219575" y="3257550"/>
            <a:ext cx="33242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5E6BE8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5E6BE8"/>
                </a:solidFill>
                <a:latin typeface="DM Sans"/>
                <a:ea typeface="DM Sans"/>
                <a:cs typeface="DM Sans"/>
              </a:rPr>
              <a:t>02  Volume does not equal maturity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DFFFF470-86EF-4190-974B-A64588145958}"/>
              </a:ext>
            </a:extLst>
          </p:cNvPr>
          <p:cNvSpPr>
            <a:spLocks noGrp="1"/>
          </p:cNvSpPr>
          <p:nvPr/>
        </p:nvSpPr>
        <p:spPr>
          <a:xfrm>
            <a:off x="4219575" y="3600450"/>
            <a:ext cx="3324225" cy="1304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Large in discovery already moves 425 orders/week with 8 months on TaDa. Product plays need to separate “new at TaDa” from “small at scale.”</a:t>
            </a:r>
          </a:p>
        </p:txBody>
      </p:sp>
      <p:sp>
        <p:nvSpPr>
          <p:cNvPr id="22" name="Retângulo Arredondado 21">
            <a:extLst>
              <a:ext uri="{FF2B5EF4-FFF2-40B4-BE49-F238E27FC236}">
                <a16:creationId xmlns:a16="http://schemas.microsoft.com/office/drawing/2014/main" id="{2D5562B2-AF20-4CA1-842D-866C01505B2E}"/>
              </a:ext>
            </a:extLst>
          </p:cNvPr>
          <p:cNvSpPr>
            <a:spLocks noGrp="1"/>
          </p:cNvSpPr>
          <p:nvPr/>
        </p:nvSpPr>
        <p:spPr>
          <a:xfrm>
            <a:off x="7905750" y="3095625"/>
            <a:ext cx="3667125" cy="1924050"/>
          </a:xfrm>
          <a:prstGeom prst="roundRect">
            <a:avLst>
              <a:gd name="adj" fmla="val 7921"/>
            </a:avLst>
          </a:prstGeom>
          <a:solidFill>
            <a:srgbClr val="EAD9FF"/>
          </a:solidFill>
          <a:ln w="13335">
            <a:solidFill>
              <a:srgbClr val="9147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F0470142-ED45-4C29-9B1D-FB5D1AAEBAE8}"/>
              </a:ext>
            </a:extLst>
          </p:cNvPr>
          <p:cNvSpPr>
            <a:spLocks noGrp="1"/>
          </p:cNvSpPr>
          <p:nvPr/>
        </p:nvSpPr>
        <p:spPr>
          <a:xfrm>
            <a:off x="8077200" y="3257550"/>
            <a:ext cx="33242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03  Metric recognition is not proficiency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EFB856D7-6AE8-4AA4-81E7-3C64B35F8D79}"/>
              </a:ext>
            </a:extLst>
          </p:cNvPr>
          <p:cNvSpPr>
            <a:spLocks noGrp="1"/>
          </p:cNvSpPr>
          <p:nvPr/>
        </p:nvSpPr>
        <p:spPr>
          <a:xfrm>
            <a:off x="8077200" y="3600450"/>
            <a:ext cx="3324225" cy="1304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91.6% know at least one metric and 84.2% review daily. The survey does not test whether sellers can explain or act on the metric.</a:t>
            </a:r>
          </a:p>
        </p:txBody>
      </p:sp>
      <p:sp>
        <p:nvSpPr>
          <p:cNvPr id="25" name="Retângulo Arredondado 24">
            <a:extLst>
              <a:ext uri="{FF2B5EF4-FFF2-40B4-BE49-F238E27FC236}">
                <a16:creationId xmlns:a16="http://schemas.microsoft.com/office/drawing/2014/main" id="{042389E3-64EB-4E51-B90E-988BD0BF4B19}"/>
              </a:ext>
            </a:extLst>
          </p:cNvPr>
          <p:cNvSpPr>
            <a:spLocks noGrp="1"/>
          </p:cNvSpPr>
          <p:nvPr/>
        </p:nvSpPr>
        <p:spPr>
          <a:xfrm>
            <a:off x="190500" y="5676900"/>
            <a:ext cx="11811000" cy="371475"/>
          </a:xfrm>
          <a:prstGeom prst="roundRect">
            <a:avLst>
              <a:gd name="adj" fmla="val 30769"/>
            </a:avLst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0D633782-FA29-4271-B662-8C01BA751BA1}"/>
              </a:ext>
            </a:extLst>
          </p:cNvPr>
          <p:cNvSpPr>
            <a:spLocks noGrp="1"/>
          </p:cNvSpPr>
          <p:nvPr/>
        </p:nvSpPr>
        <p:spPr>
          <a:xfrm>
            <a:off x="361950" y="5762625"/>
            <a:ext cx="1143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Leadership implication → Use clusters to route pilots and enablement. Validate impact through delivery, cancellation, rating and retention outcomes before scaling policy.</a:t>
            </a:r>
          </a:p>
        </p:txBody>
      </p:sp>
      <p:sp>
        <p:nvSpPr>
          <p:cNvPr id="27" name="Conector Reto 26">
            <a:extLst>
              <a:ext uri="{FF2B5EF4-FFF2-40B4-BE49-F238E27FC236}">
                <a16:creationId xmlns:a16="http://schemas.microsoft.com/office/drawing/2014/main" id="{682D865D-E3F7-46DC-B607-449FDF4CF3F4}"/>
              </a:ext>
            </a:extLst>
          </p:cNvPr>
          <p:cNvSpPr>
            <a:spLocks noGrp="1"/>
          </p:cNvSpPr>
          <p:nvPr/>
        </p:nvSpPr>
        <p:spPr>
          <a:xfrm>
            <a:off x="190500" y="6200775"/>
            <a:ext cx="11811000" cy="0"/>
          </a:xfrm>
          <a:prstGeom prst="line">
            <a:avLst/>
          </a:prstGeom>
          <a:ln w="9525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4181CC6A-CBD0-4455-90F1-271341875CAD}"/>
              </a:ext>
            </a:extLst>
          </p:cNvPr>
          <p:cNvSpPr>
            <a:spLocks noGrp="1"/>
          </p:cNvSpPr>
          <p:nvPr/>
        </p:nvSpPr>
        <p:spPr>
          <a:xfrm>
            <a:off x="190500" y="633412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Ta-Da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E0FC09E9-59D6-4E79-9AD4-05C32C907F27}"/>
              </a:ext>
            </a:extLst>
          </p:cNvPr>
          <p:cNvSpPr>
            <a:spLocks noGrp="1"/>
          </p:cNvSpPr>
          <p:nvPr/>
        </p:nvSpPr>
        <p:spPr>
          <a:xfrm>
            <a:off x="5810250" y="633412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02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CA99491A-B0F9-47DC-99B9-F8839E7B501B}"/>
              </a:ext>
            </a:extLst>
          </p:cNvPr>
          <p:cNvSpPr>
            <a:spLocks noGrp="1"/>
          </p:cNvSpPr>
          <p:nvPr/>
        </p:nvSpPr>
        <p:spPr>
          <a:xfrm>
            <a:off x="7953375" y="63341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Seller Firmographics</a:t>
            </a:r>
          </a:p>
        </p:txBody>
      </p:sp>
    </p:spTree>
    <p:extLst>
      <p:ext uri="{BB962C8B-B14F-4D97-AF65-F5344CB8AC3E}">
        <p14:creationId xmlns:p14="http://schemas.microsoft.com/office/powerpoint/2010/main" val="1392734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5315AA02-041A-46B9-BC5D-268DC87EEA03}"/>
              </a:ext>
            </a:extLst>
          </p:cNvPr>
          <p:cNvSpPr>
            <a:spLocks noGrp="1"/>
          </p:cNvSpPr>
          <p:nvPr/>
        </p:nvSpPr>
        <p:spPr>
          <a:xfrm>
            <a:off x="190500" y="228600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04 / SELLER FOOTPRINT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D887DBE-4570-424C-BC0D-ED20371CB8B7}"/>
              </a:ext>
            </a:extLst>
          </p:cNvPr>
          <p:cNvSpPr>
            <a:spLocks noGrp="1"/>
          </p:cNvSpPr>
          <p:nvPr/>
        </p:nvSpPr>
        <p:spPr>
          <a:xfrm>
            <a:off x="190500" y="533400"/>
            <a:ext cx="1143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The seller base is concentrated in Mexico, but the operating context varies by market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6E2640F-3675-42D7-8FC5-0AEEAF11C765}"/>
              </a:ext>
            </a:extLst>
          </p:cNvPr>
          <p:cNvSpPr>
            <a:spLocks noGrp="1"/>
          </p:cNvSpPr>
          <p:nvPr/>
        </p:nvSpPr>
        <p:spPr>
          <a:xfrm>
            <a:off x="190500" y="1219200"/>
            <a:ext cx="1123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16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Country and city context matters when translating one seller playbook into six operating realities.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="190500" y="1762125"/>
          <a:ext cx="514350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6EDA9509-2155-440E-AB6A-96333EF772C7}"/>
              </a:ext>
            </a:extLst>
          </p:cNvPr>
          <p:cNvSpPr>
            <a:spLocks noGrp="1"/>
          </p:cNvSpPr>
          <p:nvPr/>
        </p:nvSpPr>
        <p:spPr>
          <a:xfrm>
            <a:off x="5810250" y="1695450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COUNTRY SNAPSHOT</a:t>
            </a:r>
          </a:p>
        </p:txBody>
      </p:sp>
      <p:graphicFrame>
        <p:nvGraphicFramePr>
          <p:cNvPr id="20" name="Tabela 19"/>
          <p:cNvGraphicFramePr/>
          <p:nvPr/>
        </p:nvGraphicFramePr>
        <p:xfrm>
          <a:off x="5810250" y="2019300"/>
          <a:ext cx="5162550" cy="2381253"/>
        </p:xfrm>
        <a:graphic>
          <a:graphicData uri="http://schemas.openxmlformats.org/drawingml/2006/table">
            <a:tbl>
              <a:tblPr firstRow="1" bandRow="1"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0179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Market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Sellers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Orders/wk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GMV USD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FFFFFF"/>
                          </a:solidFill>
                          <a:latin typeface="DM Sans"/>
                          <a:ea typeface="DM Sans"/>
                          <a:cs typeface="DM Sans"/>
                        </a:rPr>
                        <a:t>Delivery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179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131B"/>
                          </a:solidFill>
                          <a:latin typeface="DM Sans"/>
                          <a:ea typeface="DM Sans"/>
                          <a:cs typeface="DM Sans"/>
                        </a:rPr>
                        <a:t>Mexico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7131B"/>
                          </a:solidFill>
                          <a:latin typeface="DM Sans"/>
                          <a:ea typeface="DM Sans"/>
                          <a:cs typeface="DM Sans"/>
                        </a:rPr>
                        <a:t>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7131B"/>
                          </a:solidFill>
                          <a:latin typeface="DM Sans"/>
                          <a:ea typeface="DM Sans"/>
                          <a:cs typeface="DM Sans"/>
                        </a:rPr>
                        <a:t>178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7131B"/>
                          </a:solidFill>
                          <a:latin typeface="DM Sans"/>
                          <a:ea typeface="DM Sans"/>
                          <a:cs typeface="DM Sans"/>
                        </a:rPr>
                        <a:t>$18.14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7131B"/>
                          </a:solidFill>
                          <a:latin typeface="DM Sans"/>
                          <a:ea typeface="DM Sans"/>
                          <a:cs typeface="DM Sans"/>
                        </a:rPr>
                        <a:t>20.0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179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131B"/>
                          </a:solidFill>
                          <a:latin typeface="DM Sans"/>
                          <a:ea typeface="DM Sans"/>
                          <a:cs typeface="DM Sans"/>
                        </a:rPr>
                        <a:t>Colombia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7131B"/>
                          </a:solidFill>
                          <a:latin typeface="DM Sans"/>
                          <a:ea typeface="DM Sans"/>
                          <a:cs typeface="DM Sans"/>
                        </a:rP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7131B"/>
                          </a:solidFill>
                          <a:latin typeface="DM Sans"/>
                          <a:ea typeface="DM Sans"/>
                          <a:cs typeface="DM Sans"/>
                        </a:rPr>
                        <a:t>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7131B"/>
                          </a:solidFill>
                          <a:latin typeface="DM Sans"/>
                          <a:ea typeface="DM Sans"/>
                          <a:cs typeface="DM Sans"/>
                        </a:rPr>
                        <a:t>$22.73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7131B"/>
                          </a:solidFill>
                          <a:latin typeface="DM Sans"/>
                          <a:ea typeface="DM Sans"/>
                          <a:cs typeface="DM Sans"/>
                        </a:rPr>
                        <a:t>18.4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179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131B"/>
                          </a:solidFill>
                          <a:latin typeface="DM Sans"/>
                          <a:ea typeface="DM Sans"/>
                          <a:cs typeface="DM Sans"/>
                        </a:rPr>
                        <a:t>Peru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7131B"/>
                          </a:solidFill>
                          <a:latin typeface="DM Sans"/>
                          <a:ea typeface="DM Sans"/>
                          <a:cs typeface="DM Sans"/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7131B"/>
                          </a:solidFill>
                          <a:latin typeface="DM Sans"/>
                          <a:ea typeface="DM Sans"/>
                          <a:cs typeface="DM Sans"/>
                        </a:rPr>
                        <a:t>285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7131B"/>
                          </a:solidFill>
                          <a:latin typeface="DM Sans"/>
                          <a:ea typeface="DM Sans"/>
                          <a:cs typeface="DM Sans"/>
                        </a:rPr>
                        <a:t>$25.71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7131B"/>
                          </a:solidFill>
                          <a:latin typeface="DM Sans"/>
                          <a:ea typeface="DM Sans"/>
                          <a:cs typeface="DM Sans"/>
                        </a:rPr>
                        <a:t>18.4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179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131B"/>
                          </a:solidFill>
                          <a:latin typeface="DM Sans"/>
                          <a:ea typeface="DM Sans"/>
                          <a:cs typeface="DM Sans"/>
                        </a:rPr>
                        <a:t>Bolivia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7131B"/>
                          </a:solidFill>
                          <a:latin typeface="DM Sans"/>
                          <a:ea typeface="DM Sans"/>
                          <a:cs typeface="DM Sans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7131B"/>
                          </a:solidFill>
                          <a:latin typeface="DM Sans"/>
                          <a:ea typeface="DM Sans"/>
                          <a:cs typeface="DM Sans"/>
                        </a:rPr>
                        <a:t>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7131B"/>
                          </a:solidFill>
                          <a:latin typeface="DM Sans"/>
                          <a:ea typeface="DM Sans"/>
                          <a:cs typeface="DM Sans"/>
                        </a:rPr>
                        <a:t>$12.47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7131B"/>
                          </a:solidFill>
                          <a:latin typeface="DM Sans"/>
                          <a:ea typeface="DM Sans"/>
                          <a:cs typeface="DM Sans"/>
                        </a:rPr>
                        <a:t>21.2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179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131B"/>
                          </a:solidFill>
                          <a:latin typeface="DM Sans"/>
                          <a:ea typeface="DM Sans"/>
                          <a:cs typeface="DM Sans"/>
                        </a:rPr>
                        <a:t>Ecuador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7131B"/>
                          </a:solidFill>
                          <a:latin typeface="DM Sans"/>
                          <a:ea typeface="DM Sans"/>
                          <a:cs typeface="DM San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7131B"/>
                          </a:solidFill>
                          <a:latin typeface="DM Sans"/>
                          <a:ea typeface="DM Sans"/>
                          <a:cs typeface="DM Sans"/>
                        </a:rPr>
                        <a:t>539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7131B"/>
                          </a:solidFill>
                          <a:latin typeface="DM Sans"/>
                          <a:ea typeface="DM Sans"/>
                          <a:cs typeface="DM Sans"/>
                        </a:rPr>
                        <a:t>$28.54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7131B"/>
                          </a:solidFill>
                          <a:latin typeface="DM Sans"/>
                          <a:ea typeface="DM Sans"/>
                          <a:cs typeface="DM Sans"/>
                        </a:rPr>
                        <a:t>22.1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179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131B"/>
                          </a:solidFill>
                          <a:latin typeface="DM Sans"/>
                          <a:ea typeface="DM Sans"/>
                          <a:cs typeface="DM Sans"/>
                        </a:rPr>
                        <a:t>Panama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7131B"/>
                          </a:solidFill>
                          <a:latin typeface="DM Sans"/>
                          <a:ea typeface="DM Sans"/>
                          <a:cs typeface="DM San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7131B"/>
                          </a:solidFill>
                          <a:latin typeface="DM Sans"/>
                          <a:ea typeface="DM Sans"/>
                          <a:cs typeface="DM Sans"/>
                        </a:rP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7131B"/>
                          </a:solidFill>
                          <a:latin typeface="DM Sans"/>
                          <a:ea typeface="DM Sans"/>
                          <a:cs typeface="DM Sans"/>
                        </a:rPr>
                        <a:t>$27.51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7131B"/>
                          </a:solidFill>
                          <a:latin typeface="DM Sans"/>
                          <a:ea typeface="DM Sans"/>
                          <a:cs typeface="DM Sans"/>
                        </a:rPr>
                        <a:t>23.2 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tângulo 6">
            <a:extLst>
              <a:ext uri="{FF2B5EF4-FFF2-40B4-BE49-F238E27FC236}">
                <a16:creationId xmlns:a16="http://schemas.microsoft.com/office/drawing/2014/main" id="{CC8F5021-F772-4A54-BEF5-BC0B97E4B2CC}"/>
              </a:ext>
            </a:extLst>
          </p:cNvPr>
          <p:cNvSpPr>
            <a:spLocks noGrp="1"/>
          </p:cNvSpPr>
          <p:nvPr/>
        </p:nvSpPr>
        <p:spPr>
          <a:xfrm>
            <a:off x="5810250" y="4629150"/>
            <a:ext cx="5334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Top cities by matched seller count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B2066A1-A848-4B6E-89E0-18749D45B064}"/>
              </a:ext>
            </a:extLst>
          </p:cNvPr>
          <p:cNvSpPr>
            <a:spLocks noGrp="1"/>
          </p:cNvSpPr>
          <p:nvPr/>
        </p:nvSpPr>
        <p:spPr>
          <a:xfrm>
            <a:off x="5810250" y="4876800"/>
            <a:ext cx="542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50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Cdmx 34  •  Lima 26  •  Bogota 25  •  Merida 23  •  Tuxtla 20  •  Medellin 16</a:t>
            </a:r>
          </a:p>
        </p:txBody>
      </p:sp>
      <p:sp>
        <p:nvSpPr>
          <p:cNvPr id="9" name="Retângulo Arredondado 8">
            <a:extLst>
              <a:ext uri="{FF2B5EF4-FFF2-40B4-BE49-F238E27FC236}">
                <a16:creationId xmlns:a16="http://schemas.microsoft.com/office/drawing/2014/main" id="{218AC945-A856-463F-97E0-18FC03F26C11}"/>
              </a:ext>
            </a:extLst>
          </p:cNvPr>
          <p:cNvSpPr>
            <a:spLocks noGrp="1"/>
          </p:cNvSpPr>
          <p:nvPr/>
        </p:nvSpPr>
        <p:spPr>
          <a:xfrm>
            <a:off x="190500" y="5676900"/>
            <a:ext cx="11811000" cy="371475"/>
          </a:xfrm>
          <a:prstGeom prst="roundRect">
            <a:avLst>
              <a:gd name="adj" fmla="val 30769"/>
            </a:avLst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AADFA52-5699-4EAE-B1A0-7A765F9A1016}"/>
              </a:ext>
            </a:extLst>
          </p:cNvPr>
          <p:cNvSpPr>
            <a:spLocks noGrp="1"/>
          </p:cNvSpPr>
          <p:nvPr/>
        </p:nvSpPr>
        <p:spPr>
          <a:xfrm>
            <a:off x="361950" y="5762625"/>
            <a:ext cx="1143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Reading → Peru and Ecuador show higher orders/week and GMV in this sample; Mexico contributes the scale and the broadest city footprint.</a:t>
            </a:r>
          </a:p>
        </p:txBody>
      </p:sp>
      <p:sp>
        <p:nvSpPr>
          <p:cNvPr id="11" name="Conector Reto 10">
            <a:extLst>
              <a:ext uri="{FF2B5EF4-FFF2-40B4-BE49-F238E27FC236}">
                <a16:creationId xmlns:a16="http://schemas.microsoft.com/office/drawing/2014/main" id="{F68CAEC6-2860-453E-8AB0-17440453BD80}"/>
              </a:ext>
            </a:extLst>
          </p:cNvPr>
          <p:cNvSpPr>
            <a:spLocks noGrp="1"/>
          </p:cNvSpPr>
          <p:nvPr/>
        </p:nvSpPr>
        <p:spPr>
          <a:xfrm>
            <a:off x="190500" y="6200775"/>
            <a:ext cx="11811000" cy="0"/>
          </a:xfrm>
          <a:prstGeom prst="line">
            <a:avLst/>
          </a:prstGeom>
          <a:ln w="9525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97D0D4C-3F6C-413D-B353-E1E254FC4DDB}"/>
              </a:ext>
            </a:extLst>
          </p:cNvPr>
          <p:cNvSpPr>
            <a:spLocks noGrp="1"/>
          </p:cNvSpPr>
          <p:nvPr/>
        </p:nvSpPr>
        <p:spPr>
          <a:xfrm>
            <a:off x="190500" y="633412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Ta-Da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F107A03-94C1-4316-BA80-B2EA928D7605}"/>
              </a:ext>
            </a:extLst>
          </p:cNvPr>
          <p:cNvSpPr>
            <a:spLocks noGrp="1"/>
          </p:cNvSpPr>
          <p:nvPr/>
        </p:nvSpPr>
        <p:spPr>
          <a:xfrm>
            <a:off x="5810250" y="633412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04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003A08C-6754-48EE-8219-2F6FC6F1E1DD}"/>
              </a:ext>
            </a:extLst>
          </p:cNvPr>
          <p:cNvSpPr>
            <a:spLocks noGrp="1"/>
          </p:cNvSpPr>
          <p:nvPr/>
        </p:nvSpPr>
        <p:spPr>
          <a:xfrm>
            <a:off x="7953375" y="63341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Seller Firmographics</a:t>
            </a:r>
          </a:p>
        </p:txBody>
      </p:sp>
    </p:spTree>
    <p:extLst>
      <p:ext uri="{BB962C8B-B14F-4D97-AF65-F5344CB8AC3E}">
        <p14:creationId xmlns:p14="http://schemas.microsoft.com/office/powerpoint/2010/main" val="715245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tângulo 26">
            <a:extLst>
              <a:ext uri="{FF2B5EF4-FFF2-40B4-BE49-F238E27FC236}">
                <a16:creationId xmlns:a16="http://schemas.microsoft.com/office/drawing/2014/main" id="{B492B5B1-9F85-48D5-9CE1-EF5640F7BE0C}"/>
              </a:ext>
            </a:extLst>
          </p:cNvPr>
          <p:cNvSpPr>
            <a:spLocks noGrp="1"/>
          </p:cNvSpPr>
          <p:nvPr/>
        </p:nvSpPr>
        <p:spPr>
          <a:xfrm>
            <a:off x="190500" y="228600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05 / OPERATING MODEL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EEB6285-4EAC-48B3-82F4-C02818D36BA1}"/>
              </a:ext>
            </a:extLst>
          </p:cNvPr>
          <p:cNvSpPr>
            <a:spLocks noGrp="1"/>
          </p:cNvSpPr>
          <p:nvPr/>
        </p:nvSpPr>
        <p:spPr>
          <a:xfrm>
            <a:off x="190500" y="533400"/>
            <a:ext cx="1143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Owned is the majority, while the remaining model mix needs better classification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BFA221F-9215-4225-851F-9C21F2158464}"/>
              </a:ext>
            </a:extLst>
          </p:cNvPr>
          <p:cNvSpPr>
            <a:spLocks noGrp="1"/>
          </p:cNvSpPr>
          <p:nvPr/>
        </p:nvSpPr>
        <p:spPr>
          <a:xfrm>
            <a:off x="190500" y="1219200"/>
            <a:ext cx="1123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16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The known taxonomy is useful, but incomplete: it is hard to prescribe support when “other” and missing are combined.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="190500" y="1714500"/>
          <a:ext cx="466725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A36EFC85-7E64-40B7-9924-7B9B8E7E555C}"/>
              </a:ext>
            </a:extLst>
          </p:cNvPr>
          <p:cNvSpPr>
            <a:spLocks noGrp="1"/>
          </p:cNvSpPr>
          <p:nvPr/>
        </p:nvSpPr>
        <p:spPr>
          <a:xfrm>
            <a:off x="190500" y="4905375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50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Known models only → 76.5% Owned / 23.5% 3PL</a:t>
            </a:r>
          </a:p>
        </p:txBody>
      </p:sp>
      <p:sp>
        <p:nvSpPr>
          <p:cNvPr id="6" name="Retângulo Arredondado 5">
            <a:extLst>
              <a:ext uri="{FF2B5EF4-FFF2-40B4-BE49-F238E27FC236}">
                <a16:creationId xmlns:a16="http://schemas.microsoft.com/office/drawing/2014/main" id="{B8E8E23A-8CEB-4EEA-8ECD-A80A67052B90}"/>
              </a:ext>
            </a:extLst>
          </p:cNvPr>
          <p:cNvSpPr>
            <a:spLocks noGrp="1"/>
          </p:cNvSpPr>
          <p:nvPr/>
        </p:nvSpPr>
        <p:spPr>
          <a:xfrm>
            <a:off x="5381625" y="1752600"/>
            <a:ext cx="2047875" cy="1428750"/>
          </a:xfrm>
          <a:prstGeom prst="roundRect">
            <a:avLst>
              <a:gd name="adj" fmla="val 10667"/>
            </a:avLst>
          </a:prstGeom>
          <a:solidFill>
            <a:srgbClr val="EAD9FF"/>
          </a:solidFill>
          <a:ln w="13335">
            <a:solidFill>
              <a:srgbClr val="9147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563DEE5-5CCE-4EB6-85F1-F3C2FA4A978B}"/>
              </a:ext>
            </a:extLst>
          </p:cNvPr>
          <p:cNvSpPr>
            <a:spLocks noGrp="1"/>
          </p:cNvSpPr>
          <p:nvPr/>
        </p:nvSpPr>
        <p:spPr>
          <a:xfrm>
            <a:off x="5553075" y="1914525"/>
            <a:ext cx="17049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Owned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C8D68B6-10B1-4D79-BAA9-0A855A8AEB38}"/>
              </a:ext>
            </a:extLst>
          </p:cNvPr>
          <p:cNvSpPr>
            <a:spLocks noGrp="1"/>
          </p:cNvSpPr>
          <p:nvPr/>
        </p:nvSpPr>
        <p:spPr>
          <a:xfrm>
            <a:off x="5553075" y="2257425"/>
            <a:ext cx="170497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53% of base</a:t>
            </a:r>
          </a:p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194 orders/wk</a:t>
            </a:r>
          </a:p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20.4 min delivery</a:t>
            </a:r>
          </a:p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$18.23 GMV</a:t>
            </a:r>
          </a:p>
        </p:txBody>
      </p:sp>
      <p:sp>
        <p:nvSpPr>
          <p:cNvPr id="9" name="Retângulo Arredondado 8">
            <a:extLst>
              <a:ext uri="{FF2B5EF4-FFF2-40B4-BE49-F238E27FC236}">
                <a16:creationId xmlns:a16="http://schemas.microsoft.com/office/drawing/2014/main" id="{D4D3CA7A-9C9C-455E-B9EF-447636B9F89E}"/>
              </a:ext>
            </a:extLst>
          </p:cNvPr>
          <p:cNvSpPr>
            <a:spLocks noGrp="1"/>
          </p:cNvSpPr>
          <p:nvPr/>
        </p:nvSpPr>
        <p:spPr>
          <a:xfrm>
            <a:off x="7620000" y="1752600"/>
            <a:ext cx="2047875" cy="1428750"/>
          </a:xfrm>
          <a:prstGeom prst="roundRect">
            <a:avLst>
              <a:gd name="adj" fmla="val 10667"/>
            </a:avLst>
          </a:prstGeom>
          <a:solidFill>
            <a:srgbClr val="FFE0E9"/>
          </a:solidFill>
          <a:ln w="13335">
            <a:solidFill>
              <a:srgbClr val="E958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97FB5CE-61F9-44E4-ABF2-74FCCC611A0B}"/>
              </a:ext>
            </a:extLst>
          </p:cNvPr>
          <p:cNvSpPr>
            <a:spLocks noGrp="1"/>
          </p:cNvSpPr>
          <p:nvPr/>
        </p:nvSpPr>
        <p:spPr>
          <a:xfrm>
            <a:off x="7791450" y="1914525"/>
            <a:ext cx="17049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E95878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E95878"/>
                </a:solidFill>
                <a:latin typeface="DM Sans"/>
                <a:ea typeface="DM Sans"/>
                <a:cs typeface="DM Sans"/>
              </a:rPr>
              <a:t>3PL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94B4BA0-E548-46C4-A942-7ADA106E3ECB}"/>
              </a:ext>
            </a:extLst>
          </p:cNvPr>
          <p:cNvSpPr>
            <a:spLocks noGrp="1"/>
          </p:cNvSpPr>
          <p:nvPr/>
        </p:nvSpPr>
        <p:spPr>
          <a:xfrm>
            <a:off x="7791450" y="2257425"/>
            <a:ext cx="170497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16% of base</a:t>
            </a:r>
          </a:p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139 orders/wk</a:t>
            </a:r>
          </a:p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18.7 min delivery</a:t>
            </a:r>
          </a:p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$23.02 GMV</a:t>
            </a:r>
          </a:p>
        </p:txBody>
      </p:sp>
      <p:sp>
        <p:nvSpPr>
          <p:cNvPr id="12" name="Retângulo Arredondado 11">
            <a:extLst>
              <a:ext uri="{FF2B5EF4-FFF2-40B4-BE49-F238E27FC236}">
                <a16:creationId xmlns:a16="http://schemas.microsoft.com/office/drawing/2014/main" id="{1AD4733C-25E9-49BA-A0A7-C06272BC0AED}"/>
              </a:ext>
            </a:extLst>
          </p:cNvPr>
          <p:cNvSpPr>
            <a:spLocks noGrp="1"/>
          </p:cNvSpPr>
          <p:nvPr/>
        </p:nvSpPr>
        <p:spPr>
          <a:xfrm>
            <a:off x="9858375" y="1752600"/>
            <a:ext cx="2047875" cy="1428750"/>
          </a:xfrm>
          <a:prstGeom prst="roundRect">
            <a:avLst>
              <a:gd name="adj" fmla="val 10667"/>
            </a:avLst>
          </a:prstGeom>
          <a:solidFill>
            <a:srgbClr val="F8F7FA"/>
          </a:solidFill>
          <a:ln w="13335">
            <a:solidFill>
              <a:srgbClr val="6E66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48992E8-F8B7-431D-9F44-BE2449FF4044}"/>
              </a:ext>
            </a:extLst>
          </p:cNvPr>
          <p:cNvSpPr>
            <a:spLocks noGrp="1"/>
          </p:cNvSpPr>
          <p:nvPr/>
        </p:nvSpPr>
        <p:spPr>
          <a:xfrm>
            <a:off x="10029825" y="1914525"/>
            <a:ext cx="17049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Other / missing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029ECD32-A12D-41C0-9222-57609A42AB6C}"/>
              </a:ext>
            </a:extLst>
          </p:cNvPr>
          <p:cNvSpPr>
            <a:spLocks noGrp="1"/>
          </p:cNvSpPr>
          <p:nvPr/>
        </p:nvSpPr>
        <p:spPr>
          <a:xfrm>
            <a:off x="10029825" y="2257425"/>
            <a:ext cx="170497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31% of base</a:t>
            </a:r>
          </a:p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256 orders/wk</a:t>
            </a:r>
          </a:p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18.9 min delivery</a:t>
            </a:r>
          </a:p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$21.03 GMV</a:t>
            </a:r>
          </a:p>
        </p:txBody>
      </p:sp>
      <p:sp>
        <p:nvSpPr>
          <p:cNvPr id="15" name="Retângulo Arredondado 14">
            <a:extLst>
              <a:ext uri="{FF2B5EF4-FFF2-40B4-BE49-F238E27FC236}">
                <a16:creationId xmlns:a16="http://schemas.microsoft.com/office/drawing/2014/main" id="{62E00338-7723-43B5-B27C-A1FF5C3D5A1A}"/>
              </a:ext>
            </a:extLst>
          </p:cNvPr>
          <p:cNvSpPr>
            <a:spLocks noGrp="1"/>
          </p:cNvSpPr>
          <p:nvPr/>
        </p:nvSpPr>
        <p:spPr>
          <a:xfrm>
            <a:off x="5381625" y="3524250"/>
            <a:ext cx="3143250" cy="1466850"/>
          </a:xfrm>
          <a:prstGeom prst="roundRect">
            <a:avLst>
              <a:gd name="adj" fmla="val 10390"/>
            </a:avLst>
          </a:prstGeom>
          <a:solidFill>
            <a:srgbClr val="FFE2DA"/>
          </a:solidFill>
          <a:ln w="13335">
            <a:solidFill>
              <a:srgbClr val="E86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4B20FE5-60BD-4194-A67D-83FD1D920645}"/>
              </a:ext>
            </a:extLst>
          </p:cNvPr>
          <p:cNvSpPr>
            <a:spLocks noGrp="1"/>
          </p:cNvSpPr>
          <p:nvPr/>
        </p:nvSpPr>
        <p:spPr>
          <a:xfrm>
            <a:off x="5553075" y="3686175"/>
            <a:ext cx="2800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E86A4A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E86A4A"/>
                </a:solidFill>
                <a:latin typeface="DM Sans"/>
                <a:ea typeface="DM Sans"/>
                <a:cs typeface="DM Sans"/>
              </a:rPr>
              <a:t>Owned pattern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B12C8D9-DDF0-4855-A620-48F344C3E603}"/>
              </a:ext>
            </a:extLst>
          </p:cNvPr>
          <p:cNvSpPr>
            <a:spLocks noGrp="1"/>
          </p:cNvSpPr>
          <p:nvPr/>
        </p:nvSpPr>
        <p:spPr>
          <a:xfrm>
            <a:off x="5553075" y="4029075"/>
            <a:ext cx="280035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More volume than 3PL on average, but slower delivery (20.4 vs 18.7 min). The enablement need is likely process and dispatch consistency.</a:t>
            </a:r>
          </a:p>
        </p:txBody>
      </p:sp>
      <p:sp>
        <p:nvSpPr>
          <p:cNvPr id="18" name="Retângulo Arredondado 17">
            <a:extLst>
              <a:ext uri="{FF2B5EF4-FFF2-40B4-BE49-F238E27FC236}">
                <a16:creationId xmlns:a16="http://schemas.microsoft.com/office/drawing/2014/main" id="{D0F28805-153D-4FB4-A34E-409F85B98829}"/>
              </a:ext>
            </a:extLst>
          </p:cNvPr>
          <p:cNvSpPr>
            <a:spLocks noGrp="1"/>
          </p:cNvSpPr>
          <p:nvPr/>
        </p:nvSpPr>
        <p:spPr>
          <a:xfrm>
            <a:off x="8715375" y="3524250"/>
            <a:ext cx="3190875" cy="1466850"/>
          </a:xfrm>
          <a:prstGeom prst="roundRect">
            <a:avLst>
              <a:gd name="adj" fmla="val 10390"/>
            </a:avLst>
          </a:prstGeom>
          <a:solidFill>
            <a:srgbClr val="E5E8FF"/>
          </a:solidFill>
          <a:ln w="13335">
            <a:solidFill>
              <a:srgbClr val="5E6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D2B7A2B7-D58F-45CF-9FBA-43C86D819658}"/>
              </a:ext>
            </a:extLst>
          </p:cNvPr>
          <p:cNvSpPr>
            <a:spLocks noGrp="1"/>
          </p:cNvSpPr>
          <p:nvPr/>
        </p:nvSpPr>
        <p:spPr>
          <a:xfrm>
            <a:off x="8886825" y="3686175"/>
            <a:ext cx="28479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5E6BE8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5E6BE8"/>
                </a:solidFill>
                <a:latin typeface="DM Sans"/>
                <a:ea typeface="DM Sans"/>
                <a:cs typeface="DM Sans"/>
              </a:rPr>
              <a:t>3PL pattern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5C4074C-C875-4ECE-B5FC-7648AB15962B}"/>
              </a:ext>
            </a:extLst>
          </p:cNvPr>
          <p:cNvSpPr>
            <a:spLocks noGrp="1"/>
          </p:cNvSpPr>
          <p:nvPr/>
        </p:nvSpPr>
        <p:spPr>
          <a:xfrm>
            <a:off x="8886825" y="4029075"/>
            <a:ext cx="2847975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Higher reported GMV but lower tenure and lower daily review. The opportunity is to connect partner operations to the same metric language.</a:t>
            </a:r>
          </a:p>
        </p:txBody>
      </p:sp>
      <p:sp>
        <p:nvSpPr>
          <p:cNvPr id="21" name="Retângulo Arredondado 20">
            <a:extLst>
              <a:ext uri="{FF2B5EF4-FFF2-40B4-BE49-F238E27FC236}">
                <a16:creationId xmlns:a16="http://schemas.microsoft.com/office/drawing/2014/main" id="{28E162D9-9ABB-489F-BF0A-68A96DE4B9B7}"/>
              </a:ext>
            </a:extLst>
          </p:cNvPr>
          <p:cNvSpPr>
            <a:spLocks noGrp="1"/>
          </p:cNvSpPr>
          <p:nvPr/>
        </p:nvSpPr>
        <p:spPr>
          <a:xfrm>
            <a:off x="190500" y="5676900"/>
            <a:ext cx="11811000" cy="371475"/>
          </a:xfrm>
          <a:prstGeom prst="roundRect">
            <a:avLst>
              <a:gd name="adj" fmla="val 30769"/>
            </a:avLst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6B92BD9E-B5BB-4FEE-9E5A-7B89948AF7FC}"/>
              </a:ext>
            </a:extLst>
          </p:cNvPr>
          <p:cNvSpPr>
            <a:spLocks noGrp="1"/>
          </p:cNvSpPr>
          <p:nvPr/>
        </p:nvSpPr>
        <p:spPr>
          <a:xfrm>
            <a:off x="361950" y="5762625"/>
            <a:ext cx="1143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Decision → Split WINE_HOUSE and missing values before using this dimension for incentives, service levels or account coverage.</a:t>
            </a:r>
          </a:p>
        </p:txBody>
      </p:sp>
      <p:sp>
        <p:nvSpPr>
          <p:cNvPr id="23" name="Conector Reto 22">
            <a:extLst>
              <a:ext uri="{FF2B5EF4-FFF2-40B4-BE49-F238E27FC236}">
                <a16:creationId xmlns:a16="http://schemas.microsoft.com/office/drawing/2014/main" id="{97F100F0-578C-4C4C-B207-7DCAF63FF31F}"/>
              </a:ext>
            </a:extLst>
          </p:cNvPr>
          <p:cNvSpPr>
            <a:spLocks noGrp="1"/>
          </p:cNvSpPr>
          <p:nvPr/>
        </p:nvSpPr>
        <p:spPr>
          <a:xfrm>
            <a:off x="190500" y="6200775"/>
            <a:ext cx="11811000" cy="0"/>
          </a:xfrm>
          <a:prstGeom prst="line">
            <a:avLst/>
          </a:prstGeom>
          <a:ln w="9525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0C2B5249-20BB-4C56-A0F4-A62B8FAB305A}"/>
              </a:ext>
            </a:extLst>
          </p:cNvPr>
          <p:cNvSpPr>
            <a:spLocks noGrp="1"/>
          </p:cNvSpPr>
          <p:nvPr/>
        </p:nvSpPr>
        <p:spPr>
          <a:xfrm>
            <a:off x="190500" y="633412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Ta-Da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CC820C4D-C55E-4508-9088-E4AB0C42E504}"/>
              </a:ext>
            </a:extLst>
          </p:cNvPr>
          <p:cNvSpPr>
            <a:spLocks noGrp="1"/>
          </p:cNvSpPr>
          <p:nvPr/>
        </p:nvSpPr>
        <p:spPr>
          <a:xfrm>
            <a:off x="5810250" y="633412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05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9570EC6D-C83E-4E4B-B76B-EE4D21C04957}"/>
              </a:ext>
            </a:extLst>
          </p:cNvPr>
          <p:cNvSpPr>
            <a:spLocks noGrp="1"/>
          </p:cNvSpPr>
          <p:nvPr/>
        </p:nvSpPr>
        <p:spPr>
          <a:xfrm>
            <a:off x="7953375" y="63341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Seller Firmographics</a:t>
            </a:r>
          </a:p>
        </p:txBody>
      </p:sp>
    </p:spTree>
    <p:extLst>
      <p:ext uri="{BB962C8B-B14F-4D97-AF65-F5344CB8AC3E}">
        <p14:creationId xmlns:p14="http://schemas.microsoft.com/office/powerpoint/2010/main" val="157768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>
            <a:extLst>
              <a:ext uri="{FF2B5EF4-FFF2-40B4-BE49-F238E27FC236}">
                <a16:creationId xmlns:a16="http://schemas.microsoft.com/office/drawing/2014/main" id="{24061679-4205-4BCB-B442-F6A00BB76612}"/>
              </a:ext>
            </a:extLst>
          </p:cNvPr>
          <p:cNvSpPr>
            <a:spLocks noGrp="1"/>
          </p:cNvSpPr>
          <p:nvPr/>
        </p:nvSpPr>
        <p:spPr>
          <a:xfrm>
            <a:off x="190500" y="228600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06 / OPERATING RHYTHM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33C6CC3-8663-4934-A00E-55B1D59CE2F0}"/>
              </a:ext>
            </a:extLst>
          </p:cNvPr>
          <p:cNvSpPr>
            <a:spLocks noGrp="1"/>
          </p:cNvSpPr>
          <p:nvPr/>
        </p:nvSpPr>
        <p:spPr>
          <a:xfrm>
            <a:off x="190500" y="533400"/>
            <a:ext cx="1143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Manual work is still the default operating model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2A3EB9B-9761-4DEE-9C10-32369DA7BEBA}"/>
              </a:ext>
            </a:extLst>
          </p:cNvPr>
          <p:cNvSpPr>
            <a:spLocks noGrp="1"/>
          </p:cNvSpPr>
          <p:nvPr/>
        </p:nvSpPr>
        <p:spPr>
          <a:xfrm>
            <a:off x="190500" y="1219200"/>
            <a:ext cx="1123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16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The next growth unlock is not only demand. It is repeatable execution at the point of order.</a:t>
            </a:r>
          </a:p>
        </p:txBody>
      </p:sp>
      <p:sp>
        <p:nvSpPr>
          <p:cNvPr id="4" name="Retângulo Arredondado 3">
            <a:extLst>
              <a:ext uri="{FF2B5EF4-FFF2-40B4-BE49-F238E27FC236}">
                <a16:creationId xmlns:a16="http://schemas.microsoft.com/office/drawing/2014/main" id="{DA4E370C-B6D7-4A2F-AAD3-AF9B02855166}"/>
              </a:ext>
            </a:extLst>
          </p:cNvPr>
          <p:cNvSpPr>
            <a:spLocks noGrp="1"/>
          </p:cNvSpPr>
          <p:nvPr/>
        </p:nvSpPr>
        <p:spPr>
          <a:xfrm>
            <a:off x="190500" y="1752600"/>
            <a:ext cx="2381250" cy="1066800"/>
          </a:xfrm>
          <a:prstGeom prst="roundRect">
            <a:avLst>
              <a:gd name="adj" fmla="val 13393"/>
            </a:avLst>
          </a:prstGeom>
          <a:solidFill>
            <a:srgbClr val="FFE0E9"/>
          </a:solidFill>
          <a:ln w="9525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305B96C-2B40-499A-9AAC-FC53A967D57C}"/>
              </a:ext>
            </a:extLst>
          </p:cNvPr>
          <p:cNvSpPr>
            <a:spLocks noGrp="1"/>
          </p:cNvSpPr>
          <p:nvPr/>
        </p:nvSpPr>
        <p:spPr>
          <a:xfrm>
            <a:off x="361950" y="1924050"/>
            <a:ext cx="2038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E95878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E95878"/>
                </a:solidFill>
                <a:latin typeface="DM Sans"/>
                <a:ea typeface="DM Sans"/>
                <a:cs typeface="DM Sans"/>
              </a:rPr>
              <a:t>44%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2D6BA84-29C8-4C24-8CD3-AECDBE54CB94}"/>
              </a:ext>
            </a:extLst>
          </p:cNvPr>
          <p:cNvSpPr>
            <a:spLocks noGrp="1"/>
          </p:cNvSpPr>
          <p:nvPr/>
        </p:nvSpPr>
        <p:spPr>
          <a:xfrm>
            <a:off x="361950" y="2409825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manage orders manually</a:t>
            </a:r>
          </a:p>
        </p:txBody>
      </p:sp>
      <p:sp>
        <p:nvSpPr>
          <p:cNvPr id="7" name="Retângulo Arredondado 6">
            <a:extLst>
              <a:ext uri="{FF2B5EF4-FFF2-40B4-BE49-F238E27FC236}">
                <a16:creationId xmlns:a16="http://schemas.microsoft.com/office/drawing/2014/main" id="{28B5C9BA-3608-42EE-B5E4-782151BE3D28}"/>
              </a:ext>
            </a:extLst>
          </p:cNvPr>
          <p:cNvSpPr>
            <a:spLocks noGrp="1"/>
          </p:cNvSpPr>
          <p:nvPr/>
        </p:nvSpPr>
        <p:spPr>
          <a:xfrm>
            <a:off x="2762250" y="1752600"/>
            <a:ext cx="2381250" cy="1066800"/>
          </a:xfrm>
          <a:prstGeom prst="roundRect">
            <a:avLst>
              <a:gd name="adj" fmla="val 13393"/>
            </a:avLst>
          </a:prstGeom>
          <a:solidFill>
            <a:srgbClr val="FFE2DA"/>
          </a:solidFill>
          <a:ln w="9525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EF2FAB2-30F5-4B9A-8EF8-143E63C49687}"/>
              </a:ext>
            </a:extLst>
          </p:cNvPr>
          <p:cNvSpPr>
            <a:spLocks noGrp="1"/>
          </p:cNvSpPr>
          <p:nvPr/>
        </p:nvSpPr>
        <p:spPr>
          <a:xfrm>
            <a:off x="2933700" y="1924050"/>
            <a:ext cx="2038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E86A4A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E86A4A"/>
                </a:solidFill>
                <a:latin typeface="DM Sans"/>
                <a:ea typeface="DM Sans"/>
                <a:cs typeface="DM Sans"/>
              </a:rPr>
              <a:t>46%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0F33411-1C42-4700-BB1E-F6618C5F39E0}"/>
              </a:ext>
            </a:extLst>
          </p:cNvPr>
          <p:cNvSpPr>
            <a:spLocks noGrp="1"/>
          </p:cNvSpPr>
          <p:nvPr/>
        </p:nvSpPr>
        <p:spPr>
          <a:xfrm>
            <a:off x="2933700" y="2409825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prepare with one employee + other tasks</a:t>
            </a:r>
          </a:p>
        </p:txBody>
      </p:sp>
      <p:sp>
        <p:nvSpPr>
          <p:cNvPr id="10" name="Retângulo Arredondado 9">
            <a:extLst>
              <a:ext uri="{FF2B5EF4-FFF2-40B4-BE49-F238E27FC236}">
                <a16:creationId xmlns:a16="http://schemas.microsoft.com/office/drawing/2014/main" id="{DD48E2AB-2759-4D5A-810C-B2EB9C1C2E76}"/>
              </a:ext>
            </a:extLst>
          </p:cNvPr>
          <p:cNvSpPr>
            <a:spLocks noGrp="1"/>
          </p:cNvSpPr>
          <p:nvPr/>
        </p:nvSpPr>
        <p:spPr>
          <a:xfrm>
            <a:off x="5334000" y="1752600"/>
            <a:ext cx="2381250" cy="1066800"/>
          </a:xfrm>
          <a:prstGeom prst="roundRect">
            <a:avLst>
              <a:gd name="adj" fmla="val 13393"/>
            </a:avLst>
          </a:prstGeom>
          <a:solidFill>
            <a:srgbClr val="E5E8FF"/>
          </a:solidFill>
          <a:ln w="9525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0B5067B-6C43-4529-AB0E-8D898176B356}"/>
              </a:ext>
            </a:extLst>
          </p:cNvPr>
          <p:cNvSpPr>
            <a:spLocks noGrp="1"/>
          </p:cNvSpPr>
          <p:nvPr/>
        </p:nvSpPr>
        <p:spPr>
          <a:xfrm>
            <a:off x="5505450" y="1924050"/>
            <a:ext cx="2038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5E6BE8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5E6BE8"/>
                </a:solidFill>
                <a:latin typeface="DM Sans"/>
                <a:ea typeface="DM Sans"/>
                <a:cs typeface="DM Sans"/>
              </a:rPr>
              <a:t>45%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8696AC2-2F83-4B0B-807F-28280BB73B3B}"/>
              </a:ext>
            </a:extLst>
          </p:cNvPr>
          <p:cNvSpPr>
            <a:spLocks noGrp="1"/>
          </p:cNvSpPr>
          <p:nvPr/>
        </p:nvSpPr>
        <p:spPr>
          <a:xfrm>
            <a:off x="5505450" y="2409825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say TaDa is &gt;50% of sales</a:t>
            </a:r>
          </a:p>
        </p:txBody>
      </p:sp>
      <p:sp>
        <p:nvSpPr>
          <p:cNvPr id="13" name="Retângulo Arredondado 12">
            <a:extLst>
              <a:ext uri="{FF2B5EF4-FFF2-40B4-BE49-F238E27FC236}">
                <a16:creationId xmlns:a16="http://schemas.microsoft.com/office/drawing/2014/main" id="{16128136-E35A-4F54-96F2-859E6D9BE43A}"/>
              </a:ext>
            </a:extLst>
          </p:cNvPr>
          <p:cNvSpPr>
            <a:spLocks noGrp="1"/>
          </p:cNvSpPr>
          <p:nvPr/>
        </p:nvSpPr>
        <p:spPr>
          <a:xfrm>
            <a:off x="7905750" y="1752600"/>
            <a:ext cx="2381250" cy="1066800"/>
          </a:xfrm>
          <a:prstGeom prst="roundRect">
            <a:avLst>
              <a:gd name="adj" fmla="val 13393"/>
            </a:avLst>
          </a:prstGeom>
          <a:solidFill>
            <a:srgbClr val="EAD9FF"/>
          </a:solidFill>
          <a:ln w="9525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7E93E7F-7EB4-4D62-88F0-D91019E74CA6}"/>
              </a:ext>
            </a:extLst>
          </p:cNvPr>
          <p:cNvSpPr>
            <a:spLocks noGrp="1"/>
          </p:cNvSpPr>
          <p:nvPr/>
        </p:nvSpPr>
        <p:spPr>
          <a:xfrm>
            <a:off x="8077200" y="1924050"/>
            <a:ext cx="2038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3%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03E6E3D-F7D4-4FA8-9F73-B8544563DE08}"/>
              </a:ext>
            </a:extLst>
          </p:cNvPr>
          <p:cNvSpPr>
            <a:spLocks noGrp="1"/>
          </p:cNvSpPr>
          <p:nvPr/>
        </p:nvSpPr>
        <p:spPr>
          <a:xfrm>
            <a:off x="8077200" y="2409825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report no own couriers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05A2C240-A1E0-4275-B50E-CEC4B26D86E2}"/>
              </a:ext>
            </a:extLst>
          </p:cNvPr>
          <p:cNvSpPr>
            <a:spLocks noGrp="1"/>
          </p:cNvSpPr>
          <p:nvPr/>
        </p:nvSpPr>
        <p:spPr>
          <a:xfrm>
            <a:off x="190500" y="3200400"/>
            <a:ext cx="485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ORDER MANAGEMENT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="190500" y="3476625"/>
          <a:ext cx="4857750" cy="1857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Retângulo 17">
            <a:extLst>
              <a:ext uri="{FF2B5EF4-FFF2-40B4-BE49-F238E27FC236}">
                <a16:creationId xmlns:a16="http://schemas.microsoft.com/office/drawing/2014/main" id="{2767B204-72F8-490C-B902-F715B3276A0D}"/>
              </a:ext>
            </a:extLst>
          </p:cNvPr>
          <p:cNvSpPr>
            <a:spLocks noGrp="1"/>
          </p:cNvSpPr>
          <p:nvPr/>
        </p:nvSpPr>
        <p:spPr>
          <a:xfrm>
            <a:off x="5619750" y="3200400"/>
            <a:ext cx="542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TA-DA SHARE OF SELLER SALES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="5619750" y="3476625"/>
          <a:ext cx="5334000" cy="1857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Retângulo Arredondado 19">
            <a:extLst>
              <a:ext uri="{FF2B5EF4-FFF2-40B4-BE49-F238E27FC236}">
                <a16:creationId xmlns:a16="http://schemas.microsoft.com/office/drawing/2014/main" id="{DB4E4EBD-7D42-4911-A1DF-44F5AA22011E}"/>
              </a:ext>
            </a:extLst>
          </p:cNvPr>
          <p:cNvSpPr>
            <a:spLocks noGrp="1"/>
          </p:cNvSpPr>
          <p:nvPr/>
        </p:nvSpPr>
        <p:spPr>
          <a:xfrm>
            <a:off x="190500" y="5676900"/>
            <a:ext cx="11811000" cy="371475"/>
          </a:xfrm>
          <a:prstGeom prst="roundRect">
            <a:avLst>
              <a:gd name="adj" fmla="val 30769"/>
            </a:avLst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B46B5741-2D10-48BB-969F-6C5D4C5361B3}"/>
              </a:ext>
            </a:extLst>
          </p:cNvPr>
          <p:cNvSpPr>
            <a:spLocks noGrp="1"/>
          </p:cNvSpPr>
          <p:nvPr/>
        </p:nvSpPr>
        <p:spPr>
          <a:xfrm>
            <a:off x="361950" y="5762625"/>
            <a:ext cx="1143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Seller implication → Small sellers need a minimum operating routine: who receives, who prepares, who dispatches and which metric to act on.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4E50B3F2-743F-4340-9153-38113D41B8E8}"/>
              </a:ext>
            </a:extLst>
          </p:cNvPr>
          <p:cNvSpPr>
            <a:spLocks noGrp="1"/>
          </p:cNvSpPr>
          <p:nvPr/>
        </p:nvSpPr>
        <p:spPr>
          <a:xfrm>
            <a:off x="190500" y="6200775"/>
            <a:ext cx="11811000" cy="0"/>
          </a:xfrm>
          <a:prstGeom prst="line">
            <a:avLst/>
          </a:prstGeom>
          <a:ln w="9525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806C4BC8-491A-46D7-8627-739736F77A3B}"/>
              </a:ext>
            </a:extLst>
          </p:cNvPr>
          <p:cNvSpPr>
            <a:spLocks noGrp="1"/>
          </p:cNvSpPr>
          <p:nvPr/>
        </p:nvSpPr>
        <p:spPr>
          <a:xfrm>
            <a:off x="190500" y="633412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Ta-Da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69DC23B3-20E0-4A99-8BD2-D74C3C24CD95}"/>
              </a:ext>
            </a:extLst>
          </p:cNvPr>
          <p:cNvSpPr>
            <a:spLocks noGrp="1"/>
          </p:cNvSpPr>
          <p:nvPr/>
        </p:nvSpPr>
        <p:spPr>
          <a:xfrm>
            <a:off x="5810250" y="633412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06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A11AE4AD-91D9-495D-9010-C286CEC25C05}"/>
              </a:ext>
            </a:extLst>
          </p:cNvPr>
          <p:cNvSpPr>
            <a:spLocks noGrp="1"/>
          </p:cNvSpPr>
          <p:nvPr/>
        </p:nvSpPr>
        <p:spPr>
          <a:xfrm>
            <a:off x="7953375" y="63341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Seller Firmographics</a:t>
            </a:r>
          </a:p>
        </p:txBody>
      </p:sp>
    </p:spTree>
    <p:extLst>
      <p:ext uri="{BB962C8B-B14F-4D97-AF65-F5344CB8AC3E}">
        <p14:creationId xmlns:p14="http://schemas.microsoft.com/office/powerpoint/2010/main" val="850478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F07F6408-C7FE-4D25-9B02-3150BA0B95FA}"/>
              </a:ext>
            </a:extLst>
          </p:cNvPr>
          <p:cNvSpPr>
            <a:spLocks noGrp="1"/>
          </p:cNvSpPr>
          <p:nvPr/>
        </p:nvSpPr>
        <p:spPr>
          <a:xfrm>
            <a:off x="190500" y="228600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07 / METRIC LITERACY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9441225-882C-43EF-AA99-5914DA7A5C8C}"/>
              </a:ext>
            </a:extLst>
          </p:cNvPr>
          <p:cNvSpPr>
            <a:spLocks noGrp="1"/>
          </p:cNvSpPr>
          <p:nvPr/>
        </p:nvSpPr>
        <p:spPr>
          <a:xfrm>
            <a:off x="190500" y="533400"/>
            <a:ext cx="1143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Metric recognition is high, but metric fluency is untested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FBD7FFA-D3B0-4675-B6A6-A409EE2D0087}"/>
              </a:ext>
            </a:extLst>
          </p:cNvPr>
          <p:cNvSpPr>
            <a:spLocks noGrp="1"/>
          </p:cNvSpPr>
          <p:nvPr/>
        </p:nvSpPr>
        <p:spPr>
          <a:xfrm>
            <a:off x="190500" y="1219200"/>
            <a:ext cx="1123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16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The survey shows which words sellers recognize. A comprehension check is still needed before using the metrics as the main education or incentive layer.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="190500" y="1714500"/>
          <a:ext cx="6191250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BD1C7AF9-3B17-4BA4-8B54-566DD53961C2}"/>
              </a:ext>
            </a:extLst>
          </p:cNvPr>
          <p:cNvSpPr>
            <a:spLocks noGrp="1"/>
          </p:cNvSpPr>
          <p:nvPr/>
        </p:nvSpPr>
        <p:spPr>
          <a:xfrm>
            <a:off x="190500" y="5143500"/>
            <a:ext cx="628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Share of matched sellers selecting each metric</a:t>
            </a:r>
          </a:p>
        </p:txBody>
      </p:sp>
      <p:sp>
        <p:nvSpPr>
          <p:cNvPr id="6" name="Retângulo Arredondado 5">
            <a:extLst>
              <a:ext uri="{FF2B5EF4-FFF2-40B4-BE49-F238E27FC236}">
                <a16:creationId xmlns:a16="http://schemas.microsoft.com/office/drawing/2014/main" id="{397BBF1A-E1C9-4EA2-A4CC-C8E4A4320AA9}"/>
              </a:ext>
            </a:extLst>
          </p:cNvPr>
          <p:cNvSpPr>
            <a:spLocks noGrp="1"/>
          </p:cNvSpPr>
          <p:nvPr/>
        </p:nvSpPr>
        <p:spPr>
          <a:xfrm>
            <a:off x="6953250" y="1743075"/>
            <a:ext cx="4476750" cy="1047750"/>
          </a:xfrm>
          <a:prstGeom prst="roundRect">
            <a:avLst>
              <a:gd name="adj" fmla="val 14545"/>
            </a:avLst>
          </a:prstGeom>
          <a:solidFill>
            <a:srgbClr val="EAD9FF"/>
          </a:solidFill>
          <a:ln w="13335">
            <a:solidFill>
              <a:srgbClr val="9147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E5A76F6-547D-4018-A5A2-ADCF64A0BCB1}"/>
              </a:ext>
            </a:extLst>
          </p:cNvPr>
          <p:cNvSpPr>
            <a:spLocks noGrp="1"/>
          </p:cNvSpPr>
          <p:nvPr/>
        </p:nvSpPr>
        <p:spPr>
          <a:xfrm>
            <a:off x="7124700" y="1905000"/>
            <a:ext cx="413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142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91.6% know at least one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1844E1B-FE9D-4D0E-BE07-B38488AB430F}"/>
              </a:ext>
            </a:extLst>
          </p:cNvPr>
          <p:cNvSpPr>
            <a:spLocks noGrp="1"/>
          </p:cNvSpPr>
          <p:nvPr/>
        </p:nvSpPr>
        <p:spPr>
          <a:xfrm>
            <a:off x="7124700" y="2247900"/>
            <a:ext cx="41338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27 sellers selected “No conozco ninguna”. The majority can name a metric, but the depth varies by profile.</a:t>
            </a:r>
          </a:p>
        </p:txBody>
      </p:sp>
      <p:sp>
        <p:nvSpPr>
          <p:cNvPr id="9" name="Retângulo Arredondado 8">
            <a:extLst>
              <a:ext uri="{FF2B5EF4-FFF2-40B4-BE49-F238E27FC236}">
                <a16:creationId xmlns:a16="http://schemas.microsoft.com/office/drawing/2014/main" id="{4FF93CB7-ACAA-44EC-8CC2-68A97F8D2B61}"/>
              </a:ext>
            </a:extLst>
          </p:cNvPr>
          <p:cNvSpPr>
            <a:spLocks noGrp="1"/>
          </p:cNvSpPr>
          <p:nvPr/>
        </p:nvSpPr>
        <p:spPr>
          <a:xfrm>
            <a:off x="6953250" y="2971800"/>
            <a:ext cx="4476750" cy="1047750"/>
          </a:xfrm>
          <a:prstGeom prst="roundRect">
            <a:avLst>
              <a:gd name="adj" fmla="val 14545"/>
            </a:avLst>
          </a:prstGeom>
          <a:solidFill>
            <a:srgbClr val="E5E8FF"/>
          </a:solidFill>
          <a:ln w="13335">
            <a:solidFill>
              <a:srgbClr val="5E6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0EEEFF8-4D4C-424C-B40C-B93A82EA1705}"/>
              </a:ext>
            </a:extLst>
          </p:cNvPr>
          <p:cNvSpPr>
            <a:spLocks noGrp="1"/>
          </p:cNvSpPr>
          <p:nvPr/>
        </p:nvSpPr>
        <p:spPr>
          <a:xfrm>
            <a:off x="7124700" y="3133725"/>
            <a:ext cx="413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5E6BE8"/>
                </a:solidFill>
                <a:latin typeface="DM Sans"/>
                <a:ea typeface="DM Sans"/>
                <a:cs typeface="DM Sans"/>
              </a:defRPr>
            </a:pPr>
            <a:r>
              <a:rPr sz="1425" b="1">
                <a:solidFill>
                  <a:srgbClr val="5E6BE8"/>
                </a:solidFill>
                <a:latin typeface="DM Sans"/>
                <a:ea typeface="DM Sans"/>
                <a:cs typeface="DM Sans"/>
              </a:rPr>
              <a:t>84.2% review daily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39A83E4-594D-445B-9D9A-662AE2837429}"/>
              </a:ext>
            </a:extLst>
          </p:cNvPr>
          <p:cNvSpPr>
            <a:spLocks noGrp="1"/>
          </p:cNvSpPr>
          <p:nvPr/>
        </p:nvSpPr>
        <p:spPr>
          <a:xfrm>
            <a:off x="7124700" y="3476625"/>
            <a:ext cx="41338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271 sellers say they review results every day. Daily cadence is a strong foundation for action-oriented education.</a:t>
            </a:r>
          </a:p>
        </p:txBody>
      </p:sp>
      <p:sp>
        <p:nvSpPr>
          <p:cNvPr id="12" name="Retângulo Arredondado 11">
            <a:extLst>
              <a:ext uri="{FF2B5EF4-FFF2-40B4-BE49-F238E27FC236}">
                <a16:creationId xmlns:a16="http://schemas.microsoft.com/office/drawing/2014/main" id="{CBD11B5E-8148-4B9F-97FA-24E128A1D474}"/>
              </a:ext>
            </a:extLst>
          </p:cNvPr>
          <p:cNvSpPr>
            <a:spLocks noGrp="1"/>
          </p:cNvSpPr>
          <p:nvPr/>
        </p:nvSpPr>
        <p:spPr>
          <a:xfrm>
            <a:off x="6953250" y="4200525"/>
            <a:ext cx="4476750" cy="1047750"/>
          </a:xfrm>
          <a:prstGeom prst="roundRect">
            <a:avLst>
              <a:gd name="adj" fmla="val 14545"/>
            </a:avLst>
          </a:prstGeom>
          <a:solidFill>
            <a:srgbClr val="FFE2DA"/>
          </a:solidFill>
          <a:ln w="13335">
            <a:solidFill>
              <a:srgbClr val="E86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216D320-B794-4771-BA7F-3FA8EDE95C64}"/>
              </a:ext>
            </a:extLst>
          </p:cNvPr>
          <p:cNvSpPr>
            <a:spLocks noGrp="1"/>
          </p:cNvSpPr>
          <p:nvPr/>
        </p:nvSpPr>
        <p:spPr>
          <a:xfrm>
            <a:off x="7124700" y="4362450"/>
            <a:ext cx="4133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E86A4A"/>
                </a:solidFill>
                <a:latin typeface="DM Sans"/>
                <a:ea typeface="DM Sans"/>
                <a:cs typeface="DM Sans"/>
              </a:defRPr>
            </a:pPr>
            <a:r>
              <a:rPr sz="1425" b="1">
                <a:solidFill>
                  <a:srgbClr val="E86A4A"/>
                </a:solidFill>
                <a:latin typeface="DM Sans"/>
                <a:ea typeface="DM Sans"/>
                <a:cs typeface="DM Sans"/>
              </a:rPr>
              <a:t>Advanced metrics are under-recognized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E42A516-C2CF-4DE1-BCAC-B412842596F4}"/>
              </a:ext>
            </a:extLst>
          </p:cNvPr>
          <p:cNvSpPr>
            <a:spLocks noGrp="1"/>
          </p:cNvSpPr>
          <p:nvPr/>
        </p:nvSpPr>
        <p:spPr>
          <a:xfrm>
            <a:off x="7124700" y="4705350"/>
            <a:ext cx="41338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Demand Coverage (23.0%) and SLA60 (24.5%) are the least selected. These are the best candidates for plain-language coaching.</a:t>
            </a:r>
          </a:p>
        </p:txBody>
      </p:sp>
      <p:sp>
        <p:nvSpPr>
          <p:cNvPr id="15" name="Retângulo Arredondado 14">
            <a:extLst>
              <a:ext uri="{FF2B5EF4-FFF2-40B4-BE49-F238E27FC236}">
                <a16:creationId xmlns:a16="http://schemas.microsoft.com/office/drawing/2014/main" id="{14DAB862-1B89-4B5A-BCAF-47B8B1EE9F6D}"/>
              </a:ext>
            </a:extLst>
          </p:cNvPr>
          <p:cNvSpPr>
            <a:spLocks noGrp="1"/>
          </p:cNvSpPr>
          <p:nvPr/>
        </p:nvSpPr>
        <p:spPr>
          <a:xfrm>
            <a:off x="190500" y="5676900"/>
            <a:ext cx="11811000" cy="371475"/>
          </a:xfrm>
          <a:prstGeom prst="roundRect">
            <a:avLst>
              <a:gd name="adj" fmla="val 30769"/>
            </a:avLst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2D8B16C-8B01-4718-8D53-9C47FB2D32A1}"/>
              </a:ext>
            </a:extLst>
          </p:cNvPr>
          <p:cNvSpPr>
            <a:spLocks noGrp="1"/>
          </p:cNvSpPr>
          <p:nvPr/>
        </p:nvSpPr>
        <p:spPr>
          <a:xfrm>
            <a:off x="361950" y="5762625"/>
            <a:ext cx="1143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Product implication → Teach each metric as a short loop: what changed, why it changed and what the seller can do next.</a:t>
            </a:r>
          </a:p>
        </p:txBody>
      </p:sp>
      <p:sp>
        <p:nvSpPr>
          <p:cNvPr id="17" name="Conector Reto 16">
            <a:extLst>
              <a:ext uri="{FF2B5EF4-FFF2-40B4-BE49-F238E27FC236}">
                <a16:creationId xmlns:a16="http://schemas.microsoft.com/office/drawing/2014/main" id="{9AB91E87-88F0-4D83-B396-6DF72EE2D8E7}"/>
              </a:ext>
            </a:extLst>
          </p:cNvPr>
          <p:cNvSpPr>
            <a:spLocks noGrp="1"/>
          </p:cNvSpPr>
          <p:nvPr/>
        </p:nvSpPr>
        <p:spPr>
          <a:xfrm>
            <a:off x="190500" y="6200775"/>
            <a:ext cx="11811000" cy="0"/>
          </a:xfrm>
          <a:prstGeom prst="line">
            <a:avLst/>
          </a:prstGeom>
          <a:ln w="9525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D8EEFDA-075C-4986-8A60-D75C6DED993E}"/>
              </a:ext>
            </a:extLst>
          </p:cNvPr>
          <p:cNvSpPr>
            <a:spLocks noGrp="1"/>
          </p:cNvSpPr>
          <p:nvPr/>
        </p:nvSpPr>
        <p:spPr>
          <a:xfrm>
            <a:off x="190500" y="633412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Ta-Da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0303944-402F-4821-A502-D9EC95F59367}"/>
              </a:ext>
            </a:extLst>
          </p:cNvPr>
          <p:cNvSpPr>
            <a:spLocks noGrp="1"/>
          </p:cNvSpPr>
          <p:nvPr/>
        </p:nvSpPr>
        <p:spPr>
          <a:xfrm>
            <a:off x="5810250" y="633412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07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43AFD72E-B941-49A7-AAC2-6B39235D3008}"/>
              </a:ext>
            </a:extLst>
          </p:cNvPr>
          <p:cNvSpPr>
            <a:spLocks noGrp="1"/>
          </p:cNvSpPr>
          <p:nvPr/>
        </p:nvSpPr>
        <p:spPr>
          <a:xfrm>
            <a:off x="7953375" y="63341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Seller Firmographics</a:t>
            </a:r>
          </a:p>
        </p:txBody>
      </p:sp>
    </p:spTree>
    <p:extLst>
      <p:ext uri="{BB962C8B-B14F-4D97-AF65-F5344CB8AC3E}">
        <p14:creationId xmlns:p14="http://schemas.microsoft.com/office/powerpoint/2010/main" val="332086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tângulo 51">
            <a:extLst>
              <a:ext uri="{FF2B5EF4-FFF2-40B4-BE49-F238E27FC236}">
                <a16:creationId xmlns:a16="http://schemas.microsoft.com/office/drawing/2014/main" id="{3EA3138C-EA4B-4088-89BF-6F7B1B549236}"/>
              </a:ext>
            </a:extLst>
          </p:cNvPr>
          <p:cNvSpPr>
            <a:spLocks noGrp="1"/>
          </p:cNvSpPr>
          <p:nvPr/>
        </p:nvSpPr>
        <p:spPr>
          <a:xfrm>
            <a:off x="190500" y="228600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08 / SELLER SEGMENTATION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670F445-4E85-4029-9FD7-FD0F7F8AE159}"/>
              </a:ext>
            </a:extLst>
          </p:cNvPr>
          <p:cNvSpPr>
            <a:spLocks noGrp="1"/>
          </p:cNvSpPr>
          <p:nvPr/>
        </p:nvSpPr>
        <p:spPr>
          <a:xfrm>
            <a:off x="190500" y="533400"/>
            <a:ext cx="1143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The seller framework uses size and time on TaDa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C58E775-CD82-4DCC-9595-AF3E8C69D3B6}"/>
              </a:ext>
            </a:extLst>
          </p:cNvPr>
          <p:cNvSpPr>
            <a:spLocks noGrp="1"/>
          </p:cNvSpPr>
          <p:nvPr/>
        </p:nvSpPr>
        <p:spPr>
          <a:xfrm>
            <a:off x="190500" y="1219200"/>
            <a:ext cx="1123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16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Each cell is descriptive. It combines operational scale with maturity and adds survey signals for prioritization.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ED5F1A1-459D-4BA2-AE32-30D3A18AED38}"/>
              </a:ext>
            </a:extLst>
          </p:cNvPr>
          <p:cNvSpPr>
            <a:spLocks noGrp="1"/>
          </p:cNvSpPr>
          <p:nvPr/>
        </p:nvSpPr>
        <p:spPr>
          <a:xfrm>
            <a:off x="190500" y="167640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E95878"/>
                </a:solidFill>
                <a:latin typeface="DM Sans"/>
                <a:ea typeface="DM Sans"/>
                <a:cs typeface="DM Sans"/>
              </a:defRPr>
            </a:pPr>
            <a:r>
              <a:rPr sz="1050" b="1">
                <a:solidFill>
                  <a:srgbClr val="E95878"/>
                </a:solidFill>
                <a:latin typeface="DM Sans"/>
                <a:ea typeface="DM Sans"/>
                <a:cs typeface="DM Sans"/>
              </a:rPr>
              <a:t>SMALL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2BD01A8-8330-4EFF-BD85-9AB86370157E}"/>
              </a:ext>
            </a:extLst>
          </p:cNvPr>
          <p:cNvSpPr>
            <a:spLocks noGrp="1"/>
          </p:cNvSpPr>
          <p:nvPr/>
        </p:nvSpPr>
        <p:spPr>
          <a:xfrm>
            <a:off x="1333500" y="16764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 &lt;100 orders/wk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68010AB-C8BC-4C67-A0E4-644E60E5A1D4}"/>
              </a:ext>
            </a:extLst>
          </p:cNvPr>
          <p:cNvSpPr>
            <a:spLocks noGrp="1"/>
          </p:cNvSpPr>
          <p:nvPr/>
        </p:nvSpPr>
        <p:spPr>
          <a:xfrm>
            <a:off x="4143375" y="167640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E86A4A"/>
                </a:solidFill>
                <a:latin typeface="DM Sans"/>
                <a:ea typeface="DM Sans"/>
                <a:cs typeface="DM Sans"/>
              </a:defRPr>
            </a:pPr>
            <a:r>
              <a:rPr sz="1050" b="1">
                <a:solidFill>
                  <a:srgbClr val="E86A4A"/>
                </a:solidFill>
                <a:latin typeface="DM Sans"/>
                <a:ea typeface="DM Sans"/>
                <a:cs typeface="DM Sans"/>
              </a:rPr>
              <a:t>MEDIUM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AD5E3CD-D8F1-47AC-BBD4-18B3E52CBE9E}"/>
              </a:ext>
            </a:extLst>
          </p:cNvPr>
          <p:cNvSpPr>
            <a:spLocks noGrp="1"/>
          </p:cNvSpPr>
          <p:nvPr/>
        </p:nvSpPr>
        <p:spPr>
          <a:xfrm>
            <a:off x="5286375" y="16764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 100–249 orders/wk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AD6C968-3071-47C6-AB4E-3213554B6BA7}"/>
              </a:ext>
            </a:extLst>
          </p:cNvPr>
          <p:cNvSpPr>
            <a:spLocks noGrp="1"/>
          </p:cNvSpPr>
          <p:nvPr/>
        </p:nvSpPr>
        <p:spPr>
          <a:xfrm>
            <a:off x="8096250" y="167640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5E6BE8"/>
                </a:solidFill>
                <a:latin typeface="DM Sans"/>
                <a:ea typeface="DM Sans"/>
                <a:cs typeface="DM Sans"/>
              </a:defRPr>
            </a:pPr>
            <a:r>
              <a:rPr sz="1050" b="1">
                <a:solidFill>
                  <a:srgbClr val="5E6BE8"/>
                </a:solidFill>
                <a:latin typeface="DM Sans"/>
                <a:ea typeface="DM Sans"/>
                <a:cs typeface="DM Sans"/>
              </a:rPr>
              <a:t>LARGE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74F0288-6F0C-4B07-A26A-0415DFF78AA6}"/>
              </a:ext>
            </a:extLst>
          </p:cNvPr>
          <p:cNvSpPr>
            <a:spLocks noGrp="1"/>
          </p:cNvSpPr>
          <p:nvPr/>
        </p:nvSpPr>
        <p:spPr>
          <a:xfrm>
            <a:off x="9239250" y="16764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 ≥250 orders/wk</a:t>
            </a:r>
          </a:p>
        </p:txBody>
      </p:sp>
      <p:sp>
        <p:nvSpPr>
          <p:cNvPr id="10" name="Retângulo Arredondado 9">
            <a:extLst>
              <a:ext uri="{FF2B5EF4-FFF2-40B4-BE49-F238E27FC236}">
                <a16:creationId xmlns:a16="http://schemas.microsoft.com/office/drawing/2014/main" id="{E5334794-B965-4B70-BB2E-6A45A7C4F91F}"/>
              </a:ext>
            </a:extLst>
          </p:cNvPr>
          <p:cNvSpPr>
            <a:spLocks noGrp="1"/>
          </p:cNvSpPr>
          <p:nvPr/>
        </p:nvSpPr>
        <p:spPr>
          <a:xfrm>
            <a:off x="190500" y="2000250"/>
            <a:ext cx="3524250" cy="914400"/>
          </a:xfrm>
          <a:prstGeom prst="roundRect">
            <a:avLst>
              <a:gd name="adj" fmla="val 14583"/>
            </a:avLst>
          </a:prstGeom>
          <a:solidFill>
            <a:srgbClr val="FFE0E9"/>
          </a:solidFill>
          <a:ln w="11430">
            <a:solidFill>
              <a:srgbClr val="E958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C2F54A7-8E93-472D-8766-5B6B1EFD1876}"/>
              </a:ext>
            </a:extLst>
          </p:cNvPr>
          <p:cNvSpPr>
            <a:spLocks noGrp="1"/>
          </p:cNvSpPr>
          <p:nvPr/>
        </p:nvSpPr>
        <p:spPr>
          <a:xfrm>
            <a:off x="333375" y="21145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E95878"/>
                </a:solidFill>
                <a:latin typeface="DM Sans"/>
                <a:ea typeface="DM Sans"/>
                <a:cs typeface="DM Sans"/>
              </a:defRPr>
            </a:pPr>
            <a:r>
              <a:rPr sz="1125" b="1">
                <a:solidFill>
                  <a:srgbClr val="E95878"/>
                </a:solidFill>
                <a:latin typeface="DM Sans"/>
                <a:ea typeface="DM Sans"/>
                <a:cs typeface="DM Sans"/>
              </a:rPr>
              <a:t>Small in discovery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01A1427-4D83-49D1-823D-B5FA4B2C8047}"/>
              </a:ext>
            </a:extLst>
          </p:cNvPr>
          <p:cNvSpPr>
            <a:spLocks noGrp="1"/>
          </p:cNvSpPr>
          <p:nvPr/>
        </p:nvSpPr>
        <p:spPr>
          <a:xfrm>
            <a:off x="333375" y="2381250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38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85 sellers  •  26%  •  48 orders/wk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2143E08-A184-4C02-A5A6-CE57DB60E216}"/>
              </a:ext>
            </a:extLst>
          </p:cNvPr>
          <p:cNvSpPr>
            <a:spLocks noGrp="1"/>
          </p:cNvSpPr>
          <p:nvPr/>
        </p:nvSpPr>
        <p:spPr>
          <a:xfrm>
            <a:off x="333375" y="2619375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86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5.3 mo  •  $20.49 GMV  •  2.9/8 metrics  •  3.86/5</a:t>
            </a:r>
          </a:p>
        </p:txBody>
      </p:sp>
      <p:sp>
        <p:nvSpPr>
          <p:cNvPr id="14" name="Retângulo Arredondado 13">
            <a:extLst>
              <a:ext uri="{FF2B5EF4-FFF2-40B4-BE49-F238E27FC236}">
                <a16:creationId xmlns:a16="http://schemas.microsoft.com/office/drawing/2014/main" id="{93C92B9C-5268-40FE-9AE7-A93150EA70E9}"/>
              </a:ext>
            </a:extLst>
          </p:cNvPr>
          <p:cNvSpPr>
            <a:spLocks noGrp="1"/>
          </p:cNvSpPr>
          <p:nvPr/>
        </p:nvSpPr>
        <p:spPr>
          <a:xfrm>
            <a:off x="190500" y="3124200"/>
            <a:ext cx="3524250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1430">
            <a:solidFill>
              <a:srgbClr val="E958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A98A3AA-0BA6-4E57-AF28-D1D3ADEEABC0}"/>
              </a:ext>
            </a:extLst>
          </p:cNvPr>
          <p:cNvSpPr>
            <a:spLocks noGrp="1"/>
          </p:cNvSpPr>
          <p:nvPr/>
        </p:nvSpPr>
        <p:spPr>
          <a:xfrm>
            <a:off x="333375" y="32385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E95878"/>
                </a:solidFill>
                <a:latin typeface="DM Sans"/>
                <a:ea typeface="DM Sans"/>
                <a:cs typeface="DM Sans"/>
              </a:defRPr>
            </a:pPr>
            <a:r>
              <a:rPr sz="1125" b="1">
                <a:solidFill>
                  <a:srgbClr val="E95878"/>
                </a:solidFill>
                <a:latin typeface="DM Sans"/>
                <a:ea typeface="DM Sans"/>
                <a:cs typeface="DM Sans"/>
              </a:rPr>
              <a:t>Small consolidator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E645215-4AD2-48F0-8CE8-64F2A5179602}"/>
              </a:ext>
            </a:extLst>
          </p:cNvPr>
          <p:cNvSpPr>
            <a:spLocks noGrp="1"/>
          </p:cNvSpPr>
          <p:nvPr/>
        </p:nvSpPr>
        <p:spPr>
          <a:xfrm>
            <a:off x="333375" y="3505200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38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18 sellers  •  6%  •  63 orders/wk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73DD34B-5271-4E40-91D3-71DFC7F7F0F1}"/>
              </a:ext>
            </a:extLst>
          </p:cNvPr>
          <p:cNvSpPr>
            <a:spLocks noGrp="1"/>
          </p:cNvSpPr>
          <p:nvPr/>
        </p:nvSpPr>
        <p:spPr>
          <a:xfrm>
            <a:off x="333375" y="3743325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86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18.4 mo  •  $18.93 GMV  •  4.3/8 metrics  •  4.24/5</a:t>
            </a:r>
          </a:p>
        </p:txBody>
      </p:sp>
      <p:sp>
        <p:nvSpPr>
          <p:cNvPr id="18" name="Retângulo Arredondado 17">
            <a:extLst>
              <a:ext uri="{FF2B5EF4-FFF2-40B4-BE49-F238E27FC236}">
                <a16:creationId xmlns:a16="http://schemas.microsoft.com/office/drawing/2014/main" id="{D0A437AF-195C-47D1-97E6-BB8355581684}"/>
              </a:ext>
            </a:extLst>
          </p:cNvPr>
          <p:cNvSpPr>
            <a:spLocks noGrp="1"/>
          </p:cNvSpPr>
          <p:nvPr/>
        </p:nvSpPr>
        <p:spPr>
          <a:xfrm>
            <a:off x="190500" y="4248150"/>
            <a:ext cx="3524250" cy="914400"/>
          </a:xfrm>
          <a:prstGeom prst="roundRect">
            <a:avLst>
              <a:gd name="adj" fmla="val 14583"/>
            </a:avLst>
          </a:prstGeom>
          <a:solidFill>
            <a:srgbClr val="EAD9FF"/>
          </a:solidFill>
          <a:ln w="11430">
            <a:solidFill>
              <a:srgbClr val="E958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EF1DCF8-B5EE-4528-AE61-2147C295B7AF}"/>
              </a:ext>
            </a:extLst>
          </p:cNvPr>
          <p:cNvSpPr>
            <a:spLocks noGrp="1"/>
          </p:cNvSpPr>
          <p:nvPr/>
        </p:nvSpPr>
        <p:spPr>
          <a:xfrm>
            <a:off x="333375" y="43624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E95878"/>
                </a:solidFill>
                <a:latin typeface="DM Sans"/>
                <a:ea typeface="DM Sans"/>
                <a:cs typeface="DM Sans"/>
              </a:defRPr>
            </a:pPr>
            <a:r>
              <a:rPr sz="1125" b="1">
                <a:solidFill>
                  <a:srgbClr val="E95878"/>
                </a:solidFill>
                <a:latin typeface="DM Sans"/>
                <a:ea typeface="DM Sans"/>
                <a:cs typeface="DM Sans"/>
              </a:rPr>
              <a:t>Small resilient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09DA83E6-2610-4374-865E-D4FC906348A6}"/>
              </a:ext>
            </a:extLst>
          </p:cNvPr>
          <p:cNvSpPr>
            <a:spLocks noGrp="1"/>
          </p:cNvSpPr>
          <p:nvPr/>
        </p:nvSpPr>
        <p:spPr>
          <a:xfrm>
            <a:off x="333375" y="4629150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38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8 sellers  •  3%  •  81 orders/wk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0CBFC4D9-41E1-4BAA-B16C-1A579B5C2BAF}"/>
              </a:ext>
            </a:extLst>
          </p:cNvPr>
          <p:cNvSpPr>
            <a:spLocks noGrp="1"/>
          </p:cNvSpPr>
          <p:nvPr/>
        </p:nvSpPr>
        <p:spPr>
          <a:xfrm>
            <a:off x="333375" y="4867275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86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50.3 mo  •  $17.15 GMV  •  3.0/8 metrics  •  4.38/5</a:t>
            </a:r>
          </a:p>
        </p:txBody>
      </p:sp>
      <p:sp>
        <p:nvSpPr>
          <p:cNvPr id="22" name="Retângulo Arredondado 21">
            <a:extLst>
              <a:ext uri="{FF2B5EF4-FFF2-40B4-BE49-F238E27FC236}">
                <a16:creationId xmlns:a16="http://schemas.microsoft.com/office/drawing/2014/main" id="{AB9DE876-7470-46D0-84AF-E3971BD54853}"/>
              </a:ext>
            </a:extLst>
          </p:cNvPr>
          <p:cNvSpPr>
            <a:spLocks noGrp="1"/>
          </p:cNvSpPr>
          <p:nvPr/>
        </p:nvSpPr>
        <p:spPr>
          <a:xfrm>
            <a:off x="4143375" y="2000250"/>
            <a:ext cx="3524250" cy="914400"/>
          </a:xfrm>
          <a:prstGeom prst="roundRect">
            <a:avLst>
              <a:gd name="adj" fmla="val 14583"/>
            </a:avLst>
          </a:prstGeom>
          <a:solidFill>
            <a:srgbClr val="FFE2DA"/>
          </a:solidFill>
          <a:ln w="11430">
            <a:solidFill>
              <a:srgbClr val="E86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AAAF144E-E03C-4AAA-A2DA-60369F4C7ADA}"/>
              </a:ext>
            </a:extLst>
          </p:cNvPr>
          <p:cNvSpPr>
            <a:spLocks noGrp="1"/>
          </p:cNvSpPr>
          <p:nvPr/>
        </p:nvSpPr>
        <p:spPr>
          <a:xfrm>
            <a:off x="4286250" y="21145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E86A4A"/>
                </a:solidFill>
                <a:latin typeface="DM Sans"/>
                <a:ea typeface="DM Sans"/>
                <a:cs typeface="DM Sans"/>
              </a:defRPr>
            </a:pPr>
            <a:r>
              <a:rPr sz="1125" b="1">
                <a:solidFill>
                  <a:srgbClr val="E86A4A"/>
                </a:solidFill>
                <a:latin typeface="DM Sans"/>
                <a:ea typeface="DM Sans"/>
                <a:cs typeface="DM Sans"/>
              </a:rPr>
              <a:t>Medium in acceleration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339E6BED-462E-4FB9-9A3D-32E35C0F38F8}"/>
              </a:ext>
            </a:extLst>
          </p:cNvPr>
          <p:cNvSpPr>
            <a:spLocks noGrp="1"/>
          </p:cNvSpPr>
          <p:nvPr/>
        </p:nvSpPr>
        <p:spPr>
          <a:xfrm>
            <a:off x="4286250" y="2381250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38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33 sellers  •  10%  •  167 orders/wk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D69AE1E3-AB54-49BE-949B-8AB3242EC6FC}"/>
              </a:ext>
            </a:extLst>
          </p:cNvPr>
          <p:cNvSpPr>
            <a:spLocks noGrp="1"/>
          </p:cNvSpPr>
          <p:nvPr/>
        </p:nvSpPr>
        <p:spPr>
          <a:xfrm>
            <a:off x="4286250" y="2619375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86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6.7 mo  •  $18.94 GMV  •  3.8/8 metrics  •  4.33/5</a:t>
            </a:r>
          </a:p>
        </p:txBody>
      </p:sp>
      <p:sp>
        <p:nvSpPr>
          <p:cNvPr id="26" name="Retângulo Arredondado 25">
            <a:extLst>
              <a:ext uri="{FF2B5EF4-FFF2-40B4-BE49-F238E27FC236}">
                <a16:creationId xmlns:a16="http://schemas.microsoft.com/office/drawing/2014/main" id="{C85CEFD4-CD35-471E-A95B-0EBBE9D6F445}"/>
              </a:ext>
            </a:extLst>
          </p:cNvPr>
          <p:cNvSpPr>
            <a:spLocks noGrp="1"/>
          </p:cNvSpPr>
          <p:nvPr/>
        </p:nvSpPr>
        <p:spPr>
          <a:xfrm>
            <a:off x="4143375" y="3124200"/>
            <a:ext cx="3524250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1430">
            <a:solidFill>
              <a:srgbClr val="E86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B5AB7DBA-67E5-42C5-A44A-02EB60107753}"/>
              </a:ext>
            </a:extLst>
          </p:cNvPr>
          <p:cNvSpPr>
            <a:spLocks noGrp="1"/>
          </p:cNvSpPr>
          <p:nvPr/>
        </p:nvSpPr>
        <p:spPr>
          <a:xfrm>
            <a:off x="4286250" y="32385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E86A4A"/>
                </a:solidFill>
                <a:latin typeface="DM Sans"/>
                <a:ea typeface="DM Sans"/>
                <a:cs typeface="DM Sans"/>
              </a:defRPr>
            </a:pPr>
            <a:r>
              <a:rPr sz="1125" b="1">
                <a:solidFill>
                  <a:srgbClr val="E86A4A"/>
                </a:solidFill>
                <a:latin typeface="DM Sans"/>
                <a:ea typeface="DM Sans"/>
                <a:cs typeface="DM Sans"/>
              </a:rPr>
              <a:t>Medium in structuring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D10B992C-336B-4666-8F19-41DCD30855A0}"/>
              </a:ext>
            </a:extLst>
          </p:cNvPr>
          <p:cNvSpPr>
            <a:spLocks noGrp="1"/>
          </p:cNvSpPr>
          <p:nvPr/>
        </p:nvSpPr>
        <p:spPr>
          <a:xfrm>
            <a:off x="4286250" y="3505200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38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44 sellers  •  14%  •  173 orders/wk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5CE7B610-E1D6-427D-90B8-96E83A878BBB}"/>
              </a:ext>
            </a:extLst>
          </p:cNvPr>
          <p:cNvSpPr>
            <a:spLocks noGrp="1"/>
          </p:cNvSpPr>
          <p:nvPr/>
        </p:nvSpPr>
        <p:spPr>
          <a:xfrm>
            <a:off x="4286250" y="3743325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86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21.4 mo  •  $18.94 GMV  •  4.2/8 metrics  •  4.32/5</a:t>
            </a:r>
          </a:p>
        </p:txBody>
      </p:sp>
      <p:sp>
        <p:nvSpPr>
          <p:cNvPr id="30" name="Retângulo Arredondado 29">
            <a:extLst>
              <a:ext uri="{FF2B5EF4-FFF2-40B4-BE49-F238E27FC236}">
                <a16:creationId xmlns:a16="http://schemas.microsoft.com/office/drawing/2014/main" id="{4DEDA4B9-75F6-479D-B5F2-8887D19D5497}"/>
              </a:ext>
            </a:extLst>
          </p:cNvPr>
          <p:cNvSpPr>
            <a:spLocks noGrp="1"/>
          </p:cNvSpPr>
          <p:nvPr/>
        </p:nvSpPr>
        <p:spPr>
          <a:xfrm>
            <a:off x="4143375" y="4248150"/>
            <a:ext cx="3524250" cy="914400"/>
          </a:xfrm>
          <a:prstGeom prst="roundRect">
            <a:avLst>
              <a:gd name="adj" fmla="val 14583"/>
            </a:avLst>
          </a:prstGeom>
          <a:solidFill>
            <a:srgbClr val="EAD9FF"/>
          </a:solidFill>
          <a:ln w="11430">
            <a:solidFill>
              <a:srgbClr val="E86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4ECE6EE4-B12E-499A-9C03-C483AAEAD23D}"/>
              </a:ext>
            </a:extLst>
          </p:cNvPr>
          <p:cNvSpPr>
            <a:spLocks noGrp="1"/>
          </p:cNvSpPr>
          <p:nvPr/>
        </p:nvSpPr>
        <p:spPr>
          <a:xfrm>
            <a:off x="4286250" y="43624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E86A4A"/>
                </a:solidFill>
                <a:latin typeface="DM Sans"/>
                <a:ea typeface="DM Sans"/>
                <a:cs typeface="DM Sans"/>
              </a:defRPr>
            </a:pPr>
            <a:r>
              <a:rPr sz="1125" b="1">
                <a:solidFill>
                  <a:srgbClr val="E86A4A"/>
                </a:solidFill>
                <a:latin typeface="DM Sans"/>
                <a:ea typeface="DM Sans"/>
                <a:cs typeface="DM Sans"/>
              </a:rPr>
              <a:t>Medium consistent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5E9FF898-006C-4646-A021-6C4F201288AB}"/>
              </a:ext>
            </a:extLst>
          </p:cNvPr>
          <p:cNvSpPr>
            <a:spLocks noGrp="1"/>
          </p:cNvSpPr>
          <p:nvPr/>
        </p:nvSpPr>
        <p:spPr>
          <a:xfrm>
            <a:off x="4286250" y="4629150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38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38 sellers  •  12%  •  170 orders/wk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9ACC700C-46D2-45A0-8080-206BDB52F45C}"/>
              </a:ext>
            </a:extLst>
          </p:cNvPr>
          <p:cNvSpPr>
            <a:spLocks noGrp="1"/>
          </p:cNvSpPr>
          <p:nvPr/>
        </p:nvSpPr>
        <p:spPr>
          <a:xfrm>
            <a:off x="4286250" y="4867275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86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50.4 mo  •  $18.78 GMV  •  3.9/8 metrics  •  4.26/5</a:t>
            </a:r>
          </a:p>
        </p:txBody>
      </p:sp>
      <p:sp>
        <p:nvSpPr>
          <p:cNvPr id="34" name="Retângulo Arredondado 33">
            <a:extLst>
              <a:ext uri="{FF2B5EF4-FFF2-40B4-BE49-F238E27FC236}">
                <a16:creationId xmlns:a16="http://schemas.microsoft.com/office/drawing/2014/main" id="{8C2C2A3E-DAF5-4656-B972-EE0022EC90D2}"/>
              </a:ext>
            </a:extLst>
          </p:cNvPr>
          <p:cNvSpPr>
            <a:spLocks noGrp="1"/>
          </p:cNvSpPr>
          <p:nvPr/>
        </p:nvSpPr>
        <p:spPr>
          <a:xfrm>
            <a:off x="8096250" y="2000250"/>
            <a:ext cx="3524250" cy="914400"/>
          </a:xfrm>
          <a:prstGeom prst="roundRect">
            <a:avLst>
              <a:gd name="adj" fmla="val 14583"/>
            </a:avLst>
          </a:prstGeom>
          <a:solidFill>
            <a:srgbClr val="E5E8FF"/>
          </a:solidFill>
          <a:ln w="11430">
            <a:solidFill>
              <a:srgbClr val="5E6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5F6D3F25-427E-4789-B3F4-1CE10590C07A}"/>
              </a:ext>
            </a:extLst>
          </p:cNvPr>
          <p:cNvSpPr>
            <a:spLocks noGrp="1"/>
          </p:cNvSpPr>
          <p:nvPr/>
        </p:nvSpPr>
        <p:spPr>
          <a:xfrm>
            <a:off x="8239125" y="21145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E6BE8"/>
                </a:solidFill>
                <a:latin typeface="DM Sans"/>
                <a:ea typeface="DM Sans"/>
                <a:cs typeface="DM Sans"/>
              </a:defRPr>
            </a:pPr>
            <a:r>
              <a:rPr sz="1125" b="1">
                <a:solidFill>
                  <a:srgbClr val="5E6BE8"/>
                </a:solidFill>
                <a:latin typeface="DM Sans"/>
                <a:ea typeface="DM Sans"/>
                <a:cs typeface="DM Sans"/>
              </a:rPr>
              <a:t>Large in discovery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5E46AD59-E326-462D-86E1-A3B98E78DB15}"/>
              </a:ext>
            </a:extLst>
          </p:cNvPr>
          <p:cNvSpPr>
            <a:spLocks noGrp="1"/>
          </p:cNvSpPr>
          <p:nvPr/>
        </p:nvSpPr>
        <p:spPr>
          <a:xfrm>
            <a:off x="8239125" y="2381250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38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17 sellers  •  5%  •  425 orders/wk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35A20A0D-9BE8-402B-A0A4-A918E12FDE3D}"/>
              </a:ext>
            </a:extLst>
          </p:cNvPr>
          <p:cNvSpPr>
            <a:spLocks noGrp="1"/>
          </p:cNvSpPr>
          <p:nvPr/>
        </p:nvSpPr>
        <p:spPr>
          <a:xfrm>
            <a:off x="8239125" y="2619375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86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8.0 mo  •  $22.90 GMV  •  3.7/8 metrics  •  4.76/5</a:t>
            </a:r>
          </a:p>
        </p:txBody>
      </p:sp>
      <p:sp>
        <p:nvSpPr>
          <p:cNvPr id="38" name="Retângulo Arredondado 37">
            <a:extLst>
              <a:ext uri="{FF2B5EF4-FFF2-40B4-BE49-F238E27FC236}">
                <a16:creationId xmlns:a16="http://schemas.microsoft.com/office/drawing/2014/main" id="{81AFA502-BCE0-4363-ABAF-E237C09E8443}"/>
              </a:ext>
            </a:extLst>
          </p:cNvPr>
          <p:cNvSpPr>
            <a:spLocks noGrp="1"/>
          </p:cNvSpPr>
          <p:nvPr/>
        </p:nvSpPr>
        <p:spPr>
          <a:xfrm>
            <a:off x="8096250" y="3124200"/>
            <a:ext cx="3524250" cy="9144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1430">
            <a:solidFill>
              <a:srgbClr val="5E6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9835A49F-10AD-49D7-9B38-B0CC9C2562DC}"/>
              </a:ext>
            </a:extLst>
          </p:cNvPr>
          <p:cNvSpPr>
            <a:spLocks noGrp="1"/>
          </p:cNvSpPr>
          <p:nvPr/>
        </p:nvSpPr>
        <p:spPr>
          <a:xfrm>
            <a:off x="8239125" y="32385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E6BE8"/>
                </a:solidFill>
                <a:latin typeface="DM Sans"/>
                <a:ea typeface="DM Sans"/>
                <a:cs typeface="DM Sans"/>
              </a:defRPr>
            </a:pPr>
            <a:r>
              <a:rPr sz="1125" b="1">
                <a:solidFill>
                  <a:srgbClr val="5E6BE8"/>
                </a:solidFill>
                <a:latin typeface="DM Sans"/>
                <a:ea typeface="DM Sans"/>
                <a:cs typeface="DM Sans"/>
              </a:rPr>
              <a:t>Large professionalizing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178CF8FA-BC62-4658-A82A-63C7798AD28B}"/>
              </a:ext>
            </a:extLst>
          </p:cNvPr>
          <p:cNvSpPr>
            <a:spLocks noGrp="1"/>
          </p:cNvSpPr>
          <p:nvPr/>
        </p:nvSpPr>
        <p:spPr>
          <a:xfrm>
            <a:off x="8239125" y="3505200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38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30 sellers  •  9%  •  358 orders/wk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AB007BA9-7811-4D8E-B927-5A7C1D889C1C}"/>
              </a:ext>
            </a:extLst>
          </p:cNvPr>
          <p:cNvSpPr>
            <a:spLocks noGrp="1"/>
          </p:cNvSpPr>
          <p:nvPr/>
        </p:nvSpPr>
        <p:spPr>
          <a:xfrm>
            <a:off x="8239125" y="3743325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86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23.1 mo  •  $20.37 GMV  •  4.1/8 metrics  •  4.67/5</a:t>
            </a:r>
          </a:p>
        </p:txBody>
      </p:sp>
      <p:sp>
        <p:nvSpPr>
          <p:cNvPr id="42" name="Retângulo Arredondado 41">
            <a:extLst>
              <a:ext uri="{FF2B5EF4-FFF2-40B4-BE49-F238E27FC236}">
                <a16:creationId xmlns:a16="http://schemas.microsoft.com/office/drawing/2014/main" id="{D3164B04-B5BF-4201-8F1D-C7C9F0C01A13}"/>
              </a:ext>
            </a:extLst>
          </p:cNvPr>
          <p:cNvSpPr>
            <a:spLocks noGrp="1"/>
          </p:cNvSpPr>
          <p:nvPr/>
        </p:nvSpPr>
        <p:spPr>
          <a:xfrm>
            <a:off x="8096250" y="4248150"/>
            <a:ext cx="3524250" cy="914400"/>
          </a:xfrm>
          <a:prstGeom prst="roundRect">
            <a:avLst>
              <a:gd name="adj" fmla="val 14583"/>
            </a:avLst>
          </a:prstGeom>
          <a:solidFill>
            <a:srgbClr val="EAD9FF"/>
          </a:solidFill>
          <a:ln w="11430">
            <a:solidFill>
              <a:srgbClr val="5E6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F768FA86-2F72-45EB-8E7E-7C8DD7635E13}"/>
              </a:ext>
            </a:extLst>
          </p:cNvPr>
          <p:cNvSpPr>
            <a:spLocks noGrp="1"/>
          </p:cNvSpPr>
          <p:nvPr/>
        </p:nvSpPr>
        <p:spPr>
          <a:xfrm>
            <a:off x="8239125" y="43624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E6BE8"/>
                </a:solidFill>
                <a:latin typeface="DM Sans"/>
                <a:ea typeface="DM Sans"/>
                <a:cs typeface="DM Sans"/>
              </a:defRPr>
            </a:pPr>
            <a:r>
              <a:rPr sz="1125" b="1">
                <a:solidFill>
                  <a:srgbClr val="5E6BE8"/>
                </a:solidFill>
                <a:latin typeface="DM Sans"/>
                <a:ea typeface="DM Sans"/>
                <a:cs typeface="DM Sans"/>
              </a:rPr>
              <a:t>Large anchor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128D5A31-4EDC-454E-B2E9-A79298CBD69D}"/>
              </a:ext>
            </a:extLst>
          </p:cNvPr>
          <p:cNvSpPr>
            <a:spLocks noGrp="1"/>
          </p:cNvSpPr>
          <p:nvPr/>
        </p:nvSpPr>
        <p:spPr>
          <a:xfrm>
            <a:off x="8239125" y="4629150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38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49 sellers  •  15%  •  459 orders/wk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64C4CC11-07CD-4A35-88AE-1F1BD9BEA901}"/>
              </a:ext>
            </a:extLst>
          </p:cNvPr>
          <p:cNvSpPr>
            <a:spLocks noGrp="1"/>
          </p:cNvSpPr>
          <p:nvPr/>
        </p:nvSpPr>
        <p:spPr>
          <a:xfrm>
            <a:off x="8239125" y="4867275"/>
            <a:ext cx="3238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6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86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53.6 mo  •  $20.59 GMV  •  5.0/8 metrics  •  4.59/5</a:t>
            </a:r>
          </a:p>
        </p:txBody>
      </p:sp>
      <p:sp>
        <p:nvSpPr>
          <p:cNvPr id="46" name="Retângulo Arredondado 45">
            <a:extLst>
              <a:ext uri="{FF2B5EF4-FFF2-40B4-BE49-F238E27FC236}">
                <a16:creationId xmlns:a16="http://schemas.microsoft.com/office/drawing/2014/main" id="{0F0167FC-7881-428D-8ABE-A28FC00B8A37}"/>
              </a:ext>
            </a:extLst>
          </p:cNvPr>
          <p:cNvSpPr>
            <a:spLocks noGrp="1"/>
          </p:cNvSpPr>
          <p:nvPr/>
        </p:nvSpPr>
        <p:spPr>
          <a:xfrm>
            <a:off x="190500" y="5676900"/>
            <a:ext cx="11811000" cy="371475"/>
          </a:xfrm>
          <a:prstGeom prst="roundRect">
            <a:avLst>
              <a:gd name="adj" fmla="val 30769"/>
            </a:avLst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DACF9CD2-FDA8-47D4-9773-7A07ADC020B2}"/>
              </a:ext>
            </a:extLst>
          </p:cNvPr>
          <p:cNvSpPr>
            <a:spLocks noGrp="1"/>
          </p:cNvSpPr>
          <p:nvPr/>
        </p:nvSpPr>
        <p:spPr>
          <a:xfrm>
            <a:off x="361950" y="5762625"/>
            <a:ext cx="1143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How to use it → Size tells us the operating load. Time on TaDa tells us the likely maturity need. Neither dimension is a quality score.</a:t>
            </a:r>
          </a:p>
        </p:txBody>
      </p:sp>
      <p:sp>
        <p:nvSpPr>
          <p:cNvPr id="48" name="Conector Reto 47">
            <a:extLst>
              <a:ext uri="{FF2B5EF4-FFF2-40B4-BE49-F238E27FC236}">
                <a16:creationId xmlns:a16="http://schemas.microsoft.com/office/drawing/2014/main" id="{20FF9AF8-1C2A-4407-A11F-4E298DD37EAF}"/>
              </a:ext>
            </a:extLst>
          </p:cNvPr>
          <p:cNvSpPr>
            <a:spLocks noGrp="1"/>
          </p:cNvSpPr>
          <p:nvPr/>
        </p:nvSpPr>
        <p:spPr>
          <a:xfrm>
            <a:off x="190500" y="6200775"/>
            <a:ext cx="11811000" cy="0"/>
          </a:xfrm>
          <a:prstGeom prst="line">
            <a:avLst/>
          </a:prstGeom>
          <a:ln w="9525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DC0D8210-5F8C-4768-9D68-462EF1E81CA4}"/>
              </a:ext>
            </a:extLst>
          </p:cNvPr>
          <p:cNvSpPr>
            <a:spLocks noGrp="1"/>
          </p:cNvSpPr>
          <p:nvPr/>
        </p:nvSpPr>
        <p:spPr>
          <a:xfrm>
            <a:off x="190500" y="633412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Ta-Da</a:t>
            </a:r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711354AB-6035-40A1-BA0C-2C645A4D0884}"/>
              </a:ext>
            </a:extLst>
          </p:cNvPr>
          <p:cNvSpPr>
            <a:spLocks noGrp="1"/>
          </p:cNvSpPr>
          <p:nvPr/>
        </p:nvSpPr>
        <p:spPr>
          <a:xfrm>
            <a:off x="5810250" y="633412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08</a:t>
            </a:r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989EDEA2-E14C-437E-9F44-EEF15EE8E082}"/>
              </a:ext>
            </a:extLst>
          </p:cNvPr>
          <p:cNvSpPr>
            <a:spLocks noGrp="1"/>
          </p:cNvSpPr>
          <p:nvPr/>
        </p:nvSpPr>
        <p:spPr>
          <a:xfrm>
            <a:off x="7953375" y="63341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Seller Firmographics</a:t>
            </a:r>
          </a:p>
        </p:txBody>
      </p:sp>
    </p:spTree>
    <p:extLst>
      <p:ext uri="{BB962C8B-B14F-4D97-AF65-F5344CB8AC3E}">
        <p14:creationId xmlns:p14="http://schemas.microsoft.com/office/powerpoint/2010/main" val="88132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tângulo 42">
            <a:extLst>
              <a:ext uri="{FF2B5EF4-FFF2-40B4-BE49-F238E27FC236}">
                <a16:creationId xmlns:a16="http://schemas.microsoft.com/office/drawing/2014/main" id="{4EFC6336-A66B-4228-B58A-EFB734DA4FC6}"/>
              </a:ext>
            </a:extLst>
          </p:cNvPr>
          <p:cNvSpPr>
            <a:spLocks noGrp="1"/>
          </p:cNvSpPr>
          <p:nvPr/>
        </p:nvSpPr>
        <p:spPr>
          <a:xfrm>
            <a:off x="190500" y="228600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09 / SMALL PROFILES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D3E9F55-72CC-4C73-9740-ACBDDF003C0D}"/>
              </a:ext>
            </a:extLst>
          </p:cNvPr>
          <p:cNvSpPr>
            <a:spLocks noGrp="1"/>
          </p:cNvSpPr>
          <p:nvPr/>
        </p:nvSpPr>
        <p:spPr>
          <a:xfrm>
            <a:off x="190500" y="533400"/>
            <a:ext cx="1143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Small sellers need confidence before complexity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2778C1D-1A22-4CBE-A7AA-B3EE6CEEF36E}"/>
              </a:ext>
            </a:extLst>
          </p:cNvPr>
          <p:cNvSpPr>
            <a:spLocks noGrp="1"/>
          </p:cNvSpPr>
          <p:nvPr/>
        </p:nvSpPr>
        <p:spPr>
          <a:xfrm>
            <a:off x="190500" y="1219200"/>
            <a:ext cx="1123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16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The Small band is 111 sellers. Discovery is the largest single cell and the clearest enablement priority.</a:t>
            </a:r>
          </a:p>
        </p:txBody>
      </p:sp>
      <p:sp>
        <p:nvSpPr>
          <p:cNvPr id="4" name="Retângulo Arredondado 3">
            <a:extLst>
              <a:ext uri="{FF2B5EF4-FFF2-40B4-BE49-F238E27FC236}">
                <a16:creationId xmlns:a16="http://schemas.microsoft.com/office/drawing/2014/main" id="{F67223A7-60C1-42BB-B269-8F4D51BC0F60}"/>
              </a:ext>
            </a:extLst>
          </p:cNvPr>
          <p:cNvSpPr>
            <a:spLocks noGrp="1"/>
          </p:cNvSpPr>
          <p:nvPr/>
        </p:nvSpPr>
        <p:spPr>
          <a:xfrm>
            <a:off x="190500" y="1771650"/>
            <a:ext cx="3571875" cy="3333750"/>
          </a:xfrm>
          <a:prstGeom prst="roundRect">
            <a:avLst>
              <a:gd name="adj" fmla="val 4571"/>
            </a:avLst>
          </a:prstGeom>
          <a:solidFill>
            <a:srgbClr val="FFE0E9"/>
          </a:solidFill>
          <a:ln w="13335">
            <a:solidFill>
              <a:srgbClr val="E958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EF82D22-3C33-4A41-B2F2-4FC1A063BA2B}"/>
              </a:ext>
            </a:extLst>
          </p:cNvPr>
          <p:cNvSpPr>
            <a:spLocks noGrp="1"/>
          </p:cNvSpPr>
          <p:nvPr/>
        </p:nvSpPr>
        <p:spPr>
          <a:xfrm>
            <a:off x="361950" y="1952625"/>
            <a:ext cx="323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E95878"/>
                </a:solidFill>
                <a:latin typeface="DM Sans"/>
                <a:ea typeface="DM Sans"/>
                <a:cs typeface="DM Sans"/>
              </a:defRPr>
            </a:pPr>
            <a:r>
              <a:rPr sz="1425" b="1">
                <a:solidFill>
                  <a:srgbClr val="E95878"/>
                </a:solidFill>
                <a:latin typeface="DM Sans"/>
                <a:ea typeface="DM Sans"/>
                <a:cs typeface="DM Sans"/>
              </a:rPr>
              <a:t>Small in discovery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CB652A2-1F4D-4D81-BEE4-3AB3FD999D38}"/>
              </a:ext>
            </a:extLst>
          </p:cNvPr>
          <p:cNvSpPr>
            <a:spLocks noGrp="1"/>
          </p:cNvSpPr>
          <p:nvPr/>
        </p:nvSpPr>
        <p:spPr>
          <a:xfrm>
            <a:off x="361950" y="2276475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93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85 sellers  •  26% of matched base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F181A0D-A5C5-40CE-95DB-E1E8CF9926FA}"/>
              </a:ext>
            </a:extLst>
          </p:cNvPr>
          <p:cNvSpPr>
            <a:spLocks noGrp="1"/>
          </p:cNvSpPr>
          <p:nvPr/>
        </p:nvSpPr>
        <p:spPr>
          <a:xfrm>
            <a:off x="361950" y="2667000"/>
            <a:ext cx="3238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THINKS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170B9FE-9724-4397-9A8B-71AFFE351AEA}"/>
              </a:ext>
            </a:extLst>
          </p:cNvPr>
          <p:cNvSpPr>
            <a:spLocks noGrp="1"/>
          </p:cNvSpPr>
          <p:nvPr/>
        </p:nvSpPr>
        <p:spPr>
          <a:xfrm>
            <a:off x="361950" y="280987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7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87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TaDa is an opportunity, but the operation still feels fragile.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FB1DD2C-8AAE-48F3-AB1A-25EB37FA8D35}"/>
              </a:ext>
            </a:extLst>
          </p:cNvPr>
          <p:cNvSpPr>
            <a:spLocks noGrp="1"/>
          </p:cNvSpPr>
          <p:nvPr/>
        </p:nvSpPr>
        <p:spPr>
          <a:xfrm>
            <a:off x="361950" y="3219450"/>
            <a:ext cx="3238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ACTS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DB22DBD-B006-474B-A291-984AC532C48B}"/>
              </a:ext>
            </a:extLst>
          </p:cNvPr>
          <p:cNvSpPr>
            <a:spLocks noGrp="1"/>
          </p:cNvSpPr>
          <p:nvPr/>
        </p:nvSpPr>
        <p:spPr>
          <a:xfrm>
            <a:off x="361950" y="336232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7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87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48 orders/wk, 5.3 months; mostly manual and employee-led.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38F2BB5-A798-4775-9EA1-4424BA48CC8F}"/>
              </a:ext>
            </a:extLst>
          </p:cNvPr>
          <p:cNvSpPr>
            <a:spLocks noGrp="1"/>
          </p:cNvSpPr>
          <p:nvPr/>
        </p:nvSpPr>
        <p:spPr>
          <a:xfrm>
            <a:off x="361950" y="3771900"/>
            <a:ext cx="3238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KNOWS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8AA069D-7E4D-4210-AD98-6CA88C8FE8A3}"/>
              </a:ext>
            </a:extLst>
          </p:cNvPr>
          <p:cNvSpPr>
            <a:spLocks noGrp="1"/>
          </p:cNvSpPr>
          <p:nvPr/>
        </p:nvSpPr>
        <p:spPr>
          <a:xfrm>
            <a:off x="361950" y="391477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7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87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2.9/8 metrics; 3.86/5 satisfaction; 74% review daily.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3CE077FA-C081-4A2E-A610-529EC363B8B2}"/>
              </a:ext>
            </a:extLst>
          </p:cNvPr>
          <p:cNvSpPr>
            <a:spLocks noGrp="1"/>
          </p:cNvSpPr>
          <p:nvPr/>
        </p:nvSpPr>
        <p:spPr>
          <a:xfrm>
            <a:off x="361950" y="4324350"/>
            <a:ext cx="3238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WANTS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D9E8166-8BFE-4098-BC95-2F48FC7F2A67}"/>
              </a:ext>
            </a:extLst>
          </p:cNvPr>
          <p:cNvSpPr>
            <a:spLocks noGrp="1"/>
          </p:cNvSpPr>
          <p:nvPr/>
        </p:nvSpPr>
        <p:spPr>
          <a:xfrm>
            <a:off x="361950" y="446722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7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87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A repeatable first routine, more demand and less delivery friction.</a:t>
            </a:r>
          </a:p>
        </p:txBody>
      </p:sp>
      <p:sp>
        <p:nvSpPr>
          <p:cNvPr id="15" name="Retângulo Arredondado 14">
            <a:extLst>
              <a:ext uri="{FF2B5EF4-FFF2-40B4-BE49-F238E27FC236}">
                <a16:creationId xmlns:a16="http://schemas.microsoft.com/office/drawing/2014/main" id="{6B6C9421-ED0C-4C52-AD3C-9F8EC7A13414}"/>
              </a:ext>
            </a:extLst>
          </p:cNvPr>
          <p:cNvSpPr>
            <a:spLocks noGrp="1"/>
          </p:cNvSpPr>
          <p:nvPr/>
        </p:nvSpPr>
        <p:spPr>
          <a:xfrm>
            <a:off x="4048125" y="1771650"/>
            <a:ext cx="3571875" cy="333375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3335">
            <a:solidFill>
              <a:srgbClr val="E958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C908879-36F6-447B-8365-2E2E15B39292}"/>
              </a:ext>
            </a:extLst>
          </p:cNvPr>
          <p:cNvSpPr>
            <a:spLocks noGrp="1"/>
          </p:cNvSpPr>
          <p:nvPr/>
        </p:nvSpPr>
        <p:spPr>
          <a:xfrm>
            <a:off x="4219575" y="1952625"/>
            <a:ext cx="323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E95878"/>
                </a:solidFill>
                <a:latin typeface="DM Sans"/>
                <a:ea typeface="DM Sans"/>
                <a:cs typeface="DM Sans"/>
              </a:defRPr>
            </a:pPr>
            <a:r>
              <a:rPr sz="1425" b="1">
                <a:solidFill>
                  <a:srgbClr val="E95878"/>
                </a:solidFill>
                <a:latin typeface="DM Sans"/>
                <a:ea typeface="DM Sans"/>
                <a:cs typeface="DM Sans"/>
              </a:rPr>
              <a:t>Small consolidator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321F583-7AE9-4619-A109-978C5BA211B3}"/>
              </a:ext>
            </a:extLst>
          </p:cNvPr>
          <p:cNvSpPr>
            <a:spLocks noGrp="1"/>
          </p:cNvSpPr>
          <p:nvPr/>
        </p:nvSpPr>
        <p:spPr>
          <a:xfrm>
            <a:off x="4219575" y="2276475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93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18 sellers  •  6% of matched base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A4B524ED-5E2B-44BE-8FA5-A1D1ED42ED4A}"/>
              </a:ext>
            </a:extLst>
          </p:cNvPr>
          <p:cNvSpPr>
            <a:spLocks noGrp="1"/>
          </p:cNvSpPr>
          <p:nvPr/>
        </p:nvSpPr>
        <p:spPr>
          <a:xfrm>
            <a:off x="4219575" y="2667000"/>
            <a:ext cx="3238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THINKS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13E5F2BA-FE92-442B-BF71-4BBB8D95666D}"/>
              </a:ext>
            </a:extLst>
          </p:cNvPr>
          <p:cNvSpPr>
            <a:spLocks noGrp="1"/>
          </p:cNvSpPr>
          <p:nvPr/>
        </p:nvSpPr>
        <p:spPr>
          <a:xfrm>
            <a:off x="4219575" y="280987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7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87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The basics work; consistency is the constraint.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62BA593-02F9-4375-91FD-E638A4B577E3}"/>
              </a:ext>
            </a:extLst>
          </p:cNvPr>
          <p:cNvSpPr>
            <a:spLocks noGrp="1"/>
          </p:cNvSpPr>
          <p:nvPr/>
        </p:nvSpPr>
        <p:spPr>
          <a:xfrm>
            <a:off x="4219575" y="3219450"/>
            <a:ext cx="3238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ACTS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255749FE-E576-465F-9FBF-8122EEC1E294}"/>
              </a:ext>
            </a:extLst>
          </p:cNvPr>
          <p:cNvSpPr>
            <a:spLocks noGrp="1"/>
          </p:cNvSpPr>
          <p:nvPr/>
        </p:nvSpPr>
        <p:spPr>
          <a:xfrm>
            <a:off x="4219575" y="336232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7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87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63 orders/wk, 18.4 months; still close to the frontline.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B97A536D-19A1-4E13-A401-2BAA84303D24}"/>
              </a:ext>
            </a:extLst>
          </p:cNvPr>
          <p:cNvSpPr>
            <a:spLocks noGrp="1"/>
          </p:cNvSpPr>
          <p:nvPr/>
        </p:nvSpPr>
        <p:spPr>
          <a:xfrm>
            <a:off x="4219575" y="3771900"/>
            <a:ext cx="3238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KNOWS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F39BF36C-8899-46C4-BFA6-B2C9D51A7D95}"/>
              </a:ext>
            </a:extLst>
          </p:cNvPr>
          <p:cNvSpPr>
            <a:spLocks noGrp="1"/>
          </p:cNvSpPr>
          <p:nvPr/>
        </p:nvSpPr>
        <p:spPr>
          <a:xfrm>
            <a:off x="4219575" y="391477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7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87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4.3/8 metrics, but only 72% review daily.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54CE44CD-5086-435A-BDE5-F342A760951A}"/>
              </a:ext>
            </a:extLst>
          </p:cNvPr>
          <p:cNvSpPr>
            <a:spLocks noGrp="1"/>
          </p:cNvSpPr>
          <p:nvPr/>
        </p:nvSpPr>
        <p:spPr>
          <a:xfrm>
            <a:off x="4219575" y="4324350"/>
            <a:ext cx="3238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WANTS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256A2B7D-BCF7-4614-BEB7-3E67D575F044}"/>
              </a:ext>
            </a:extLst>
          </p:cNvPr>
          <p:cNvSpPr>
            <a:spLocks noGrp="1"/>
          </p:cNvSpPr>
          <p:nvPr/>
        </p:nvSpPr>
        <p:spPr>
          <a:xfrm>
            <a:off x="4219575" y="446722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7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87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Protect service and turn activity into stable growth.</a:t>
            </a:r>
          </a:p>
        </p:txBody>
      </p:sp>
      <p:sp>
        <p:nvSpPr>
          <p:cNvPr id="26" name="Retângulo Arredondado 25">
            <a:extLst>
              <a:ext uri="{FF2B5EF4-FFF2-40B4-BE49-F238E27FC236}">
                <a16:creationId xmlns:a16="http://schemas.microsoft.com/office/drawing/2014/main" id="{1FACDF10-ABCB-495B-AE70-543D99089210}"/>
              </a:ext>
            </a:extLst>
          </p:cNvPr>
          <p:cNvSpPr>
            <a:spLocks noGrp="1"/>
          </p:cNvSpPr>
          <p:nvPr/>
        </p:nvSpPr>
        <p:spPr>
          <a:xfrm>
            <a:off x="7905750" y="1771650"/>
            <a:ext cx="3571875" cy="3333750"/>
          </a:xfrm>
          <a:prstGeom prst="roundRect">
            <a:avLst>
              <a:gd name="adj" fmla="val 4571"/>
            </a:avLst>
          </a:prstGeom>
          <a:solidFill>
            <a:srgbClr val="FFE0E9"/>
          </a:solidFill>
          <a:ln w="13335">
            <a:solidFill>
              <a:srgbClr val="E958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05A43E3F-5BD7-4E6E-94E9-FE3260DE850D}"/>
              </a:ext>
            </a:extLst>
          </p:cNvPr>
          <p:cNvSpPr>
            <a:spLocks noGrp="1"/>
          </p:cNvSpPr>
          <p:nvPr/>
        </p:nvSpPr>
        <p:spPr>
          <a:xfrm>
            <a:off x="8077200" y="1952625"/>
            <a:ext cx="323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E95878"/>
                </a:solidFill>
                <a:latin typeface="DM Sans"/>
                <a:ea typeface="DM Sans"/>
                <a:cs typeface="DM Sans"/>
              </a:defRPr>
            </a:pPr>
            <a:r>
              <a:rPr sz="1425" b="1">
                <a:solidFill>
                  <a:srgbClr val="E95878"/>
                </a:solidFill>
                <a:latin typeface="DM Sans"/>
                <a:ea typeface="DM Sans"/>
                <a:cs typeface="DM Sans"/>
              </a:rPr>
              <a:t>Small resilient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D17AC317-9A21-418C-BBE7-8983DFE3DB57}"/>
              </a:ext>
            </a:extLst>
          </p:cNvPr>
          <p:cNvSpPr>
            <a:spLocks noGrp="1"/>
          </p:cNvSpPr>
          <p:nvPr/>
        </p:nvSpPr>
        <p:spPr>
          <a:xfrm>
            <a:off x="8077200" y="2276475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93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8 sellers  •  3% of matched base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49D9EFFC-8942-407E-A3C8-01D501068AF0}"/>
              </a:ext>
            </a:extLst>
          </p:cNvPr>
          <p:cNvSpPr>
            <a:spLocks noGrp="1"/>
          </p:cNvSpPr>
          <p:nvPr/>
        </p:nvSpPr>
        <p:spPr>
          <a:xfrm>
            <a:off x="8077200" y="2667000"/>
            <a:ext cx="3238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THINKS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F09DFEEF-A630-47B7-B689-99437425D43F}"/>
              </a:ext>
            </a:extLst>
          </p:cNvPr>
          <p:cNvSpPr>
            <a:spLocks noGrp="1"/>
          </p:cNvSpPr>
          <p:nvPr/>
        </p:nvSpPr>
        <p:spPr>
          <a:xfrm>
            <a:off x="8077200" y="280987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7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87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TaDa is a mature part of the business.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18DF239A-18BC-445E-9492-0818FC044F52}"/>
              </a:ext>
            </a:extLst>
          </p:cNvPr>
          <p:cNvSpPr>
            <a:spLocks noGrp="1"/>
          </p:cNvSpPr>
          <p:nvPr/>
        </p:nvSpPr>
        <p:spPr>
          <a:xfrm>
            <a:off x="8077200" y="3219450"/>
            <a:ext cx="3238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ACTS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24FFFB6B-0BED-49F7-8A3A-D101EB17407B}"/>
              </a:ext>
            </a:extLst>
          </p:cNvPr>
          <p:cNvSpPr>
            <a:spLocks noGrp="1"/>
          </p:cNvSpPr>
          <p:nvPr/>
        </p:nvSpPr>
        <p:spPr>
          <a:xfrm>
            <a:off x="8077200" y="336232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7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87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81 orders/wk, 50.3 months; low scale, long operating memory.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E4F7D7F2-8C36-4591-A579-56C966DE5545}"/>
              </a:ext>
            </a:extLst>
          </p:cNvPr>
          <p:cNvSpPr>
            <a:spLocks noGrp="1"/>
          </p:cNvSpPr>
          <p:nvPr/>
        </p:nvSpPr>
        <p:spPr>
          <a:xfrm>
            <a:off x="8077200" y="3771900"/>
            <a:ext cx="3238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KNOWS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A925E330-392C-4CD4-976A-55410FEEF412}"/>
              </a:ext>
            </a:extLst>
          </p:cNvPr>
          <p:cNvSpPr>
            <a:spLocks noGrp="1"/>
          </p:cNvSpPr>
          <p:nvPr/>
        </p:nvSpPr>
        <p:spPr>
          <a:xfrm>
            <a:off x="8077200" y="391477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7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87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3.0/8 metrics; 4.38/5 satisfaction.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003AE6F4-0EA9-4FD9-B137-C9B3FC367A3A}"/>
              </a:ext>
            </a:extLst>
          </p:cNvPr>
          <p:cNvSpPr>
            <a:spLocks noGrp="1"/>
          </p:cNvSpPr>
          <p:nvPr/>
        </p:nvSpPr>
        <p:spPr>
          <a:xfrm>
            <a:off x="8077200" y="4324350"/>
            <a:ext cx="3238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WANTS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6BCB670F-4518-4009-81B7-CF919A47DADF}"/>
              </a:ext>
            </a:extLst>
          </p:cNvPr>
          <p:cNvSpPr>
            <a:spLocks noGrp="1"/>
          </p:cNvSpPr>
          <p:nvPr/>
        </p:nvSpPr>
        <p:spPr>
          <a:xfrm>
            <a:off x="8077200" y="446722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7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87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Keep reliability while expanding selectively.</a:t>
            </a:r>
          </a:p>
        </p:txBody>
      </p:sp>
      <p:sp>
        <p:nvSpPr>
          <p:cNvPr id="37" name="Retângulo Arredondado 36">
            <a:extLst>
              <a:ext uri="{FF2B5EF4-FFF2-40B4-BE49-F238E27FC236}">
                <a16:creationId xmlns:a16="http://schemas.microsoft.com/office/drawing/2014/main" id="{2383FB1E-7D9C-424C-A25D-E68477AB07ED}"/>
              </a:ext>
            </a:extLst>
          </p:cNvPr>
          <p:cNvSpPr>
            <a:spLocks noGrp="1"/>
          </p:cNvSpPr>
          <p:nvPr/>
        </p:nvSpPr>
        <p:spPr>
          <a:xfrm>
            <a:off x="190500" y="5676900"/>
            <a:ext cx="11811000" cy="371475"/>
          </a:xfrm>
          <a:prstGeom prst="roundRect">
            <a:avLst>
              <a:gd name="adj" fmla="val 30769"/>
            </a:avLst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29CF71FC-C9AD-4402-AAAA-951E03CF04D3}"/>
              </a:ext>
            </a:extLst>
          </p:cNvPr>
          <p:cNvSpPr>
            <a:spLocks noGrp="1"/>
          </p:cNvSpPr>
          <p:nvPr/>
        </p:nvSpPr>
        <p:spPr>
          <a:xfrm>
            <a:off x="361950" y="5762625"/>
            <a:ext cx="1143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Play → Minimum viable operating system: clear ownership at order intake, plain-language metric cards and first-repeat-order coaching.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1289B081-8EAC-404F-BFA9-1E662D08E80D}"/>
              </a:ext>
            </a:extLst>
          </p:cNvPr>
          <p:cNvSpPr>
            <a:spLocks noGrp="1"/>
          </p:cNvSpPr>
          <p:nvPr/>
        </p:nvSpPr>
        <p:spPr>
          <a:xfrm>
            <a:off x="190500" y="6200775"/>
            <a:ext cx="11811000" cy="0"/>
          </a:xfrm>
          <a:prstGeom prst="line">
            <a:avLst/>
          </a:prstGeom>
          <a:ln w="9525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D273B37F-7226-4CC4-8E06-7CCCFE512AF6}"/>
              </a:ext>
            </a:extLst>
          </p:cNvPr>
          <p:cNvSpPr>
            <a:spLocks noGrp="1"/>
          </p:cNvSpPr>
          <p:nvPr/>
        </p:nvSpPr>
        <p:spPr>
          <a:xfrm>
            <a:off x="190500" y="633412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Ta-Da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DC91C236-4EFE-4C84-B29F-8A7F0950DFC1}"/>
              </a:ext>
            </a:extLst>
          </p:cNvPr>
          <p:cNvSpPr>
            <a:spLocks noGrp="1"/>
          </p:cNvSpPr>
          <p:nvPr/>
        </p:nvSpPr>
        <p:spPr>
          <a:xfrm>
            <a:off x="5810250" y="633412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09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2D407192-ECB3-42DB-9A57-76E39A91E9E4}"/>
              </a:ext>
            </a:extLst>
          </p:cNvPr>
          <p:cNvSpPr>
            <a:spLocks noGrp="1"/>
          </p:cNvSpPr>
          <p:nvPr/>
        </p:nvSpPr>
        <p:spPr>
          <a:xfrm>
            <a:off x="7953375" y="63341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Seller Firmographics</a:t>
            </a:r>
          </a:p>
        </p:txBody>
      </p:sp>
    </p:spTree>
    <p:extLst>
      <p:ext uri="{BB962C8B-B14F-4D97-AF65-F5344CB8AC3E}">
        <p14:creationId xmlns:p14="http://schemas.microsoft.com/office/powerpoint/2010/main" val="482316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tângulo 42">
            <a:extLst>
              <a:ext uri="{FF2B5EF4-FFF2-40B4-BE49-F238E27FC236}">
                <a16:creationId xmlns:a16="http://schemas.microsoft.com/office/drawing/2014/main" id="{4A35D3A1-B255-4CF7-A804-018B33504742}"/>
              </a:ext>
            </a:extLst>
          </p:cNvPr>
          <p:cNvSpPr>
            <a:spLocks noGrp="1"/>
          </p:cNvSpPr>
          <p:nvPr/>
        </p:nvSpPr>
        <p:spPr>
          <a:xfrm>
            <a:off x="190500" y="228600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10 / MEDIUM PROFILES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75BB3BF-E3D1-4097-B789-4699B6522735}"/>
              </a:ext>
            </a:extLst>
          </p:cNvPr>
          <p:cNvSpPr>
            <a:spLocks noGrp="1"/>
          </p:cNvSpPr>
          <p:nvPr/>
        </p:nvSpPr>
        <p:spPr>
          <a:xfrm>
            <a:off x="190500" y="533400"/>
            <a:ext cx="1143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Medium sellers are the bridge from adoption to repeatability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3E43BF0-CEE9-41D3-AEB8-41E5AD272A16}"/>
              </a:ext>
            </a:extLst>
          </p:cNvPr>
          <p:cNvSpPr>
            <a:spLocks noGrp="1"/>
          </p:cNvSpPr>
          <p:nvPr/>
        </p:nvSpPr>
        <p:spPr>
          <a:xfrm>
            <a:off x="190500" y="1219200"/>
            <a:ext cx="1123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16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The Medium band is 115 sellers. It is where process design can compound into network frequency.</a:t>
            </a:r>
          </a:p>
        </p:txBody>
      </p:sp>
      <p:sp>
        <p:nvSpPr>
          <p:cNvPr id="4" name="Retângulo Arredondado 3">
            <a:extLst>
              <a:ext uri="{FF2B5EF4-FFF2-40B4-BE49-F238E27FC236}">
                <a16:creationId xmlns:a16="http://schemas.microsoft.com/office/drawing/2014/main" id="{0A9D9606-A28B-48C4-A876-353CED179B27}"/>
              </a:ext>
            </a:extLst>
          </p:cNvPr>
          <p:cNvSpPr>
            <a:spLocks noGrp="1"/>
          </p:cNvSpPr>
          <p:nvPr/>
        </p:nvSpPr>
        <p:spPr>
          <a:xfrm>
            <a:off x="190500" y="1771650"/>
            <a:ext cx="3571875" cy="3333750"/>
          </a:xfrm>
          <a:prstGeom prst="roundRect">
            <a:avLst>
              <a:gd name="adj" fmla="val 4571"/>
            </a:avLst>
          </a:prstGeom>
          <a:solidFill>
            <a:srgbClr val="FFE2DA"/>
          </a:solidFill>
          <a:ln w="13335">
            <a:solidFill>
              <a:srgbClr val="E86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04BCE7E-3E4A-4035-891E-83B3E046CD9A}"/>
              </a:ext>
            </a:extLst>
          </p:cNvPr>
          <p:cNvSpPr>
            <a:spLocks noGrp="1"/>
          </p:cNvSpPr>
          <p:nvPr/>
        </p:nvSpPr>
        <p:spPr>
          <a:xfrm>
            <a:off x="361950" y="1952625"/>
            <a:ext cx="323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E86A4A"/>
                </a:solidFill>
                <a:latin typeface="DM Sans"/>
                <a:ea typeface="DM Sans"/>
                <a:cs typeface="DM Sans"/>
              </a:defRPr>
            </a:pPr>
            <a:r>
              <a:rPr sz="1425" b="1">
                <a:solidFill>
                  <a:srgbClr val="E86A4A"/>
                </a:solidFill>
                <a:latin typeface="DM Sans"/>
                <a:ea typeface="DM Sans"/>
                <a:cs typeface="DM Sans"/>
              </a:rPr>
              <a:t>Medium in acceleration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B70CD50-1DF1-47AE-A671-5E88CC9886DD}"/>
              </a:ext>
            </a:extLst>
          </p:cNvPr>
          <p:cNvSpPr>
            <a:spLocks noGrp="1"/>
          </p:cNvSpPr>
          <p:nvPr/>
        </p:nvSpPr>
        <p:spPr>
          <a:xfrm>
            <a:off x="361950" y="2276475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93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33 sellers  •  10% of matched base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471C1D5-EF7B-434D-99DD-3D481A6878D6}"/>
              </a:ext>
            </a:extLst>
          </p:cNvPr>
          <p:cNvSpPr>
            <a:spLocks noGrp="1"/>
          </p:cNvSpPr>
          <p:nvPr/>
        </p:nvSpPr>
        <p:spPr>
          <a:xfrm>
            <a:off x="361950" y="2667000"/>
            <a:ext cx="3238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THINKS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33AA139-B4BC-4A51-B4C7-3AD847AF421B}"/>
              </a:ext>
            </a:extLst>
          </p:cNvPr>
          <p:cNvSpPr>
            <a:spLocks noGrp="1"/>
          </p:cNvSpPr>
          <p:nvPr/>
        </p:nvSpPr>
        <p:spPr>
          <a:xfrm>
            <a:off x="361950" y="280987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7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87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Momentum is real; the next risk is losing control as volume rises.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EA5A607-4F8D-4507-84C1-3D3FBFEE7F4C}"/>
              </a:ext>
            </a:extLst>
          </p:cNvPr>
          <p:cNvSpPr>
            <a:spLocks noGrp="1"/>
          </p:cNvSpPr>
          <p:nvPr/>
        </p:nvSpPr>
        <p:spPr>
          <a:xfrm>
            <a:off x="361950" y="3219450"/>
            <a:ext cx="3238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ACTS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4E06690-BD36-4870-BA33-444196CBF45D}"/>
              </a:ext>
            </a:extLst>
          </p:cNvPr>
          <p:cNvSpPr>
            <a:spLocks noGrp="1"/>
          </p:cNvSpPr>
          <p:nvPr/>
        </p:nvSpPr>
        <p:spPr>
          <a:xfrm>
            <a:off x="361950" y="336232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7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87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167 orders/wk, 6.7 months; 85% review daily.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13C4811-2293-466A-A094-0CEB13C0FAFD}"/>
              </a:ext>
            </a:extLst>
          </p:cNvPr>
          <p:cNvSpPr>
            <a:spLocks noGrp="1"/>
          </p:cNvSpPr>
          <p:nvPr/>
        </p:nvSpPr>
        <p:spPr>
          <a:xfrm>
            <a:off x="361950" y="3771900"/>
            <a:ext cx="3238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KNOWS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DA199351-0B2F-4083-B320-C526E7628D00}"/>
              </a:ext>
            </a:extLst>
          </p:cNvPr>
          <p:cNvSpPr>
            <a:spLocks noGrp="1"/>
          </p:cNvSpPr>
          <p:nvPr/>
        </p:nvSpPr>
        <p:spPr>
          <a:xfrm>
            <a:off x="361950" y="391477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7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87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3.8/8 metrics; 4.33/5 satisfaction.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3C8CB63-EF15-41E6-84FC-DD307DB182A1}"/>
              </a:ext>
            </a:extLst>
          </p:cNvPr>
          <p:cNvSpPr>
            <a:spLocks noGrp="1"/>
          </p:cNvSpPr>
          <p:nvPr/>
        </p:nvSpPr>
        <p:spPr>
          <a:xfrm>
            <a:off x="361950" y="4324350"/>
            <a:ext cx="3238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WANTS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299EF42-3BD9-45F2-AECD-C024293735BB}"/>
              </a:ext>
            </a:extLst>
          </p:cNvPr>
          <p:cNvSpPr>
            <a:spLocks noGrp="1"/>
          </p:cNvSpPr>
          <p:nvPr/>
        </p:nvSpPr>
        <p:spPr>
          <a:xfrm>
            <a:off x="361950" y="446722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7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87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Scale without service degradation or more manual work.</a:t>
            </a:r>
          </a:p>
        </p:txBody>
      </p:sp>
      <p:sp>
        <p:nvSpPr>
          <p:cNvPr id="15" name="Retângulo Arredondado 14">
            <a:extLst>
              <a:ext uri="{FF2B5EF4-FFF2-40B4-BE49-F238E27FC236}">
                <a16:creationId xmlns:a16="http://schemas.microsoft.com/office/drawing/2014/main" id="{C3051089-45B8-46AB-A135-19E0E1DE3FBF}"/>
              </a:ext>
            </a:extLst>
          </p:cNvPr>
          <p:cNvSpPr>
            <a:spLocks noGrp="1"/>
          </p:cNvSpPr>
          <p:nvPr/>
        </p:nvSpPr>
        <p:spPr>
          <a:xfrm>
            <a:off x="4048125" y="1771650"/>
            <a:ext cx="3571875" cy="333375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3335">
            <a:solidFill>
              <a:srgbClr val="E86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B17E422C-1E71-44C2-A888-300C1ED3B8FD}"/>
              </a:ext>
            </a:extLst>
          </p:cNvPr>
          <p:cNvSpPr>
            <a:spLocks noGrp="1"/>
          </p:cNvSpPr>
          <p:nvPr/>
        </p:nvSpPr>
        <p:spPr>
          <a:xfrm>
            <a:off x="4219575" y="1952625"/>
            <a:ext cx="323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E86A4A"/>
                </a:solidFill>
                <a:latin typeface="DM Sans"/>
                <a:ea typeface="DM Sans"/>
                <a:cs typeface="DM Sans"/>
              </a:defRPr>
            </a:pPr>
            <a:r>
              <a:rPr sz="1425" b="1">
                <a:solidFill>
                  <a:srgbClr val="E86A4A"/>
                </a:solidFill>
                <a:latin typeface="DM Sans"/>
                <a:ea typeface="DM Sans"/>
                <a:cs typeface="DM Sans"/>
              </a:rPr>
              <a:t>Medium in structuring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957BED8-0626-4D03-A927-6E5C6A5275D8}"/>
              </a:ext>
            </a:extLst>
          </p:cNvPr>
          <p:cNvSpPr>
            <a:spLocks noGrp="1"/>
          </p:cNvSpPr>
          <p:nvPr/>
        </p:nvSpPr>
        <p:spPr>
          <a:xfrm>
            <a:off x="4219575" y="2276475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93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44 sellers  •  14% of matched base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60FD197-03BF-4AEC-A7A9-C800D60F8BEA}"/>
              </a:ext>
            </a:extLst>
          </p:cNvPr>
          <p:cNvSpPr>
            <a:spLocks noGrp="1"/>
          </p:cNvSpPr>
          <p:nvPr/>
        </p:nvSpPr>
        <p:spPr>
          <a:xfrm>
            <a:off x="4219575" y="2667000"/>
            <a:ext cx="3238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THINKS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32842F80-8019-44D0-9766-4D18E6A6C43C}"/>
              </a:ext>
            </a:extLst>
          </p:cNvPr>
          <p:cNvSpPr>
            <a:spLocks noGrp="1"/>
          </p:cNvSpPr>
          <p:nvPr/>
        </p:nvSpPr>
        <p:spPr>
          <a:xfrm>
            <a:off x="4219575" y="280987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7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87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Growth now requires operating discipline.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39025E65-8322-4D88-9F47-653AB7B7ED8A}"/>
              </a:ext>
            </a:extLst>
          </p:cNvPr>
          <p:cNvSpPr>
            <a:spLocks noGrp="1"/>
          </p:cNvSpPr>
          <p:nvPr/>
        </p:nvSpPr>
        <p:spPr>
          <a:xfrm>
            <a:off x="4219575" y="3219450"/>
            <a:ext cx="3238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ACTS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B6D0ED25-75D0-427A-83BC-12006B8F5DC4}"/>
              </a:ext>
            </a:extLst>
          </p:cNvPr>
          <p:cNvSpPr>
            <a:spLocks noGrp="1"/>
          </p:cNvSpPr>
          <p:nvPr/>
        </p:nvSpPr>
        <p:spPr>
          <a:xfrm>
            <a:off x="4219575" y="336232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7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87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173 orders/wk, 21.4 months; 91% review daily.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FF5B8DF8-66FF-46E5-BEE3-A01E5A720148}"/>
              </a:ext>
            </a:extLst>
          </p:cNvPr>
          <p:cNvSpPr>
            <a:spLocks noGrp="1"/>
          </p:cNvSpPr>
          <p:nvPr/>
        </p:nvSpPr>
        <p:spPr>
          <a:xfrm>
            <a:off x="4219575" y="3771900"/>
            <a:ext cx="3238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KNOWS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789F724B-37A6-40F4-B94B-1203651F2789}"/>
              </a:ext>
            </a:extLst>
          </p:cNvPr>
          <p:cNvSpPr>
            <a:spLocks noGrp="1"/>
          </p:cNvSpPr>
          <p:nvPr/>
        </p:nvSpPr>
        <p:spPr>
          <a:xfrm>
            <a:off x="4219575" y="391477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7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87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4.2/8 metrics; mostly Owned.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71A0970-9794-468D-A413-20270F1AC28F}"/>
              </a:ext>
            </a:extLst>
          </p:cNvPr>
          <p:cNvSpPr>
            <a:spLocks noGrp="1"/>
          </p:cNvSpPr>
          <p:nvPr/>
        </p:nvSpPr>
        <p:spPr>
          <a:xfrm>
            <a:off x="4219575" y="4324350"/>
            <a:ext cx="3238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WANTS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1A144EA0-D0BB-45EA-8F36-1E031A890304}"/>
              </a:ext>
            </a:extLst>
          </p:cNvPr>
          <p:cNvSpPr>
            <a:spLocks noGrp="1"/>
          </p:cNvSpPr>
          <p:nvPr/>
        </p:nvSpPr>
        <p:spPr>
          <a:xfrm>
            <a:off x="4219575" y="446722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7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87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Standardize routines, reduce exceptions and unlock more volume.</a:t>
            </a:r>
          </a:p>
        </p:txBody>
      </p:sp>
      <p:sp>
        <p:nvSpPr>
          <p:cNvPr id="26" name="Retângulo Arredondado 25">
            <a:extLst>
              <a:ext uri="{FF2B5EF4-FFF2-40B4-BE49-F238E27FC236}">
                <a16:creationId xmlns:a16="http://schemas.microsoft.com/office/drawing/2014/main" id="{5D9E653F-81CE-4852-B887-3E37E5F64BD7}"/>
              </a:ext>
            </a:extLst>
          </p:cNvPr>
          <p:cNvSpPr>
            <a:spLocks noGrp="1"/>
          </p:cNvSpPr>
          <p:nvPr/>
        </p:nvSpPr>
        <p:spPr>
          <a:xfrm>
            <a:off x="7905750" y="1771650"/>
            <a:ext cx="3571875" cy="3333750"/>
          </a:xfrm>
          <a:prstGeom prst="roundRect">
            <a:avLst>
              <a:gd name="adj" fmla="val 4571"/>
            </a:avLst>
          </a:prstGeom>
          <a:solidFill>
            <a:srgbClr val="FFE2DA"/>
          </a:solidFill>
          <a:ln w="13335">
            <a:solidFill>
              <a:srgbClr val="E86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896F5D78-C95A-4B17-BCD2-2F4FFB202C15}"/>
              </a:ext>
            </a:extLst>
          </p:cNvPr>
          <p:cNvSpPr>
            <a:spLocks noGrp="1"/>
          </p:cNvSpPr>
          <p:nvPr/>
        </p:nvSpPr>
        <p:spPr>
          <a:xfrm>
            <a:off x="8077200" y="1952625"/>
            <a:ext cx="323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E86A4A"/>
                </a:solidFill>
                <a:latin typeface="DM Sans"/>
                <a:ea typeface="DM Sans"/>
                <a:cs typeface="DM Sans"/>
              </a:defRPr>
            </a:pPr>
            <a:r>
              <a:rPr sz="1425" b="1">
                <a:solidFill>
                  <a:srgbClr val="E86A4A"/>
                </a:solidFill>
                <a:latin typeface="DM Sans"/>
                <a:ea typeface="DM Sans"/>
                <a:cs typeface="DM Sans"/>
              </a:rPr>
              <a:t>Medium consistent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94C06BE4-4547-4E08-B465-2D40BA61D538}"/>
              </a:ext>
            </a:extLst>
          </p:cNvPr>
          <p:cNvSpPr>
            <a:spLocks noGrp="1"/>
          </p:cNvSpPr>
          <p:nvPr/>
        </p:nvSpPr>
        <p:spPr>
          <a:xfrm>
            <a:off x="8077200" y="2276475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93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38 sellers  •  12% of matched base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9BA79F14-531B-4655-BCB2-9D998710EA03}"/>
              </a:ext>
            </a:extLst>
          </p:cNvPr>
          <p:cNvSpPr>
            <a:spLocks noGrp="1"/>
          </p:cNvSpPr>
          <p:nvPr/>
        </p:nvSpPr>
        <p:spPr>
          <a:xfrm>
            <a:off x="8077200" y="2667000"/>
            <a:ext cx="3238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THINKS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D19A243E-4F3E-48EF-982D-4B62A665D413}"/>
              </a:ext>
            </a:extLst>
          </p:cNvPr>
          <p:cNvSpPr>
            <a:spLocks noGrp="1"/>
          </p:cNvSpPr>
          <p:nvPr/>
        </p:nvSpPr>
        <p:spPr>
          <a:xfrm>
            <a:off x="8077200" y="280987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7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87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The model works; improvement needs to be measurable.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C03225BF-F2FB-4597-8449-5BAA6D29C2DB}"/>
              </a:ext>
            </a:extLst>
          </p:cNvPr>
          <p:cNvSpPr>
            <a:spLocks noGrp="1"/>
          </p:cNvSpPr>
          <p:nvPr/>
        </p:nvSpPr>
        <p:spPr>
          <a:xfrm>
            <a:off x="8077200" y="3219450"/>
            <a:ext cx="3238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ACTS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219EEE79-9059-4034-A298-496BA6B6D4A9}"/>
              </a:ext>
            </a:extLst>
          </p:cNvPr>
          <p:cNvSpPr>
            <a:spLocks noGrp="1"/>
          </p:cNvSpPr>
          <p:nvPr/>
        </p:nvSpPr>
        <p:spPr>
          <a:xfrm>
            <a:off x="8077200" y="336232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7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87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170 orders/wk, 50.4 months; stable, experienced operation.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1D3DB79A-C24D-4EFF-BF46-D251B9EB83B5}"/>
              </a:ext>
            </a:extLst>
          </p:cNvPr>
          <p:cNvSpPr>
            <a:spLocks noGrp="1"/>
          </p:cNvSpPr>
          <p:nvPr/>
        </p:nvSpPr>
        <p:spPr>
          <a:xfrm>
            <a:off x="8077200" y="3771900"/>
            <a:ext cx="3238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KNOWS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D6E61259-5C57-4C42-BBEE-DC90BFA865F8}"/>
              </a:ext>
            </a:extLst>
          </p:cNvPr>
          <p:cNvSpPr>
            <a:spLocks noGrp="1"/>
          </p:cNvSpPr>
          <p:nvPr/>
        </p:nvSpPr>
        <p:spPr>
          <a:xfrm>
            <a:off x="8077200" y="391477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7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87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3.9/8 metrics; 4.26/5 satisfaction.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595F5DBD-DE9D-45EC-BDF9-986F37F18DA8}"/>
              </a:ext>
            </a:extLst>
          </p:cNvPr>
          <p:cNvSpPr>
            <a:spLocks noGrp="1"/>
          </p:cNvSpPr>
          <p:nvPr/>
        </p:nvSpPr>
        <p:spPr>
          <a:xfrm>
            <a:off x="8077200" y="4324350"/>
            <a:ext cx="3238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WANTS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C6068576-2A2A-482A-87C7-AE3AFB308279}"/>
              </a:ext>
            </a:extLst>
          </p:cNvPr>
          <p:cNvSpPr>
            <a:spLocks noGrp="1"/>
          </p:cNvSpPr>
          <p:nvPr/>
        </p:nvSpPr>
        <p:spPr>
          <a:xfrm>
            <a:off x="8077200" y="446722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7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87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Better diagnostics and a clearer path to the next scale band.</a:t>
            </a:r>
          </a:p>
        </p:txBody>
      </p:sp>
      <p:sp>
        <p:nvSpPr>
          <p:cNvPr id="37" name="Retângulo Arredondado 36">
            <a:extLst>
              <a:ext uri="{FF2B5EF4-FFF2-40B4-BE49-F238E27FC236}">
                <a16:creationId xmlns:a16="http://schemas.microsoft.com/office/drawing/2014/main" id="{1D77DD93-A027-498A-91DD-AD3C26E50FD2}"/>
              </a:ext>
            </a:extLst>
          </p:cNvPr>
          <p:cNvSpPr>
            <a:spLocks noGrp="1"/>
          </p:cNvSpPr>
          <p:nvPr/>
        </p:nvSpPr>
        <p:spPr>
          <a:xfrm>
            <a:off x="190500" y="5676900"/>
            <a:ext cx="11811000" cy="371475"/>
          </a:xfrm>
          <a:prstGeom prst="roundRect">
            <a:avLst>
              <a:gd name="adj" fmla="val 30769"/>
            </a:avLst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D8F3C19E-5026-4787-9410-39729E762266}"/>
              </a:ext>
            </a:extLst>
          </p:cNvPr>
          <p:cNvSpPr>
            <a:spLocks noGrp="1"/>
          </p:cNvSpPr>
          <p:nvPr/>
        </p:nvSpPr>
        <p:spPr>
          <a:xfrm>
            <a:off x="361950" y="5762625"/>
            <a:ext cx="1143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Play → Operationalize the metric-to-action loop: service review, root-cause tag, owner, due date and follow-up.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5D62BA49-ABA8-46C3-B4FA-293D1C0BA499}"/>
              </a:ext>
            </a:extLst>
          </p:cNvPr>
          <p:cNvSpPr>
            <a:spLocks noGrp="1"/>
          </p:cNvSpPr>
          <p:nvPr/>
        </p:nvSpPr>
        <p:spPr>
          <a:xfrm>
            <a:off x="190500" y="6200775"/>
            <a:ext cx="11811000" cy="0"/>
          </a:xfrm>
          <a:prstGeom prst="line">
            <a:avLst/>
          </a:prstGeom>
          <a:ln w="9525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6C4ECD96-FEC6-436D-84A5-36B66BE8BE76}"/>
              </a:ext>
            </a:extLst>
          </p:cNvPr>
          <p:cNvSpPr>
            <a:spLocks noGrp="1"/>
          </p:cNvSpPr>
          <p:nvPr/>
        </p:nvSpPr>
        <p:spPr>
          <a:xfrm>
            <a:off x="190500" y="633412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Ta-Da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83B15DE7-09A9-45A3-A360-7E068B0EF0B9}"/>
              </a:ext>
            </a:extLst>
          </p:cNvPr>
          <p:cNvSpPr>
            <a:spLocks noGrp="1"/>
          </p:cNvSpPr>
          <p:nvPr/>
        </p:nvSpPr>
        <p:spPr>
          <a:xfrm>
            <a:off x="5810250" y="633412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10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0F40136A-F2C8-4B4C-93FA-4953AB5F0B32}"/>
              </a:ext>
            </a:extLst>
          </p:cNvPr>
          <p:cNvSpPr>
            <a:spLocks noGrp="1"/>
          </p:cNvSpPr>
          <p:nvPr/>
        </p:nvSpPr>
        <p:spPr>
          <a:xfrm>
            <a:off x="7953375" y="63341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Seller Firmographics</a:t>
            </a:r>
          </a:p>
        </p:txBody>
      </p:sp>
    </p:spTree>
    <p:extLst>
      <p:ext uri="{BB962C8B-B14F-4D97-AF65-F5344CB8AC3E}">
        <p14:creationId xmlns:p14="http://schemas.microsoft.com/office/powerpoint/2010/main" val="1305944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tângulo 42">
            <a:extLst>
              <a:ext uri="{FF2B5EF4-FFF2-40B4-BE49-F238E27FC236}">
                <a16:creationId xmlns:a16="http://schemas.microsoft.com/office/drawing/2014/main" id="{E55F8C7C-C760-4346-B33A-4A142706C11F}"/>
              </a:ext>
            </a:extLst>
          </p:cNvPr>
          <p:cNvSpPr>
            <a:spLocks noGrp="1"/>
          </p:cNvSpPr>
          <p:nvPr/>
        </p:nvSpPr>
        <p:spPr>
          <a:xfrm>
            <a:off x="190500" y="228600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11 / LARGE PROFILES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D03EE63-64BF-4CEE-9DC6-90E6EA3DA255}"/>
              </a:ext>
            </a:extLst>
          </p:cNvPr>
          <p:cNvSpPr>
            <a:spLocks noGrp="1"/>
          </p:cNvSpPr>
          <p:nvPr/>
        </p:nvSpPr>
        <p:spPr>
          <a:xfrm>
            <a:off x="190500" y="533400"/>
            <a:ext cx="1143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Large sellers can fund growth when TaDa protects the promise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25FC4C3-5F46-4856-B21F-2052761D8BDD}"/>
              </a:ext>
            </a:extLst>
          </p:cNvPr>
          <p:cNvSpPr>
            <a:spLocks noGrp="1"/>
          </p:cNvSpPr>
          <p:nvPr/>
        </p:nvSpPr>
        <p:spPr>
          <a:xfrm>
            <a:off x="190500" y="1219200"/>
            <a:ext cx="1123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16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The Large band is 96 sellers. Its most valuable members combine scale, tenure and the highest metric literacy.</a:t>
            </a:r>
          </a:p>
        </p:txBody>
      </p:sp>
      <p:sp>
        <p:nvSpPr>
          <p:cNvPr id="4" name="Retângulo Arredondado 3">
            <a:extLst>
              <a:ext uri="{FF2B5EF4-FFF2-40B4-BE49-F238E27FC236}">
                <a16:creationId xmlns:a16="http://schemas.microsoft.com/office/drawing/2014/main" id="{99DA89B3-DDA4-420A-A1C6-DA03854C9E9D}"/>
              </a:ext>
            </a:extLst>
          </p:cNvPr>
          <p:cNvSpPr>
            <a:spLocks noGrp="1"/>
          </p:cNvSpPr>
          <p:nvPr/>
        </p:nvSpPr>
        <p:spPr>
          <a:xfrm>
            <a:off x="190500" y="1771650"/>
            <a:ext cx="3571875" cy="3333750"/>
          </a:xfrm>
          <a:prstGeom prst="roundRect">
            <a:avLst>
              <a:gd name="adj" fmla="val 4571"/>
            </a:avLst>
          </a:prstGeom>
          <a:solidFill>
            <a:srgbClr val="E5E8FF"/>
          </a:solidFill>
          <a:ln w="13335">
            <a:solidFill>
              <a:srgbClr val="5E6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D2EE344-5273-43DB-9751-4F96ECCDF393}"/>
              </a:ext>
            </a:extLst>
          </p:cNvPr>
          <p:cNvSpPr>
            <a:spLocks noGrp="1"/>
          </p:cNvSpPr>
          <p:nvPr/>
        </p:nvSpPr>
        <p:spPr>
          <a:xfrm>
            <a:off x="361950" y="1952625"/>
            <a:ext cx="323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5E6BE8"/>
                </a:solidFill>
                <a:latin typeface="DM Sans"/>
                <a:ea typeface="DM Sans"/>
                <a:cs typeface="DM Sans"/>
              </a:defRPr>
            </a:pPr>
            <a:r>
              <a:rPr sz="1425" b="1">
                <a:solidFill>
                  <a:srgbClr val="5E6BE8"/>
                </a:solidFill>
                <a:latin typeface="DM Sans"/>
                <a:ea typeface="DM Sans"/>
                <a:cs typeface="DM Sans"/>
              </a:rPr>
              <a:t>Large in discovery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545301F-741A-49DC-A704-5E86D78D932D}"/>
              </a:ext>
            </a:extLst>
          </p:cNvPr>
          <p:cNvSpPr>
            <a:spLocks noGrp="1"/>
          </p:cNvSpPr>
          <p:nvPr/>
        </p:nvSpPr>
        <p:spPr>
          <a:xfrm>
            <a:off x="361950" y="2276475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93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17 sellers  •  5% of matched base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C260312-5AB1-49CC-B14B-11CE60A3E178}"/>
              </a:ext>
            </a:extLst>
          </p:cNvPr>
          <p:cNvSpPr>
            <a:spLocks noGrp="1"/>
          </p:cNvSpPr>
          <p:nvPr/>
        </p:nvSpPr>
        <p:spPr>
          <a:xfrm>
            <a:off x="361950" y="2667000"/>
            <a:ext cx="3238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THINKS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435ACFB-31CD-4297-80C7-0C32BA524AF8}"/>
              </a:ext>
            </a:extLst>
          </p:cNvPr>
          <p:cNvSpPr>
            <a:spLocks noGrp="1"/>
          </p:cNvSpPr>
          <p:nvPr/>
        </p:nvSpPr>
        <p:spPr>
          <a:xfrm>
            <a:off x="361950" y="280987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7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87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Scale is already here; the relationship is still being formed.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23307FF-F789-488B-A39D-904896E581C3}"/>
              </a:ext>
            </a:extLst>
          </p:cNvPr>
          <p:cNvSpPr>
            <a:spLocks noGrp="1"/>
          </p:cNvSpPr>
          <p:nvPr/>
        </p:nvSpPr>
        <p:spPr>
          <a:xfrm>
            <a:off x="361950" y="3219450"/>
            <a:ext cx="3238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ACTS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6AA23C8-820E-4715-A347-ACD64D175340}"/>
              </a:ext>
            </a:extLst>
          </p:cNvPr>
          <p:cNvSpPr>
            <a:spLocks noGrp="1"/>
          </p:cNvSpPr>
          <p:nvPr/>
        </p:nvSpPr>
        <p:spPr>
          <a:xfrm>
            <a:off x="361950" y="336232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7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87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425 orders/wk, 8.0 months; 94% review daily.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64425D7-EB3F-4EEA-A21C-E315DBAB7C87}"/>
              </a:ext>
            </a:extLst>
          </p:cNvPr>
          <p:cNvSpPr>
            <a:spLocks noGrp="1"/>
          </p:cNvSpPr>
          <p:nvPr/>
        </p:nvSpPr>
        <p:spPr>
          <a:xfrm>
            <a:off x="361950" y="3771900"/>
            <a:ext cx="3238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KNOWS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355BB33-F359-4BF8-A807-1DF1ED706580}"/>
              </a:ext>
            </a:extLst>
          </p:cNvPr>
          <p:cNvSpPr>
            <a:spLocks noGrp="1"/>
          </p:cNvSpPr>
          <p:nvPr/>
        </p:nvSpPr>
        <p:spPr>
          <a:xfrm>
            <a:off x="361950" y="391477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7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87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3.7/8 metrics; 4.76/5 satisfaction.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7B70780-467B-45D0-B870-E7D6717CE228}"/>
              </a:ext>
            </a:extLst>
          </p:cNvPr>
          <p:cNvSpPr>
            <a:spLocks noGrp="1"/>
          </p:cNvSpPr>
          <p:nvPr/>
        </p:nvSpPr>
        <p:spPr>
          <a:xfrm>
            <a:off x="361950" y="4324350"/>
            <a:ext cx="3238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WANTS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8F27BDC-3901-4C8A-B73C-810C8FB60DC1}"/>
              </a:ext>
            </a:extLst>
          </p:cNvPr>
          <p:cNvSpPr>
            <a:spLocks noGrp="1"/>
          </p:cNvSpPr>
          <p:nvPr/>
        </p:nvSpPr>
        <p:spPr>
          <a:xfrm>
            <a:off x="361950" y="446722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7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87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A fast path to professionalization without slowing momentum.</a:t>
            </a:r>
          </a:p>
        </p:txBody>
      </p:sp>
      <p:sp>
        <p:nvSpPr>
          <p:cNvPr id="15" name="Retângulo Arredondado 14">
            <a:extLst>
              <a:ext uri="{FF2B5EF4-FFF2-40B4-BE49-F238E27FC236}">
                <a16:creationId xmlns:a16="http://schemas.microsoft.com/office/drawing/2014/main" id="{FD808CD0-EEBE-45BD-A6AA-E3192BE66F03}"/>
              </a:ext>
            </a:extLst>
          </p:cNvPr>
          <p:cNvSpPr>
            <a:spLocks noGrp="1"/>
          </p:cNvSpPr>
          <p:nvPr/>
        </p:nvSpPr>
        <p:spPr>
          <a:xfrm>
            <a:off x="4048125" y="1771650"/>
            <a:ext cx="3571875" cy="333375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3335">
            <a:solidFill>
              <a:srgbClr val="5E6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08EDC78-6A9B-44F2-853E-3F71EC52256D}"/>
              </a:ext>
            </a:extLst>
          </p:cNvPr>
          <p:cNvSpPr>
            <a:spLocks noGrp="1"/>
          </p:cNvSpPr>
          <p:nvPr/>
        </p:nvSpPr>
        <p:spPr>
          <a:xfrm>
            <a:off x="4219575" y="1952625"/>
            <a:ext cx="323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5E6BE8"/>
                </a:solidFill>
                <a:latin typeface="DM Sans"/>
                <a:ea typeface="DM Sans"/>
                <a:cs typeface="DM Sans"/>
              </a:defRPr>
            </a:pPr>
            <a:r>
              <a:rPr sz="1425" b="1">
                <a:solidFill>
                  <a:srgbClr val="5E6BE8"/>
                </a:solidFill>
                <a:latin typeface="DM Sans"/>
                <a:ea typeface="DM Sans"/>
                <a:cs typeface="DM Sans"/>
              </a:rPr>
              <a:t>Large professionalizing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D93DE346-357B-4256-B235-EAB1F2EAC483}"/>
              </a:ext>
            </a:extLst>
          </p:cNvPr>
          <p:cNvSpPr>
            <a:spLocks noGrp="1"/>
          </p:cNvSpPr>
          <p:nvPr/>
        </p:nvSpPr>
        <p:spPr>
          <a:xfrm>
            <a:off x="4219575" y="2276475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93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30 sellers  •  9% of matched base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3E7CD3FF-D187-4969-8D79-5BEBCB55D4CE}"/>
              </a:ext>
            </a:extLst>
          </p:cNvPr>
          <p:cNvSpPr>
            <a:spLocks noGrp="1"/>
          </p:cNvSpPr>
          <p:nvPr/>
        </p:nvSpPr>
        <p:spPr>
          <a:xfrm>
            <a:off x="4219575" y="2667000"/>
            <a:ext cx="3238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THINKS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A7E258C-C059-4050-9A13-C03924C4443B}"/>
              </a:ext>
            </a:extLst>
          </p:cNvPr>
          <p:cNvSpPr>
            <a:spLocks noGrp="1"/>
          </p:cNvSpPr>
          <p:nvPr/>
        </p:nvSpPr>
        <p:spPr>
          <a:xfrm>
            <a:off x="4219575" y="280987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7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87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The operation is a business system, not a side task.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8503E259-DA7B-4EB4-98E7-464EC757257D}"/>
              </a:ext>
            </a:extLst>
          </p:cNvPr>
          <p:cNvSpPr>
            <a:spLocks noGrp="1"/>
          </p:cNvSpPr>
          <p:nvPr/>
        </p:nvSpPr>
        <p:spPr>
          <a:xfrm>
            <a:off x="4219575" y="3219450"/>
            <a:ext cx="3238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ACTS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9A046436-A830-406D-AD59-A044D5AD48E1}"/>
              </a:ext>
            </a:extLst>
          </p:cNvPr>
          <p:cNvSpPr>
            <a:spLocks noGrp="1"/>
          </p:cNvSpPr>
          <p:nvPr/>
        </p:nvSpPr>
        <p:spPr>
          <a:xfrm>
            <a:off x="4219575" y="336232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7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87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358 orders/wk, 23.1 months; 93% review daily.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6FFBDA8D-FCB6-4597-8FF2-DBE73EC5FB55}"/>
              </a:ext>
            </a:extLst>
          </p:cNvPr>
          <p:cNvSpPr>
            <a:spLocks noGrp="1"/>
          </p:cNvSpPr>
          <p:nvPr/>
        </p:nvSpPr>
        <p:spPr>
          <a:xfrm>
            <a:off x="4219575" y="3771900"/>
            <a:ext cx="3238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KNOWS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A45925B4-0FB0-43D9-9645-978FCFF484F6}"/>
              </a:ext>
            </a:extLst>
          </p:cNvPr>
          <p:cNvSpPr>
            <a:spLocks noGrp="1"/>
          </p:cNvSpPr>
          <p:nvPr/>
        </p:nvSpPr>
        <p:spPr>
          <a:xfrm>
            <a:off x="4219575" y="391477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7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87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4.1/8 metrics; 4.67/5 satisfaction.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572186B4-BA5B-41E0-BA0F-098C9B3290BA}"/>
              </a:ext>
            </a:extLst>
          </p:cNvPr>
          <p:cNvSpPr>
            <a:spLocks noGrp="1"/>
          </p:cNvSpPr>
          <p:nvPr/>
        </p:nvSpPr>
        <p:spPr>
          <a:xfrm>
            <a:off x="4219575" y="4324350"/>
            <a:ext cx="3238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WANTS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AA895C65-8FD7-46D5-85A9-931757159A2B}"/>
              </a:ext>
            </a:extLst>
          </p:cNvPr>
          <p:cNvSpPr>
            <a:spLocks noGrp="1"/>
          </p:cNvSpPr>
          <p:nvPr/>
        </p:nvSpPr>
        <p:spPr>
          <a:xfrm>
            <a:off x="4219575" y="446722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7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87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Predictability, leverage and fewer exceptions at scale.</a:t>
            </a:r>
          </a:p>
        </p:txBody>
      </p:sp>
      <p:sp>
        <p:nvSpPr>
          <p:cNvPr id="26" name="Retângulo Arredondado 25">
            <a:extLst>
              <a:ext uri="{FF2B5EF4-FFF2-40B4-BE49-F238E27FC236}">
                <a16:creationId xmlns:a16="http://schemas.microsoft.com/office/drawing/2014/main" id="{6C95ED7A-DF95-4558-B2E5-CD4FEA0F22A0}"/>
              </a:ext>
            </a:extLst>
          </p:cNvPr>
          <p:cNvSpPr>
            <a:spLocks noGrp="1"/>
          </p:cNvSpPr>
          <p:nvPr/>
        </p:nvSpPr>
        <p:spPr>
          <a:xfrm>
            <a:off x="7905750" y="1771650"/>
            <a:ext cx="3571875" cy="3333750"/>
          </a:xfrm>
          <a:prstGeom prst="roundRect">
            <a:avLst>
              <a:gd name="adj" fmla="val 4571"/>
            </a:avLst>
          </a:prstGeom>
          <a:solidFill>
            <a:srgbClr val="E5E8FF"/>
          </a:solidFill>
          <a:ln w="13335">
            <a:solidFill>
              <a:srgbClr val="5E6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BBDEC6D1-7922-4EB4-A48C-0DEA01279A31}"/>
              </a:ext>
            </a:extLst>
          </p:cNvPr>
          <p:cNvSpPr>
            <a:spLocks noGrp="1"/>
          </p:cNvSpPr>
          <p:nvPr/>
        </p:nvSpPr>
        <p:spPr>
          <a:xfrm>
            <a:off x="8077200" y="1952625"/>
            <a:ext cx="323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5E6BE8"/>
                </a:solidFill>
                <a:latin typeface="DM Sans"/>
                <a:ea typeface="DM Sans"/>
                <a:cs typeface="DM Sans"/>
              </a:defRPr>
            </a:pPr>
            <a:r>
              <a:rPr sz="1425" b="1">
                <a:solidFill>
                  <a:srgbClr val="5E6BE8"/>
                </a:solidFill>
                <a:latin typeface="DM Sans"/>
                <a:ea typeface="DM Sans"/>
                <a:cs typeface="DM Sans"/>
              </a:rPr>
              <a:t>Large anchor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B45508BD-F92F-4016-B550-0CFCCBBAA512}"/>
              </a:ext>
            </a:extLst>
          </p:cNvPr>
          <p:cNvSpPr>
            <a:spLocks noGrp="1"/>
          </p:cNvSpPr>
          <p:nvPr/>
        </p:nvSpPr>
        <p:spPr>
          <a:xfrm>
            <a:off x="8077200" y="2276475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93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49 sellers  •  15% of matched base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90BB20F3-0EC0-41B5-9056-F080B6029BD4}"/>
              </a:ext>
            </a:extLst>
          </p:cNvPr>
          <p:cNvSpPr>
            <a:spLocks noGrp="1"/>
          </p:cNvSpPr>
          <p:nvPr/>
        </p:nvSpPr>
        <p:spPr>
          <a:xfrm>
            <a:off x="8077200" y="2667000"/>
            <a:ext cx="3238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THINKS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DF7A6EE9-C68E-4A6D-8CCC-4EC2BF346886}"/>
              </a:ext>
            </a:extLst>
          </p:cNvPr>
          <p:cNvSpPr>
            <a:spLocks noGrp="1"/>
          </p:cNvSpPr>
          <p:nvPr/>
        </p:nvSpPr>
        <p:spPr>
          <a:xfrm>
            <a:off x="8077200" y="280987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7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87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TaDa is a strategic channel worth protecting.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5AB86732-EE72-4BF6-96E6-A3AC21620AEE}"/>
              </a:ext>
            </a:extLst>
          </p:cNvPr>
          <p:cNvSpPr>
            <a:spLocks noGrp="1"/>
          </p:cNvSpPr>
          <p:nvPr/>
        </p:nvSpPr>
        <p:spPr>
          <a:xfrm>
            <a:off x="8077200" y="3219450"/>
            <a:ext cx="3238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ACTS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8909297A-997A-4607-8090-CF923432FB6B}"/>
              </a:ext>
            </a:extLst>
          </p:cNvPr>
          <p:cNvSpPr>
            <a:spLocks noGrp="1"/>
          </p:cNvSpPr>
          <p:nvPr/>
        </p:nvSpPr>
        <p:spPr>
          <a:xfrm>
            <a:off x="8077200" y="336232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7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87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459 orders/wk, 53.6 months; 724 monthly clients on average.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9BF476FA-71F0-44B4-B459-51F4C2C90250}"/>
              </a:ext>
            </a:extLst>
          </p:cNvPr>
          <p:cNvSpPr>
            <a:spLocks noGrp="1"/>
          </p:cNvSpPr>
          <p:nvPr/>
        </p:nvSpPr>
        <p:spPr>
          <a:xfrm>
            <a:off x="8077200" y="3771900"/>
            <a:ext cx="3238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KNOWS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0C073B16-D32B-4530-9A68-A35870562F06}"/>
              </a:ext>
            </a:extLst>
          </p:cNvPr>
          <p:cNvSpPr>
            <a:spLocks noGrp="1"/>
          </p:cNvSpPr>
          <p:nvPr/>
        </p:nvSpPr>
        <p:spPr>
          <a:xfrm>
            <a:off x="8077200" y="391477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7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87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5.0/8 metrics; 4.59/5 satisfaction.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E79363D7-F14F-4859-A195-DC42D1870E95}"/>
              </a:ext>
            </a:extLst>
          </p:cNvPr>
          <p:cNvSpPr>
            <a:spLocks noGrp="1"/>
          </p:cNvSpPr>
          <p:nvPr/>
        </p:nvSpPr>
        <p:spPr>
          <a:xfrm>
            <a:off x="8077200" y="4324350"/>
            <a:ext cx="3238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WANTS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B640D990-5385-42A9-BED9-D849AE1EC937}"/>
              </a:ext>
            </a:extLst>
          </p:cNvPr>
          <p:cNvSpPr>
            <a:spLocks noGrp="1"/>
          </p:cNvSpPr>
          <p:nvPr/>
        </p:nvSpPr>
        <p:spPr>
          <a:xfrm>
            <a:off x="8077200" y="4467225"/>
            <a:ext cx="323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7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87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Joint planning, reliability and a voice in roadmap decisions.</a:t>
            </a:r>
          </a:p>
        </p:txBody>
      </p:sp>
      <p:sp>
        <p:nvSpPr>
          <p:cNvPr id="37" name="Retângulo Arredondado 36">
            <a:extLst>
              <a:ext uri="{FF2B5EF4-FFF2-40B4-BE49-F238E27FC236}">
                <a16:creationId xmlns:a16="http://schemas.microsoft.com/office/drawing/2014/main" id="{F82A7ED1-B060-4C24-9122-8AF5119CCB80}"/>
              </a:ext>
            </a:extLst>
          </p:cNvPr>
          <p:cNvSpPr>
            <a:spLocks noGrp="1"/>
          </p:cNvSpPr>
          <p:nvPr/>
        </p:nvSpPr>
        <p:spPr>
          <a:xfrm>
            <a:off x="190500" y="5676900"/>
            <a:ext cx="11811000" cy="371475"/>
          </a:xfrm>
          <a:prstGeom prst="roundRect">
            <a:avLst>
              <a:gd name="adj" fmla="val 30769"/>
            </a:avLst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02FB1E92-441E-46C4-AB06-F7505509A161}"/>
              </a:ext>
            </a:extLst>
          </p:cNvPr>
          <p:cNvSpPr>
            <a:spLocks noGrp="1"/>
          </p:cNvSpPr>
          <p:nvPr/>
        </p:nvSpPr>
        <p:spPr>
          <a:xfrm>
            <a:off x="361950" y="5762625"/>
            <a:ext cx="1143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Play → Protect anchors with a service council, advanced metric coaching and early-warning escalation—not generic campaigns.</a:t>
            </a:r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D1D9FEBF-CC9B-4F1E-90FD-C49B1489E020}"/>
              </a:ext>
            </a:extLst>
          </p:cNvPr>
          <p:cNvSpPr>
            <a:spLocks noGrp="1"/>
          </p:cNvSpPr>
          <p:nvPr/>
        </p:nvSpPr>
        <p:spPr>
          <a:xfrm>
            <a:off x="190500" y="6200775"/>
            <a:ext cx="11811000" cy="0"/>
          </a:xfrm>
          <a:prstGeom prst="line">
            <a:avLst/>
          </a:prstGeom>
          <a:ln w="9525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A9A207E1-9451-4D15-B38C-417D40C78AF8}"/>
              </a:ext>
            </a:extLst>
          </p:cNvPr>
          <p:cNvSpPr>
            <a:spLocks noGrp="1"/>
          </p:cNvSpPr>
          <p:nvPr/>
        </p:nvSpPr>
        <p:spPr>
          <a:xfrm>
            <a:off x="190500" y="633412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Ta-Da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F9848F7C-8FB8-44F6-996F-455EFE336F4F}"/>
              </a:ext>
            </a:extLst>
          </p:cNvPr>
          <p:cNvSpPr>
            <a:spLocks noGrp="1"/>
          </p:cNvSpPr>
          <p:nvPr/>
        </p:nvSpPr>
        <p:spPr>
          <a:xfrm>
            <a:off x="5810250" y="633412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11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A9995CFD-EB83-4121-A297-CCA782E99C8E}"/>
              </a:ext>
            </a:extLst>
          </p:cNvPr>
          <p:cNvSpPr>
            <a:spLocks noGrp="1"/>
          </p:cNvSpPr>
          <p:nvPr/>
        </p:nvSpPr>
        <p:spPr>
          <a:xfrm>
            <a:off x="7953375" y="63341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Seller Firmographics</a:t>
            </a:r>
          </a:p>
        </p:txBody>
      </p:sp>
    </p:spTree>
    <p:extLst>
      <p:ext uri="{BB962C8B-B14F-4D97-AF65-F5344CB8AC3E}">
        <p14:creationId xmlns:p14="http://schemas.microsoft.com/office/powerpoint/2010/main" val="93544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73E04D96-4E14-49C1-9A0A-C1C34817B553}"/>
              </a:ext>
            </a:extLst>
          </p:cNvPr>
          <p:cNvSpPr>
            <a:spLocks noGrp="1"/>
          </p:cNvSpPr>
          <p:nvPr/>
        </p:nvSpPr>
        <p:spPr>
          <a:xfrm>
            <a:off x="190500" y="228600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12 / SELLER VOICE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59B5BA9-8F80-4D7B-A129-5BF27957BA1C}"/>
              </a:ext>
            </a:extLst>
          </p:cNvPr>
          <p:cNvSpPr>
            <a:spLocks noGrp="1"/>
          </p:cNvSpPr>
          <p:nvPr/>
        </p:nvSpPr>
        <p:spPr>
          <a:xfrm>
            <a:off x="190500" y="533400"/>
            <a:ext cx="1143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Sellers ask TaDa to protect service while unlocking growth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CCC81B8-0156-43E6-AE1A-E02156FF5321}"/>
              </a:ext>
            </a:extLst>
          </p:cNvPr>
          <p:cNvSpPr>
            <a:spLocks noGrp="1"/>
          </p:cNvSpPr>
          <p:nvPr/>
        </p:nvSpPr>
        <p:spPr>
          <a:xfrm>
            <a:off x="190500" y="1219200"/>
            <a:ext cx="1123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16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Keyword coding of 276 non-empty comments makes the themes legible. Categories can overlap.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="190500" y="1752600"/>
          <a:ext cx="5905500" cy="3286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EEE36FEC-743D-4F12-AC6D-337E5AC2FE5E}"/>
              </a:ext>
            </a:extLst>
          </p:cNvPr>
          <p:cNvSpPr>
            <a:spLocks noGrp="1"/>
          </p:cNvSpPr>
          <p:nvPr/>
        </p:nvSpPr>
        <p:spPr>
          <a:xfrm>
            <a:off x="190500" y="5162550"/>
            <a:ext cx="581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Share of non-empty comments mentioning each theme</a:t>
            </a:r>
          </a:p>
        </p:txBody>
      </p:sp>
      <p:sp>
        <p:nvSpPr>
          <p:cNvPr id="6" name="Retângulo Arredondado 5">
            <a:extLst>
              <a:ext uri="{FF2B5EF4-FFF2-40B4-BE49-F238E27FC236}">
                <a16:creationId xmlns:a16="http://schemas.microsoft.com/office/drawing/2014/main" id="{BD8EC9E2-381A-4DDE-B020-70BB6D8DC7EE}"/>
              </a:ext>
            </a:extLst>
          </p:cNvPr>
          <p:cNvSpPr>
            <a:spLocks noGrp="1"/>
          </p:cNvSpPr>
          <p:nvPr/>
        </p:nvSpPr>
        <p:spPr>
          <a:xfrm>
            <a:off x="6762750" y="1762125"/>
            <a:ext cx="4667250" cy="1000125"/>
          </a:xfrm>
          <a:prstGeom prst="roundRect">
            <a:avLst>
              <a:gd name="adj" fmla="val 15238"/>
            </a:avLst>
          </a:prstGeom>
          <a:solidFill>
            <a:srgbClr val="FFE0E9"/>
          </a:solidFill>
          <a:ln w="13335">
            <a:solidFill>
              <a:srgbClr val="E958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8B1F33C-E81B-430E-A4BC-357C05037CFD}"/>
              </a:ext>
            </a:extLst>
          </p:cNvPr>
          <p:cNvSpPr>
            <a:spLocks noGrp="1"/>
          </p:cNvSpPr>
          <p:nvPr/>
        </p:nvSpPr>
        <p:spPr>
          <a:xfrm>
            <a:off x="6934200" y="1924050"/>
            <a:ext cx="432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95878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E95878"/>
                </a:solidFill>
                <a:latin typeface="DM Sans"/>
                <a:ea typeface="DM Sans"/>
                <a:cs typeface="DM Sans"/>
              </a:rPr>
              <a:t>01  Protect service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879781F-E8A7-4E66-8BEF-BDE836869E23}"/>
              </a:ext>
            </a:extLst>
          </p:cNvPr>
          <p:cNvSpPr>
            <a:spLocks noGrp="1"/>
          </p:cNvSpPr>
          <p:nvPr/>
        </p:nvSpPr>
        <p:spPr>
          <a:xfrm>
            <a:off x="6934200" y="2266950"/>
            <a:ext cx="4324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Delivery / courier themes are the most common mention (34.4%). Fixing handoffs and exceptions protects trust.</a:t>
            </a:r>
          </a:p>
        </p:txBody>
      </p:sp>
      <p:sp>
        <p:nvSpPr>
          <p:cNvPr id="9" name="Retângulo Arredondado 8">
            <a:extLst>
              <a:ext uri="{FF2B5EF4-FFF2-40B4-BE49-F238E27FC236}">
                <a16:creationId xmlns:a16="http://schemas.microsoft.com/office/drawing/2014/main" id="{B0E3E943-59BD-43AE-BEF0-050F00B938DF}"/>
              </a:ext>
            </a:extLst>
          </p:cNvPr>
          <p:cNvSpPr>
            <a:spLocks noGrp="1"/>
          </p:cNvSpPr>
          <p:nvPr/>
        </p:nvSpPr>
        <p:spPr>
          <a:xfrm>
            <a:off x="6762750" y="2952750"/>
            <a:ext cx="4667250" cy="1000125"/>
          </a:xfrm>
          <a:prstGeom prst="roundRect">
            <a:avLst>
              <a:gd name="adj" fmla="val 15238"/>
            </a:avLst>
          </a:prstGeom>
          <a:solidFill>
            <a:srgbClr val="FFE2DA"/>
          </a:solidFill>
          <a:ln w="13335">
            <a:solidFill>
              <a:srgbClr val="E86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CF63A03-C608-4404-8460-A8BC4A6DA0F5}"/>
              </a:ext>
            </a:extLst>
          </p:cNvPr>
          <p:cNvSpPr>
            <a:spLocks noGrp="1"/>
          </p:cNvSpPr>
          <p:nvPr/>
        </p:nvSpPr>
        <p:spPr>
          <a:xfrm>
            <a:off x="6934200" y="3114675"/>
            <a:ext cx="432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86A4A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E86A4A"/>
                </a:solidFill>
                <a:latin typeface="DM Sans"/>
                <a:ea typeface="DM Sans"/>
                <a:cs typeface="DM Sans"/>
              </a:rPr>
              <a:t>02  Unlock growth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5E56C10-BDFA-467E-9A17-83413F9A8224}"/>
              </a:ext>
            </a:extLst>
          </p:cNvPr>
          <p:cNvSpPr>
            <a:spLocks noGrp="1"/>
          </p:cNvSpPr>
          <p:nvPr/>
        </p:nvSpPr>
        <p:spPr>
          <a:xfrm>
            <a:off x="6934200" y="3457575"/>
            <a:ext cx="4324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Growth / sales appears in 30.4% of comments. Sellers want more customers, more territory and more volume.</a:t>
            </a:r>
          </a:p>
        </p:txBody>
      </p:sp>
      <p:sp>
        <p:nvSpPr>
          <p:cNvPr id="12" name="Retângulo Arredondado 11">
            <a:extLst>
              <a:ext uri="{FF2B5EF4-FFF2-40B4-BE49-F238E27FC236}">
                <a16:creationId xmlns:a16="http://schemas.microsoft.com/office/drawing/2014/main" id="{95033639-5897-4CFE-8E62-412EC6B7C525}"/>
              </a:ext>
            </a:extLst>
          </p:cNvPr>
          <p:cNvSpPr>
            <a:spLocks noGrp="1"/>
          </p:cNvSpPr>
          <p:nvPr/>
        </p:nvSpPr>
        <p:spPr>
          <a:xfrm>
            <a:off x="6762750" y="4143375"/>
            <a:ext cx="4667250" cy="1000125"/>
          </a:xfrm>
          <a:prstGeom prst="roundRect">
            <a:avLst>
              <a:gd name="adj" fmla="val 15238"/>
            </a:avLst>
          </a:prstGeom>
          <a:solidFill>
            <a:srgbClr val="EAD9FF"/>
          </a:solidFill>
          <a:ln w="13335">
            <a:solidFill>
              <a:srgbClr val="9147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3698553-0B21-4DF1-9D67-1412467E67FD}"/>
              </a:ext>
            </a:extLst>
          </p:cNvPr>
          <p:cNvSpPr>
            <a:spLocks noGrp="1"/>
          </p:cNvSpPr>
          <p:nvPr/>
        </p:nvSpPr>
        <p:spPr>
          <a:xfrm>
            <a:off x="6934200" y="4305300"/>
            <a:ext cx="432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03  Remove hidden friction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6B629C7-9EB0-4796-9D27-16858B973FFA}"/>
              </a:ext>
            </a:extLst>
          </p:cNvPr>
          <p:cNvSpPr>
            <a:spLocks noGrp="1"/>
          </p:cNvSpPr>
          <p:nvPr/>
        </p:nvSpPr>
        <p:spPr>
          <a:xfrm>
            <a:off x="6934200" y="4648200"/>
            <a:ext cx="4324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Supply / inventory (14.9%) and app / data / process (9.4%) are the next blockers to solve.</a:t>
            </a:r>
          </a:p>
        </p:txBody>
      </p:sp>
      <p:sp>
        <p:nvSpPr>
          <p:cNvPr id="15" name="Retângulo Arredondado 14">
            <a:extLst>
              <a:ext uri="{FF2B5EF4-FFF2-40B4-BE49-F238E27FC236}">
                <a16:creationId xmlns:a16="http://schemas.microsoft.com/office/drawing/2014/main" id="{4DB46019-50CB-4E2F-B68C-518CBF53559F}"/>
              </a:ext>
            </a:extLst>
          </p:cNvPr>
          <p:cNvSpPr>
            <a:spLocks noGrp="1"/>
          </p:cNvSpPr>
          <p:nvPr/>
        </p:nvSpPr>
        <p:spPr>
          <a:xfrm>
            <a:off x="190500" y="5676900"/>
            <a:ext cx="11811000" cy="371475"/>
          </a:xfrm>
          <a:prstGeom prst="roundRect">
            <a:avLst>
              <a:gd name="adj" fmla="val 30769"/>
            </a:avLst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DF9D02B-A99A-47F2-95B4-C0F1186A9F6E}"/>
              </a:ext>
            </a:extLst>
          </p:cNvPr>
          <p:cNvSpPr>
            <a:spLocks noGrp="1"/>
          </p:cNvSpPr>
          <p:nvPr/>
        </p:nvSpPr>
        <p:spPr>
          <a:xfrm>
            <a:off x="361950" y="5762625"/>
            <a:ext cx="1143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Priority → Give every cluster one service promise, one metric to watch and one escalation path.</a:t>
            </a:r>
          </a:p>
        </p:txBody>
      </p:sp>
      <p:sp>
        <p:nvSpPr>
          <p:cNvPr id="17" name="Conector Reto 16">
            <a:extLst>
              <a:ext uri="{FF2B5EF4-FFF2-40B4-BE49-F238E27FC236}">
                <a16:creationId xmlns:a16="http://schemas.microsoft.com/office/drawing/2014/main" id="{4AF77789-E01A-4399-A1A9-D0DE81FA23F7}"/>
              </a:ext>
            </a:extLst>
          </p:cNvPr>
          <p:cNvSpPr>
            <a:spLocks noGrp="1"/>
          </p:cNvSpPr>
          <p:nvPr/>
        </p:nvSpPr>
        <p:spPr>
          <a:xfrm>
            <a:off x="190500" y="6200775"/>
            <a:ext cx="11811000" cy="0"/>
          </a:xfrm>
          <a:prstGeom prst="line">
            <a:avLst/>
          </a:prstGeom>
          <a:ln w="9525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32E7D914-6D53-4D9F-89A1-1FE6C68D21FB}"/>
              </a:ext>
            </a:extLst>
          </p:cNvPr>
          <p:cNvSpPr>
            <a:spLocks noGrp="1"/>
          </p:cNvSpPr>
          <p:nvPr/>
        </p:nvSpPr>
        <p:spPr>
          <a:xfrm>
            <a:off x="190500" y="633412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Ta-Da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9F40C48-09AC-4C4B-A532-A45BD878312D}"/>
              </a:ext>
            </a:extLst>
          </p:cNvPr>
          <p:cNvSpPr>
            <a:spLocks noGrp="1"/>
          </p:cNvSpPr>
          <p:nvPr/>
        </p:nvSpPr>
        <p:spPr>
          <a:xfrm>
            <a:off x="5810250" y="633412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12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4FE16BC0-DEB3-4034-B87B-4840E6266C35}"/>
              </a:ext>
            </a:extLst>
          </p:cNvPr>
          <p:cNvSpPr>
            <a:spLocks noGrp="1"/>
          </p:cNvSpPr>
          <p:nvPr/>
        </p:nvSpPr>
        <p:spPr>
          <a:xfrm>
            <a:off x="7953375" y="63341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Seller Firmographics</a:t>
            </a:r>
          </a:p>
        </p:txBody>
      </p:sp>
    </p:spTree>
    <p:extLst>
      <p:ext uri="{BB962C8B-B14F-4D97-AF65-F5344CB8AC3E}">
        <p14:creationId xmlns:p14="http://schemas.microsoft.com/office/powerpoint/2010/main" val="829901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615690D2-6235-4C5E-A0C1-7D0F46503C93}"/>
              </a:ext>
            </a:extLst>
          </p:cNvPr>
          <p:cNvSpPr>
            <a:spLocks noGrp="1"/>
          </p:cNvSpPr>
          <p:nvPr/>
        </p:nvSpPr>
        <p:spPr>
          <a:xfrm>
            <a:off x="190500" y="2857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13 / SELLER PLAYS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E1CAC4A-8C6F-415F-8C3D-B9409F586A19}"/>
              </a:ext>
            </a:extLst>
          </p:cNvPr>
          <p:cNvSpPr>
            <a:spLocks noGrp="1"/>
          </p:cNvSpPr>
          <p:nvPr/>
        </p:nvSpPr>
        <p:spPr>
          <a:xfrm>
            <a:off x="190500" y="74295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3150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The same growth strategy needs three seller plays.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A45B6AB-9153-4CAB-9AF9-B3C0059C6A86}"/>
              </a:ext>
            </a:extLst>
          </p:cNvPr>
          <p:cNvSpPr>
            <a:spLocks noGrp="1"/>
          </p:cNvSpPr>
          <p:nvPr/>
        </p:nvSpPr>
        <p:spPr>
          <a:xfrm>
            <a:off x="190500" y="1685925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E5DFEA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E5DFEA"/>
                </a:solidFill>
                <a:latin typeface="DM Sans"/>
                <a:ea typeface="DM Sans"/>
                <a:cs typeface="DM Sans"/>
              </a:rPr>
              <a:t>Use the segmentation to change the product and operating response, not only the reporting view.</a:t>
            </a:r>
          </a:p>
        </p:txBody>
      </p:sp>
      <p:sp>
        <p:nvSpPr>
          <p:cNvPr id="4" name="Retângulo Arredondado 3">
            <a:extLst>
              <a:ext uri="{FF2B5EF4-FFF2-40B4-BE49-F238E27FC236}">
                <a16:creationId xmlns:a16="http://schemas.microsoft.com/office/drawing/2014/main" id="{7E3A704C-8F06-4B67-8DB2-BFDD2A195CAB}"/>
              </a:ext>
            </a:extLst>
          </p:cNvPr>
          <p:cNvSpPr>
            <a:spLocks noGrp="1"/>
          </p:cNvSpPr>
          <p:nvPr/>
        </p:nvSpPr>
        <p:spPr>
          <a:xfrm>
            <a:off x="190500" y="2571750"/>
            <a:ext cx="3476625" cy="1952625"/>
          </a:xfrm>
          <a:prstGeom prst="roundRect">
            <a:avLst>
              <a:gd name="adj" fmla="val 7805"/>
            </a:avLst>
          </a:prstGeom>
          <a:solidFill>
            <a:srgbClr val="FFE0E9"/>
          </a:solidFill>
          <a:ln w="13335">
            <a:solidFill>
              <a:srgbClr val="E958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ECAD060-8352-4172-871C-19D143D2E685}"/>
              </a:ext>
            </a:extLst>
          </p:cNvPr>
          <p:cNvSpPr>
            <a:spLocks noGrp="1"/>
          </p:cNvSpPr>
          <p:nvPr/>
        </p:nvSpPr>
        <p:spPr>
          <a:xfrm>
            <a:off x="361950" y="2733675"/>
            <a:ext cx="31337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95878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E95878"/>
                </a:solidFill>
                <a:latin typeface="DM Sans"/>
                <a:ea typeface="DM Sans"/>
                <a:cs typeface="DM Sans"/>
              </a:rPr>
              <a:t>SMALL  |  Activate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E3B63CA-1B9B-4671-A42B-1C0785A3F897}"/>
              </a:ext>
            </a:extLst>
          </p:cNvPr>
          <p:cNvSpPr>
            <a:spLocks noGrp="1"/>
          </p:cNvSpPr>
          <p:nvPr/>
        </p:nvSpPr>
        <p:spPr>
          <a:xfrm>
            <a:off x="361950" y="3076575"/>
            <a:ext cx="3133725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Reduce fragility at the first order</a:t>
            </a:r>
          </a:p>
          <a:p>
            <a:endParaRPr sz="1013" b="0">
              <a:solidFill>
                <a:srgbClr val="17131B"/>
              </a:solidFill>
              <a:latin typeface="DM Sans"/>
              <a:ea typeface="DM Sans"/>
              <a:cs typeface="DM Sans"/>
            </a:endParaRPr>
          </a:p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Give the seller a simple receiving and preparation routine.</a:t>
            </a:r>
          </a:p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Teach the few metrics that change daily decisions.</a:t>
            </a:r>
          </a:p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Fix delivery and staffing exceptions before pushing more demand.</a:t>
            </a:r>
          </a:p>
        </p:txBody>
      </p:sp>
      <p:sp>
        <p:nvSpPr>
          <p:cNvPr id="7" name="Retângulo Arredondado 6">
            <a:extLst>
              <a:ext uri="{FF2B5EF4-FFF2-40B4-BE49-F238E27FC236}">
                <a16:creationId xmlns:a16="http://schemas.microsoft.com/office/drawing/2014/main" id="{F6AE1AF3-3A50-4210-831C-7F0E468D17C8}"/>
              </a:ext>
            </a:extLst>
          </p:cNvPr>
          <p:cNvSpPr>
            <a:spLocks noGrp="1"/>
          </p:cNvSpPr>
          <p:nvPr/>
        </p:nvSpPr>
        <p:spPr>
          <a:xfrm>
            <a:off x="3857625" y="2571750"/>
            <a:ext cx="3476625" cy="1952625"/>
          </a:xfrm>
          <a:prstGeom prst="roundRect">
            <a:avLst>
              <a:gd name="adj" fmla="val 7805"/>
            </a:avLst>
          </a:prstGeom>
          <a:solidFill>
            <a:srgbClr val="FFE2DA"/>
          </a:solidFill>
          <a:ln w="13335">
            <a:solidFill>
              <a:srgbClr val="E86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FA243FA-6306-47AF-AF2C-18743395F0AB}"/>
              </a:ext>
            </a:extLst>
          </p:cNvPr>
          <p:cNvSpPr>
            <a:spLocks noGrp="1"/>
          </p:cNvSpPr>
          <p:nvPr/>
        </p:nvSpPr>
        <p:spPr>
          <a:xfrm>
            <a:off x="4029075" y="2733675"/>
            <a:ext cx="31337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86A4A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E86A4A"/>
                </a:solidFill>
                <a:latin typeface="DM Sans"/>
                <a:ea typeface="DM Sans"/>
                <a:cs typeface="DM Sans"/>
              </a:rPr>
              <a:t>MEDIUM  |  Standardize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4F53DC5-9D59-4804-8D64-1FCDD492AA92}"/>
              </a:ext>
            </a:extLst>
          </p:cNvPr>
          <p:cNvSpPr>
            <a:spLocks noGrp="1"/>
          </p:cNvSpPr>
          <p:nvPr/>
        </p:nvSpPr>
        <p:spPr>
          <a:xfrm>
            <a:off x="4029075" y="3076575"/>
            <a:ext cx="3133725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Make growth repeatable</a:t>
            </a:r>
          </a:p>
          <a:p>
            <a:endParaRPr sz="1013" b="0">
              <a:solidFill>
                <a:srgbClr val="17131B"/>
              </a:solidFill>
              <a:latin typeface="DM Sans"/>
              <a:ea typeface="DM Sans"/>
              <a:cs typeface="DM Sans"/>
            </a:endParaRPr>
          </a:p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Turn metric review into an owner, root cause and next action.</a:t>
            </a:r>
          </a:p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Reduce manual work and recurring exceptions.</a:t>
            </a:r>
          </a:p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Create a clear path from stable volume to the next scale band.</a:t>
            </a:r>
          </a:p>
        </p:txBody>
      </p:sp>
      <p:sp>
        <p:nvSpPr>
          <p:cNvPr id="10" name="Retângulo Arredondado 9">
            <a:extLst>
              <a:ext uri="{FF2B5EF4-FFF2-40B4-BE49-F238E27FC236}">
                <a16:creationId xmlns:a16="http://schemas.microsoft.com/office/drawing/2014/main" id="{2EF7CD05-C3C0-49C1-94DC-F17EB587F16D}"/>
              </a:ext>
            </a:extLst>
          </p:cNvPr>
          <p:cNvSpPr>
            <a:spLocks noGrp="1"/>
          </p:cNvSpPr>
          <p:nvPr/>
        </p:nvSpPr>
        <p:spPr>
          <a:xfrm>
            <a:off x="7524750" y="2571750"/>
            <a:ext cx="3476625" cy="1952625"/>
          </a:xfrm>
          <a:prstGeom prst="roundRect">
            <a:avLst>
              <a:gd name="adj" fmla="val 7805"/>
            </a:avLst>
          </a:prstGeom>
          <a:solidFill>
            <a:srgbClr val="EAD9FF"/>
          </a:solidFill>
          <a:ln w="13335">
            <a:solidFill>
              <a:srgbClr val="9147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E2B159C-0458-4DBA-88AE-E2E75F83B0A0}"/>
              </a:ext>
            </a:extLst>
          </p:cNvPr>
          <p:cNvSpPr>
            <a:spLocks noGrp="1"/>
          </p:cNvSpPr>
          <p:nvPr/>
        </p:nvSpPr>
        <p:spPr>
          <a:xfrm>
            <a:off x="7696200" y="2733675"/>
            <a:ext cx="31337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LARGE  |  Protect and expand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B1CB8ED-0967-4849-B08F-0C3F8DA0CA75}"/>
              </a:ext>
            </a:extLst>
          </p:cNvPr>
          <p:cNvSpPr>
            <a:spLocks noGrp="1"/>
          </p:cNvSpPr>
          <p:nvPr/>
        </p:nvSpPr>
        <p:spPr>
          <a:xfrm>
            <a:off x="7696200" y="3076575"/>
            <a:ext cx="3133725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Keep high-volume sellers reliable</a:t>
            </a:r>
          </a:p>
          <a:p>
            <a:endParaRPr sz="1013" b="0">
              <a:solidFill>
                <a:srgbClr val="17131B"/>
              </a:solidFill>
              <a:latin typeface="DM Sans"/>
              <a:ea typeface="DM Sans"/>
              <a:cs typeface="DM Sans"/>
            </a:endParaRPr>
          </a:p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Use advanced metrics and early-warning escalation.</a:t>
            </a:r>
          </a:p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Plan capacity and service jointly with anchors.</a:t>
            </a:r>
          </a:p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Give strategic sellers a structured feedback path into the roadmap.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F54BC67-AAFD-4DEF-8FF9-47E731029A97}"/>
              </a:ext>
            </a:extLst>
          </p:cNvPr>
          <p:cNvSpPr>
            <a:spLocks noGrp="1"/>
          </p:cNvSpPr>
          <p:nvPr/>
        </p:nvSpPr>
        <p:spPr>
          <a:xfrm>
            <a:off x="190500" y="5095875"/>
            <a:ext cx="10763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Product implication → One seller dashboard can serve all three plays when it changes the level of explanation, support and escalation by segment.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F01BD68-F428-4CFA-9E88-A18991A12B05}"/>
              </a:ext>
            </a:extLst>
          </p:cNvPr>
          <p:cNvSpPr>
            <a:spLocks noGrp="1"/>
          </p:cNvSpPr>
          <p:nvPr/>
        </p:nvSpPr>
        <p:spPr>
          <a:xfrm>
            <a:off x="2095500" y="6372225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Seller Firmographics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3276722-55F8-4CAE-BB9B-28ADDE4BBF9E}"/>
              </a:ext>
            </a:extLst>
          </p:cNvPr>
          <p:cNvSpPr>
            <a:spLocks noGrp="1"/>
          </p:cNvSpPr>
          <p:nvPr/>
        </p:nvSpPr>
        <p:spPr>
          <a:xfrm>
            <a:off x="6019800" y="6372225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13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974B857-52D6-4199-8EBA-3C612D5CBF4F}"/>
              </a:ext>
            </a:extLst>
          </p:cNvPr>
          <p:cNvSpPr>
            <a:spLocks noGrp="1"/>
          </p:cNvSpPr>
          <p:nvPr/>
        </p:nvSpPr>
        <p:spPr>
          <a:xfrm>
            <a:off x="7962900" y="637222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TaDa Growth Strategy 2027</a:t>
            </a:r>
          </a:p>
        </p:txBody>
      </p:sp>
    </p:spTree>
    <p:extLst>
      <p:ext uri="{BB962C8B-B14F-4D97-AF65-F5344CB8AC3E}">
        <p14:creationId xmlns:p14="http://schemas.microsoft.com/office/powerpoint/2010/main" val="559228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>
            <a:extLst>
              <a:ext uri="{FF2B5EF4-FFF2-40B4-BE49-F238E27FC236}">
                <a16:creationId xmlns:a16="http://schemas.microsoft.com/office/drawing/2014/main" id="{E6227131-40F1-48C7-989C-8CFFC15B12FB}"/>
              </a:ext>
            </a:extLst>
          </p:cNvPr>
          <p:cNvSpPr>
            <a:spLocks noGrp="1"/>
          </p:cNvSpPr>
          <p:nvPr/>
        </p:nvSpPr>
        <p:spPr>
          <a:xfrm>
            <a:off x="190500" y="228600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23 / APPENDIX · SELLER VOICE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E34913F-C879-43F9-AD5D-CAEA565FA4F5}"/>
              </a:ext>
            </a:extLst>
          </p:cNvPr>
          <p:cNvSpPr>
            <a:spLocks noGrp="1"/>
          </p:cNvSpPr>
          <p:nvPr/>
        </p:nvSpPr>
        <p:spPr>
          <a:xfrm>
            <a:off x="190500" y="533400"/>
            <a:ext cx="1143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What sellers are saying in their own words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685045B-67E2-4D0B-8BEE-FF6CF9A7EC1C}"/>
              </a:ext>
            </a:extLst>
          </p:cNvPr>
          <p:cNvSpPr>
            <a:spLocks noGrp="1"/>
          </p:cNvSpPr>
          <p:nvPr/>
        </p:nvSpPr>
        <p:spPr>
          <a:xfrm>
            <a:off x="190500" y="1219200"/>
            <a:ext cx="1123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16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Representative excerpts from the open-ended question. Spanish is preserved; excerpts are lightly shortened for readability and contain no seller IDs.</a:t>
            </a:r>
          </a:p>
        </p:txBody>
      </p:sp>
      <p:sp>
        <p:nvSpPr>
          <p:cNvPr id="4" name="Retângulo Arredondado 3">
            <a:extLst>
              <a:ext uri="{FF2B5EF4-FFF2-40B4-BE49-F238E27FC236}">
                <a16:creationId xmlns:a16="http://schemas.microsoft.com/office/drawing/2014/main" id="{D91D6BF0-A5F3-4EDC-89AA-86AAF8BB2E62}"/>
              </a:ext>
            </a:extLst>
          </p:cNvPr>
          <p:cNvSpPr>
            <a:spLocks noGrp="1"/>
          </p:cNvSpPr>
          <p:nvPr/>
        </p:nvSpPr>
        <p:spPr>
          <a:xfrm>
            <a:off x="190500" y="1809750"/>
            <a:ext cx="5334000" cy="1571625"/>
          </a:xfrm>
          <a:prstGeom prst="roundRect">
            <a:avLst>
              <a:gd name="adj" fmla="val 9697"/>
            </a:avLst>
          </a:prstGeom>
          <a:solidFill>
            <a:srgbClr val="FFE0E9"/>
          </a:solidFill>
          <a:ln w="12383">
            <a:solidFill>
              <a:srgbClr val="E958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CA2C99A-4A4F-414B-9146-27167C70A734}"/>
              </a:ext>
            </a:extLst>
          </p:cNvPr>
          <p:cNvSpPr>
            <a:spLocks noGrp="1"/>
          </p:cNvSpPr>
          <p:nvPr/>
        </p:nvSpPr>
        <p:spPr>
          <a:xfrm>
            <a:off x="381000" y="20002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E95878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E95878"/>
                </a:solidFill>
                <a:latin typeface="DM Sans"/>
                <a:ea typeface="DM Sans"/>
                <a:cs typeface="DM Sans"/>
              </a:rPr>
              <a:t>SERVICE + GROWTH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2C19403-91A7-4AC3-890A-CF522A167205}"/>
              </a:ext>
            </a:extLst>
          </p:cNvPr>
          <p:cNvSpPr>
            <a:spLocks noGrp="1"/>
          </p:cNvSpPr>
          <p:nvPr/>
        </p:nvSpPr>
        <p:spPr>
          <a:xfrm>
            <a:off x="381000" y="2333625"/>
            <a:ext cx="495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“Mejorar el tiempo de entrega y ofrecer un mejor servicio al cliente… conseguir crecer nuestra zona.”</a:t>
            </a:r>
          </a:p>
        </p:txBody>
      </p:sp>
      <p:sp>
        <p:nvSpPr>
          <p:cNvPr id="7" name="Retângulo Arredondado 6">
            <a:extLst>
              <a:ext uri="{FF2B5EF4-FFF2-40B4-BE49-F238E27FC236}">
                <a16:creationId xmlns:a16="http://schemas.microsoft.com/office/drawing/2014/main" id="{01075354-0CEB-4248-992F-C985054F1E5B}"/>
              </a:ext>
            </a:extLst>
          </p:cNvPr>
          <p:cNvSpPr>
            <a:spLocks noGrp="1"/>
          </p:cNvSpPr>
          <p:nvPr/>
        </p:nvSpPr>
        <p:spPr>
          <a:xfrm>
            <a:off x="5905500" y="1809750"/>
            <a:ext cx="5334000" cy="1571625"/>
          </a:xfrm>
          <a:prstGeom prst="roundRect">
            <a:avLst>
              <a:gd name="adj" fmla="val 9697"/>
            </a:avLst>
          </a:prstGeom>
          <a:solidFill>
            <a:srgbClr val="FFE2DA"/>
          </a:solidFill>
          <a:ln w="12383">
            <a:solidFill>
              <a:srgbClr val="E86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487D71E-B125-4B49-ABC3-E9B7AF8C420B}"/>
              </a:ext>
            </a:extLst>
          </p:cNvPr>
          <p:cNvSpPr>
            <a:spLocks noGrp="1"/>
          </p:cNvSpPr>
          <p:nvPr/>
        </p:nvSpPr>
        <p:spPr>
          <a:xfrm>
            <a:off x="6096000" y="20002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E86A4A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E86A4A"/>
                </a:solidFill>
                <a:latin typeface="DM Sans"/>
                <a:ea typeface="DM Sans"/>
                <a:cs typeface="DM Sans"/>
              </a:rPr>
              <a:t>ADDRESS + CANCELLATIONS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7EB972C-3772-41A9-8B13-732350AFD6EC}"/>
              </a:ext>
            </a:extLst>
          </p:cNvPr>
          <p:cNvSpPr>
            <a:spLocks noGrp="1"/>
          </p:cNvSpPr>
          <p:nvPr/>
        </p:nvSpPr>
        <p:spPr>
          <a:xfrm>
            <a:off x="6096000" y="2333625"/>
            <a:ext cx="495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“La app no actualiza automáticamente la ubicación del cliente… muchas direcciones son erróneas.”</a:t>
            </a:r>
          </a:p>
        </p:txBody>
      </p:sp>
      <p:sp>
        <p:nvSpPr>
          <p:cNvPr id="10" name="Retângulo Arredondado 9">
            <a:extLst>
              <a:ext uri="{FF2B5EF4-FFF2-40B4-BE49-F238E27FC236}">
                <a16:creationId xmlns:a16="http://schemas.microsoft.com/office/drawing/2014/main" id="{D1A5A7E0-B067-4779-9A55-3FEF2D1595EF}"/>
              </a:ext>
            </a:extLst>
          </p:cNvPr>
          <p:cNvSpPr>
            <a:spLocks noGrp="1"/>
          </p:cNvSpPr>
          <p:nvPr/>
        </p:nvSpPr>
        <p:spPr>
          <a:xfrm>
            <a:off x="190500" y="3762375"/>
            <a:ext cx="5334000" cy="1571625"/>
          </a:xfrm>
          <a:prstGeom prst="roundRect">
            <a:avLst>
              <a:gd name="adj" fmla="val 9697"/>
            </a:avLst>
          </a:prstGeom>
          <a:solidFill>
            <a:srgbClr val="E5E8FF"/>
          </a:solidFill>
          <a:ln w="12383">
            <a:solidFill>
              <a:srgbClr val="5E6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C6346DE-5F47-4E16-AC94-B3B818F8A458}"/>
              </a:ext>
            </a:extLst>
          </p:cNvPr>
          <p:cNvSpPr>
            <a:spLocks noGrp="1"/>
          </p:cNvSpPr>
          <p:nvPr/>
        </p:nvSpPr>
        <p:spPr>
          <a:xfrm>
            <a:off x="381000" y="39528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5E6BE8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5E6BE8"/>
                </a:solidFill>
                <a:latin typeface="DM Sans"/>
                <a:ea typeface="DM Sans"/>
                <a:cs typeface="DM Sans"/>
              </a:rPr>
              <a:t>METRIC INCENTIVES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6A0F1BD-5F64-4613-8B87-0479CDEE39B8}"/>
              </a:ext>
            </a:extLst>
          </p:cNvPr>
          <p:cNvSpPr>
            <a:spLocks noGrp="1"/>
          </p:cNvSpPr>
          <p:nvPr/>
        </p:nvSpPr>
        <p:spPr>
          <a:xfrm>
            <a:off x="381000" y="4286250"/>
            <a:ext cx="495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“Cumplir con todas las métricas para poder recibir incentivo operativo.”</a:t>
            </a:r>
          </a:p>
        </p:txBody>
      </p:sp>
      <p:sp>
        <p:nvSpPr>
          <p:cNvPr id="13" name="Retângulo Arredondado 12">
            <a:extLst>
              <a:ext uri="{FF2B5EF4-FFF2-40B4-BE49-F238E27FC236}">
                <a16:creationId xmlns:a16="http://schemas.microsoft.com/office/drawing/2014/main" id="{5F21C1F9-B9BC-4E46-9316-B186C4DCE2A6}"/>
              </a:ext>
            </a:extLst>
          </p:cNvPr>
          <p:cNvSpPr>
            <a:spLocks noGrp="1"/>
          </p:cNvSpPr>
          <p:nvPr/>
        </p:nvSpPr>
        <p:spPr>
          <a:xfrm>
            <a:off x="5905500" y="3762375"/>
            <a:ext cx="5334000" cy="1571625"/>
          </a:xfrm>
          <a:prstGeom prst="roundRect">
            <a:avLst>
              <a:gd name="adj" fmla="val 9697"/>
            </a:avLst>
          </a:prstGeom>
          <a:solidFill>
            <a:srgbClr val="EAD9FF"/>
          </a:solidFill>
          <a:ln w="12383">
            <a:solidFill>
              <a:srgbClr val="9147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0A7DBB8-8EA0-4CC5-A764-0F7488F14D9A}"/>
              </a:ext>
            </a:extLst>
          </p:cNvPr>
          <p:cNvSpPr>
            <a:spLocks noGrp="1"/>
          </p:cNvSpPr>
          <p:nvPr/>
        </p:nvSpPr>
        <p:spPr>
          <a:xfrm>
            <a:off x="6096000" y="39528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CAPACITY + SUPPLY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03D464F-212E-4C8E-B417-D36D6D1584D4}"/>
              </a:ext>
            </a:extLst>
          </p:cNvPr>
          <p:cNvSpPr>
            <a:spLocks noGrp="1"/>
          </p:cNvSpPr>
          <p:nvPr/>
        </p:nvSpPr>
        <p:spPr>
          <a:xfrm>
            <a:off x="6096000" y="4286250"/>
            <a:ext cx="495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“Tener la flotilla de repartos y el desabasto por parte de Corona.”</a:t>
            </a:r>
          </a:p>
        </p:txBody>
      </p:sp>
      <p:sp>
        <p:nvSpPr>
          <p:cNvPr id="16" name="Retângulo Arredondado 15">
            <a:extLst>
              <a:ext uri="{FF2B5EF4-FFF2-40B4-BE49-F238E27FC236}">
                <a16:creationId xmlns:a16="http://schemas.microsoft.com/office/drawing/2014/main" id="{8644650E-5011-4D91-950F-B89EB3242917}"/>
              </a:ext>
            </a:extLst>
          </p:cNvPr>
          <p:cNvSpPr>
            <a:spLocks noGrp="1"/>
          </p:cNvSpPr>
          <p:nvPr/>
        </p:nvSpPr>
        <p:spPr>
          <a:xfrm>
            <a:off x="190500" y="5676900"/>
            <a:ext cx="11811000" cy="371475"/>
          </a:xfrm>
          <a:prstGeom prst="roundRect">
            <a:avLst>
              <a:gd name="adj" fmla="val 30769"/>
            </a:avLst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17705E3-BCC0-4EE2-B904-EA89A7E60FC5}"/>
              </a:ext>
            </a:extLst>
          </p:cNvPr>
          <p:cNvSpPr>
            <a:spLocks noGrp="1"/>
          </p:cNvSpPr>
          <p:nvPr/>
        </p:nvSpPr>
        <p:spPr>
          <a:xfrm>
            <a:off x="361950" y="5762625"/>
            <a:ext cx="1143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Seller signal → Growth is inseparable from execution: more zone, inventory and orders only help when delivery, staffing and metric clarity hold together.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EE4FC42E-3C7F-412F-9A70-163B9BE2E41F}"/>
              </a:ext>
            </a:extLst>
          </p:cNvPr>
          <p:cNvSpPr>
            <a:spLocks noGrp="1"/>
          </p:cNvSpPr>
          <p:nvPr/>
        </p:nvSpPr>
        <p:spPr>
          <a:xfrm>
            <a:off x="190500" y="6200775"/>
            <a:ext cx="11811000" cy="0"/>
          </a:xfrm>
          <a:prstGeom prst="line">
            <a:avLst/>
          </a:prstGeom>
          <a:ln w="9525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CB749DBD-116E-439D-BF8A-0FA2D80977BB}"/>
              </a:ext>
            </a:extLst>
          </p:cNvPr>
          <p:cNvSpPr>
            <a:spLocks noGrp="1"/>
          </p:cNvSpPr>
          <p:nvPr/>
        </p:nvSpPr>
        <p:spPr>
          <a:xfrm>
            <a:off x="190500" y="633412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Ta-Da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8A0C0D10-7850-4F0E-85A5-4441D8FA5E1B}"/>
              </a:ext>
            </a:extLst>
          </p:cNvPr>
          <p:cNvSpPr>
            <a:spLocks noGrp="1"/>
          </p:cNvSpPr>
          <p:nvPr/>
        </p:nvSpPr>
        <p:spPr>
          <a:xfrm>
            <a:off x="5810250" y="633412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23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B5A282D5-81A2-4D9D-9D60-23AB2470C7D3}"/>
              </a:ext>
            </a:extLst>
          </p:cNvPr>
          <p:cNvSpPr>
            <a:spLocks noGrp="1"/>
          </p:cNvSpPr>
          <p:nvPr/>
        </p:nvSpPr>
        <p:spPr>
          <a:xfrm>
            <a:off x="7953375" y="63341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Appendix · Voices</a:t>
            </a:r>
          </a:p>
        </p:txBody>
      </p:sp>
    </p:spTree>
    <p:extLst>
      <p:ext uri="{BB962C8B-B14F-4D97-AF65-F5344CB8AC3E}">
        <p14:creationId xmlns:p14="http://schemas.microsoft.com/office/powerpoint/2010/main" val="413266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4702E-DCBF-69DD-8184-E068663F3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 22">
            <a:extLst>
              <a:ext uri="{FF2B5EF4-FFF2-40B4-BE49-F238E27FC236}">
                <a16:creationId xmlns:a16="http://schemas.microsoft.com/office/drawing/2014/main" id="{572ED8AD-F36F-CA5A-CBA8-A1CDFCEC4A2A}"/>
              </a:ext>
            </a:extLst>
          </p:cNvPr>
          <p:cNvSpPr>
            <a:spLocks noGrp="1"/>
          </p:cNvSpPr>
          <p:nvPr/>
        </p:nvSpPr>
        <p:spPr>
          <a:xfrm>
            <a:off x="190500" y="228600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21 / STORE INSIGHTS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94C8D035-6B64-22B9-B6AE-D2CF568ED6C9}"/>
              </a:ext>
            </a:extLst>
          </p:cNvPr>
          <p:cNvSpPr>
            <a:spLocks noGrp="1"/>
          </p:cNvSpPr>
          <p:nvPr/>
        </p:nvSpPr>
        <p:spPr>
          <a:xfrm>
            <a:off x="190500" y="533400"/>
            <a:ext cx="1143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The store data points to four different decisions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F3C43D76-1455-7FFC-4A9E-0F4F15D45448}"/>
              </a:ext>
            </a:extLst>
          </p:cNvPr>
          <p:cNvSpPr>
            <a:spLocks noGrp="1"/>
          </p:cNvSpPr>
          <p:nvPr/>
        </p:nvSpPr>
        <p:spPr>
          <a:xfrm>
            <a:off x="190500" y="1219200"/>
            <a:ext cx="1123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16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Crossing value, scale, maturity, platform dependence and operating signals makes the clusters useful for prioritization.</a:t>
            </a:r>
          </a:p>
        </p:txBody>
      </p:sp>
      <p:sp>
        <p:nvSpPr>
          <p:cNvPr id="26" name="Retângulo Arredondado 25">
            <a:extLst>
              <a:ext uri="{FF2B5EF4-FFF2-40B4-BE49-F238E27FC236}">
                <a16:creationId xmlns:a16="http://schemas.microsoft.com/office/drawing/2014/main" id="{D7A89526-E623-2ACB-95B1-CD07A5F27FD3}"/>
              </a:ext>
            </a:extLst>
          </p:cNvPr>
          <p:cNvSpPr>
            <a:spLocks noGrp="1"/>
          </p:cNvSpPr>
          <p:nvPr/>
        </p:nvSpPr>
        <p:spPr>
          <a:xfrm>
            <a:off x="190500" y="1809750"/>
            <a:ext cx="5619750" cy="1619250"/>
          </a:xfrm>
          <a:prstGeom prst="roundRect">
            <a:avLst>
              <a:gd name="adj" fmla="val 9412"/>
            </a:avLst>
          </a:prstGeom>
          <a:solidFill>
            <a:srgbClr val="FFE0E9"/>
          </a:solidFill>
          <a:ln w="13335">
            <a:solidFill>
              <a:srgbClr val="E958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94CB0660-71E9-0780-F809-9D5EB8DC034D}"/>
              </a:ext>
            </a:extLst>
          </p:cNvPr>
          <p:cNvSpPr>
            <a:spLocks noGrp="1"/>
          </p:cNvSpPr>
          <p:nvPr/>
        </p:nvSpPr>
        <p:spPr>
          <a:xfrm>
            <a:off x="361950" y="1971675"/>
            <a:ext cx="5276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95878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E95878"/>
                </a:solidFill>
                <a:latin typeface="DM Sans"/>
                <a:ea typeface="DM Sans"/>
                <a:cs typeface="DM Sans"/>
              </a:rPr>
              <a:t>01  Value sits with large, experienced sellers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3DA8C6CE-8479-B843-5557-04E5D993250F}"/>
              </a:ext>
            </a:extLst>
          </p:cNvPr>
          <p:cNvSpPr>
            <a:spLocks noGrp="1"/>
          </p:cNvSpPr>
          <p:nvPr/>
        </p:nvSpPr>
        <p:spPr>
          <a:xfrm>
            <a:off x="361950" y="2314575"/>
            <a:ext cx="52768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49 Large anchors (15%) generate about 35.4% of estimated weekly value in the matched sample.</a:t>
            </a:r>
          </a:p>
        </p:txBody>
      </p:sp>
      <p:sp>
        <p:nvSpPr>
          <p:cNvPr id="29" name="Retângulo Arredondado 28">
            <a:extLst>
              <a:ext uri="{FF2B5EF4-FFF2-40B4-BE49-F238E27FC236}">
                <a16:creationId xmlns:a16="http://schemas.microsoft.com/office/drawing/2014/main" id="{3B2CF073-4ACD-9DD8-CDA5-1F8294ACE785}"/>
              </a:ext>
            </a:extLst>
          </p:cNvPr>
          <p:cNvSpPr>
            <a:spLocks noGrp="1"/>
          </p:cNvSpPr>
          <p:nvPr/>
        </p:nvSpPr>
        <p:spPr>
          <a:xfrm>
            <a:off x="6191250" y="1809750"/>
            <a:ext cx="5619750" cy="1619250"/>
          </a:xfrm>
          <a:prstGeom prst="roundRect">
            <a:avLst>
              <a:gd name="adj" fmla="val 9412"/>
            </a:avLst>
          </a:prstGeom>
          <a:solidFill>
            <a:srgbClr val="FFE2DA"/>
          </a:solidFill>
          <a:ln w="13335">
            <a:solidFill>
              <a:srgbClr val="E86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6B10A0FA-E31C-05EA-E16B-F374BC96C131}"/>
              </a:ext>
            </a:extLst>
          </p:cNvPr>
          <p:cNvSpPr>
            <a:spLocks noGrp="1"/>
          </p:cNvSpPr>
          <p:nvPr/>
        </p:nvSpPr>
        <p:spPr>
          <a:xfrm>
            <a:off x="6362700" y="1971675"/>
            <a:ext cx="5276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86A4A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E86A4A"/>
                </a:solidFill>
                <a:latin typeface="DM Sans"/>
                <a:ea typeface="DM Sans"/>
                <a:cs typeface="DM Sans"/>
              </a:rPr>
              <a:t>02  Small discovery is the activation pool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B8305F26-2AFB-F3F5-52BC-6BBF3AAE5AF4}"/>
              </a:ext>
            </a:extLst>
          </p:cNvPr>
          <p:cNvSpPr>
            <a:spLocks noGrp="1"/>
          </p:cNvSpPr>
          <p:nvPr/>
        </p:nvSpPr>
        <p:spPr>
          <a:xfrm>
            <a:off x="6362700" y="2314575"/>
            <a:ext cx="52768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85 sellers (26%) represent only 6.1% of estimated weekly value, with 3.86/5 satisfaction, 2.92/8 metrics known and 22.0 min delivery.</a:t>
            </a:r>
          </a:p>
        </p:txBody>
      </p:sp>
      <p:sp>
        <p:nvSpPr>
          <p:cNvPr id="32" name="Retângulo Arredondado 31">
            <a:extLst>
              <a:ext uri="{FF2B5EF4-FFF2-40B4-BE49-F238E27FC236}">
                <a16:creationId xmlns:a16="http://schemas.microsoft.com/office/drawing/2014/main" id="{0A19088D-0B27-8189-787B-466D12D28711}"/>
              </a:ext>
            </a:extLst>
          </p:cNvPr>
          <p:cNvSpPr>
            <a:spLocks noGrp="1"/>
          </p:cNvSpPr>
          <p:nvPr/>
        </p:nvSpPr>
        <p:spPr>
          <a:xfrm>
            <a:off x="190500" y="3667125"/>
            <a:ext cx="5619750" cy="1619250"/>
          </a:xfrm>
          <a:prstGeom prst="roundRect">
            <a:avLst>
              <a:gd name="adj" fmla="val 9412"/>
            </a:avLst>
          </a:prstGeom>
          <a:solidFill>
            <a:srgbClr val="E5E8FF"/>
          </a:solidFill>
          <a:ln w="13335">
            <a:solidFill>
              <a:srgbClr val="5E6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D9860038-FA0B-C208-9F55-7ECF92DEC75B}"/>
              </a:ext>
            </a:extLst>
          </p:cNvPr>
          <p:cNvSpPr>
            <a:spLocks noGrp="1"/>
          </p:cNvSpPr>
          <p:nvPr/>
        </p:nvSpPr>
        <p:spPr>
          <a:xfrm>
            <a:off x="361950" y="3829050"/>
            <a:ext cx="5276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5E6BE8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5E6BE8"/>
                </a:solidFill>
                <a:latin typeface="DM Sans"/>
                <a:ea typeface="DM Sans"/>
                <a:cs typeface="DM Sans"/>
              </a:rPr>
              <a:t>03  TaDa dependence rises with scale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ECE6FFA8-0EE7-0D63-3726-00FD271D929E}"/>
              </a:ext>
            </a:extLst>
          </p:cNvPr>
          <p:cNvSpPr>
            <a:spLocks noGrp="1"/>
          </p:cNvSpPr>
          <p:nvPr/>
        </p:nvSpPr>
        <p:spPr>
          <a:xfrm>
            <a:off x="361950" y="4171950"/>
            <a:ext cx="52768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Only 19.8% of Small sellers say TaDa represents more than half of their sales, versus 74.0% of Large sellers. The commercial play should change by scale.</a:t>
            </a:r>
          </a:p>
        </p:txBody>
      </p:sp>
      <p:sp>
        <p:nvSpPr>
          <p:cNvPr id="35" name="Retângulo Arredondado 34">
            <a:extLst>
              <a:ext uri="{FF2B5EF4-FFF2-40B4-BE49-F238E27FC236}">
                <a16:creationId xmlns:a16="http://schemas.microsoft.com/office/drawing/2014/main" id="{D604C2F0-93B4-92F3-27D6-1A243E1E1E93}"/>
              </a:ext>
            </a:extLst>
          </p:cNvPr>
          <p:cNvSpPr>
            <a:spLocks noGrp="1"/>
          </p:cNvSpPr>
          <p:nvPr/>
        </p:nvSpPr>
        <p:spPr>
          <a:xfrm>
            <a:off x="6191250" y="3667125"/>
            <a:ext cx="5619750" cy="1619250"/>
          </a:xfrm>
          <a:prstGeom prst="roundRect">
            <a:avLst>
              <a:gd name="adj" fmla="val 9412"/>
            </a:avLst>
          </a:prstGeom>
          <a:solidFill>
            <a:srgbClr val="EAD9FF"/>
          </a:solidFill>
          <a:ln w="13335">
            <a:solidFill>
              <a:srgbClr val="9147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31105E5E-59B3-08B4-EA8F-7990918B38FF}"/>
              </a:ext>
            </a:extLst>
          </p:cNvPr>
          <p:cNvSpPr>
            <a:spLocks noGrp="1"/>
          </p:cNvSpPr>
          <p:nvPr/>
        </p:nvSpPr>
        <p:spPr>
          <a:xfrm>
            <a:off x="6362700" y="3829050"/>
            <a:ext cx="5276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04  Operational risk is visible before churn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13CCE599-80FF-2A6F-F80E-784D2AB4ADED}"/>
              </a:ext>
            </a:extLst>
          </p:cNvPr>
          <p:cNvSpPr>
            <a:spLocks noGrp="1"/>
          </p:cNvSpPr>
          <p:nvPr/>
        </p:nvSpPr>
        <p:spPr>
          <a:xfrm>
            <a:off x="6362700" y="4171950"/>
            <a:ext cx="52768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The highest-cancellation quartile averages 23.2 min delivery, 3.64 metrics known and 4.10 satisfaction. The lowest quartile averages 17.3 min, 4.35 metrics and 4.46 satisfaction.</a:t>
            </a:r>
          </a:p>
        </p:txBody>
      </p:sp>
      <p:sp>
        <p:nvSpPr>
          <p:cNvPr id="38" name="Retângulo Arredondado 37">
            <a:extLst>
              <a:ext uri="{FF2B5EF4-FFF2-40B4-BE49-F238E27FC236}">
                <a16:creationId xmlns:a16="http://schemas.microsoft.com/office/drawing/2014/main" id="{78D9A6F5-0D87-4A2B-5394-2F19A4FE508B}"/>
              </a:ext>
            </a:extLst>
          </p:cNvPr>
          <p:cNvSpPr>
            <a:spLocks noGrp="1"/>
          </p:cNvSpPr>
          <p:nvPr/>
        </p:nvSpPr>
        <p:spPr>
          <a:xfrm>
            <a:off x="190500" y="5676900"/>
            <a:ext cx="11811000" cy="371475"/>
          </a:xfrm>
          <a:prstGeom prst="roundRect">
            <a:avLst>
              <a:gd name="adj" fmla="val 30769"/>
            </a:avLst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AE59FC5B-7F6D-4395-ED27-84B0FBEB08CC}"/>
              </a:ext>
            </a:extLst>
          </p:cNvPr>
          <p:cNvSpPr>
            <a:spLocks noGrp="1"/>
          </p:cNvSpPr>
          <p:nvPr/>
        </p:nvSpPr>
        <p:spPr>
          <a:xfrm>
            <a:off x="361950" y="5762625"/>
            <a:ext cx="1143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Data note → Estimated weekly value uses average order value × orders/week. It is a prioritization proxy, not reported accounting GMV.</a:t>
            </a:r>
          </a:p>
        </p:txBody>
      </p:sp>
      <p:sp>
        <p:nvSpPr>
          <p:cNvPr id="40" name="Conector Reto 39">
            <a:extLst>
              <a:ext uri="{FF2B5EF4-FFF2-40B4-BE49-F238E27FC236}">
                <a16:creationId xmlns:a16="http://schemas.microsoft.com/office/drawing/2014/main" id="{828ED879-F43A-6CD0-195B-E78690092719}"/>
              </a:ext>
            </a:extLst>
          </p:cNvPr>
          <p:cNvSpPr>
            <a:spLocks noGrp="1"/>
          </p:cNvSpPr>
          <p:nvPr/>
        </p:nvSpPr>
        <p:spPr>
          <a:xfrm>
            <a:off x="190500" y="6200775"/>
            <a:ext cx="11811000" cy="0"/>
          </a:xfrm>
          <a:prstGeom prst="line">
            <a:avLst/>
          </a:prstGeom>
          <a:ln w="9525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8A8105BC-6EF0-B671-6673-9733EF60143F}"/>
              </a:ext>
            </a:extLst>
          </p:cNvPr>
          <p:cNvSpPr>
            <a:spLocks noGrp="1"/>
          </p:cNvSpPr>
          <p:nvPr/>
        </p:nvSpPr>
        <p:spPr>
          <a:xfrm>
            <a:off x="190500" y="633412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Ta-Da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259A8B0A-A668-9D92-5B8C-6D3F369A2BE7}"/>
              </a:ext>
            </a:extLst>
          </p:cNvPr>
          <p:cNvSpPr>
            <a:spLocks noGrp="1"/>
          </p:cNvSpPr>
          <p:nvPr/>
        </p:nvSpPr>
        <p:spPr>
          <a:xfrm>
            <a:off x="5810250" y="633412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21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E7C13C58-9D00-250C-6DAD-078DEC094234}"/>
              </a:ext>
            </a:extLst>
          </p:cNvPr>
          <p:cNvSpPr>
            <a:spLocks noGrp="1"/>
          </p:cNvSpPr>
          <p:nvPr/>
        </p:nvSpPr>
        <p:spPr>
          <a:xfrm>
            <a:off x="7953375" y="63341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Seller Insights</a:t>
            </a:r>
          </a:p>
        </p:txBody>
      </p:sp>
    </p:spTree>
    <p:extLst>
      <p:ext uri="{BB962C8B-B14F-4D97-AF65-F5344CB8AC3E}">
        <p14:creationId xmlns:p14="http://schemas.microsoft.com/office/powerpoint/2010/main" val="444725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4CEB54-46B2-D821-1891-7959F3F55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CB3ADAD0-5C4B-4EB1-29E7-EC48EB0DF924}"/>
              </a:ext>
            </a:extLst>
          </p:cNvPr>
          <p:cNvSpPr>
            <a:spLocks noGrp="1"/>
          </p:cNvSpPr>
          <p:nvPr/>
        </p:nvSpPr>
        <p:spPr>
          <a:xfrm>
            <a:off x="190500" y="28575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22 / PRIORITIZATION MATRIX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D5E9616A-B9B9-EE94-1A86-4B7CD49AFF81}"/>
              </a:ext>
            </a:extLst>
          </p:cNvPr>
          <p:cNvSpPr>
            <a:spLocks noGrp="1"/>
          </p:cNvSpPr>
          <p:nvPr/>
        </p:nvSpPr>
        <p:spPr>
          <a:xfrm>
            <a:off x="190500" y="7239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3150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Prioritize stores by value and operational risk.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0F70E486-8D06-B83C-307F-9E8F1AA379CD}"/>
              </a:ext>
            </a:extLst>
          </p:cNvPr>
          <p:cNvSpPr>
            <a:spLocks noGrp="1"/>
          </p:cNvSpPr>
          <p:nvPr/>
        </p:nvSpPr>
        <p:spPr>
          <a:xfrm>
            <a:off x="195564" y="1304925"/>
            <a:ext cx="1066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E5DFEA"/>
                </a:solidFill>
                <a:latin typeface="DM Sans"/>
                <a:ea typeface="DM Sans"/>
                <a:cs typeface="DM Sans"/>
              </a:defRPr>
            </a:pPr>
            <a:r>
              <a:rPr sz="1275" b="0" dirty="0">
                <a:solidFill>
                  <a:srgbClr val="E5DFEA"/>
                </a:solidFill>
                <a:latin typeface="DM Sans"/>
                <a:ea typeface="DM Sans"/>
                <a:cs typeface="DM Sans"/>
              </a:rPr>
              <a:t>This is the bridge from descriptive clusters to a product and operations backlog.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FAC09F12-05EA-3028-6B4E-FE4359147A84}"/>
              </a:ext>
            </a:extLst>
          </p:cNvPr>
          <p:cNvSpPr>
            <a:spLocks noGrp="1"/>
          </p:cNvSpPr>
          <p:nvPr/>
        </p:nvSpPr>
        <p:spPr>
          <a:xfrm>
            <a:off x="666750" y="2238375"/>
            <a:ext cx="3571875" cy="1428750"/>
          </a:xfrm>
          <a:prstGeom prst="rect">
            <a:avLst/>
          </a:prstGeom>
          <a:solidFill>
            <a:srgbClr val="2B2026"/>
          </a:solidFill>
          <a:ln w="9525">
            <a:solidFill>
              <a:srgbClr val="4A3D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B9F25250-857A-5A80-BA1D-8C2B3D209645}"/>
              </a:ext>
            </a:extLst>
          </p:cNvPr>
          <p:cNvSpPr>
            <a:spLocks noGrp="1"/>
          </p:cNvSpPr>
          <p:nvPr/>
        </p:nvSpPr>
        <p:spPr>
          <a:xfrm>
            <a:off x="4238625" y="2238375"/>
            <a:ext cx="3571875" cy="1428750"/>
          </a:xfrm>
          <a:prstGeom prst="rect">
            <a:avLst/>
          </a:prstGeom>
          <a:solidFill>
            <a:srgbClr val="3A252B"/>
          </a:solidFill>
          <a:ln w="9525">
            <a:solidFill>
              <a:srgbClr val="4A3D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850FEAF2-5147-E105-0408-F3E3C0BF745C}"/>
              </a:ext>
            </a:extLst>
          </p:cNvPr>
          <p:cNvSpPr>
            <a:spLocks noGrp="1"/>
          </p:cNvSpPr>
          <p:nvPr/>
        </p:nvSpPr>
        <p:spPr>
          <a:xfrm>
            <a:off x="666750" y="3667125"/>
            <a:ext cx="3571875" cy="1428750"/>
          </a:xfrm>
          <a:prstGeom prst="rect">
            <a:avLst/>
          </a:prstGeom>
          <a:solidFill>
            <a:srgbClr val="20232F"/>
          </a:solidFill>
          <a:ln w="9525">
            <a:solidFill>
              <a:srgbClr val="4A3D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2D39E66B-7AF3-88D2-3FEB-84C9DE122237}"/>
              </a:ext>
            </a:extLst>
          </p:cNvPr>
          <p:cNvSpPr>
            <a:spLocks noGrp="1"/>
          </p:cNvSpPr>
          <p:nvPr/>
        </p:nvSpPr>
        <p:spPr>
          <a:xfrm>
            <a:off x="4238625" y="3667125"/>
            <a:ext cx="3571875" cy="1428750"/>
          </a:xfrm>
          <a:prstGeom prst="rect">
            <a:avLst/>
          </a:prstGeom>
          <a:solidFill>
            <a:srgbClr val="25243A"/>
          </a:solidFill>
          <a:ln w="9525">
            <a:solidFill>
              <a:srgbClr val="4A3D4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Conector Reto 24">
            <a:extLst>
              <a:ext uri="{FF2B5EF4-FFF2-40B4-BE49-F238E27FC236}">
                <a16:creationId xmlns:a16="http://schemas.microsoft.com/office/drawing/2014/main" id="{F4090A29-4019-9EFC-F748-F6DF660C93A5}"/>
              </a:ext>
            </a:extLst>
          </p:cNvPr>
          <p:cNvSpPr>
            <a:spLocks noGrp="1"/>
          </p:cNvSpPr>
          <p:nvPr/>
        </p:nvSpPr>
        <p:spPr>
          <a:xfrm>
            <a:off x="4238625" y="2238375"/>
            <a:ext cx="0" cy="2857500"/>
          </a:xfrm>
          <a:prstGeom prst="line">
            <a:avLst/>
          </a:prstGeom>
          <a:ln w="11430">
            <a:solidFill>
              <a:srgbClr val="6A5C6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Conector Reto 25">
            <a:extLst>
              <a:ext uri="{FF2B5EF4-FFF2-40B4-BE49-F238E27FC236}">
                <a16:creationId xmlns:a16="http://schemas.microsoft.com/office/drawing/2014/main" id="{6967DDBF-0CBD-E17A-B031-24E36A553FAA}"/>
              </a:ext>
            </a:extLst>
          </p:cNvPr>
          <p:cNvSpPr>
            <a:spLocks noGrp="1"/>
          </p:cNvSpPr>
          <p:nvPr/>
        </p:nvSpPr>
        <p:spPr>
          <a:xfrm>
            <a:off x="666750" y="3667125"/>
            <a:ext cx="7143750" cy="0"/>
          </a:xfrm>
          <a:prstGeom prst="line">
            <a:avLst/>
          </a:prstGeom>
          <a:ln w="11430">
            <a:solidFill>
              <a:srgbClr val="6A5C6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5E41085C-2212-F9AA-9A95-9A1005705009}"/>
              </a:ext>
            </a:extLst>
          </p:cNvPr>
          <p:cNvSpPr>
            <a:spLocks noGrp="1"/>
          </p:cNvSpPr>
          <p:nvPr/>
        </p:nvSpPr>
        <p:spPr>
          <a:xfrm>
            <a:off x="838200" y="2390775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B4C6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FFB4C6"/>
                </a:solidFill>
                <a:latin typeface="DM Sans"/>
                <a:ea typeface="DM Sans"/>
                <a:cs typeface="DM Sans"/>
              </a:rPr>
              <a:t>EDUCATE / STABILIZE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9F08CADC-98A8-03AF-0180-052D7C15CC10}"/>
              </a:ext>
            </a:extLst>
          </p:cNvPr>
          <p:cNvSpPr>
            <a:spLocks noGrp="1"/>
          </p:cNvSpPr>
          <p:nvPr/>
        </p:nvSpPr>
        <p:spPr>
          <a:xfrm>
            <a:off x="4410075" y="2390775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B4C6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FFB4C6"/>
                </a:solidFill>
                <a:latin typeface="DM Sans"/>
                <a:ea typeface="DM Sans"/>
                <a:cs typeface="DM Sans"/>
              </a:rPr>
              <a:t>INTERVENE NOW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37C5361C-7DAF-7CE8-15BF-64DBB641666E}"/>
              </a:ext>
            </a:extLst>
          </p:cNvPr>
          <p:cNvSpPr>
            <a:spLocks noGrp="1"/>
          </p:cNvSpPr>
          <p:nvPr/>
        </p:nvSpPr>
        <p:spPr>
          <a:xfrm>
            <a:off x="838200" y="3819525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AAB4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AAB4FF"/>
                </a:solidFill>
                <a:latin typeface="DM Sans"/>
                <a:ea typeface="DM Sans"/>
                <a:cs typeface="DM Sans"/>
              </a:rPr>
              <a:t>DEVELOP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F644BC62-03AE-DC9C-275E-B4FDA59590FD}"/>
              </a:ext>
            </a:extLst>
          </p:cNvPr>
          <p:cNvSpPr>
            <a:spLocks noGrp="1"/>
          </p:cNvSpPr>
          <p:nvPr/>
        </p:nvSpPr>
        <p:spPr>
          <a:xfrm>
            <a:off x="4410075" y="3819525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CBA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CBA7FF"/>
                </a:solidFill>
                <a:latin typeface="DM Sans"/>
                <a:ea typeface="DM Sans"/>
                <a:cs typeface="DM Sans"/>
              </a:rPr>
              <a:t>PROTECT</a:t>
            </a:r>
          </a:p>
        </p:txBody>
      </p:sp>
      <p:sp>
        <p:nvSpPr>
          <p:cNvPr id="31" name="Retângulo Arredondado 30">
            <a:extLst>
              <a:ext uri="{FF2B5EF4-FFF2-40B4-BE49-F238E27FC236}">
                <a16:creationId xmlns:a16="http://schemas.microsoft.com/office/drawing/2014/main" id="{12EBAF84-8AA7-5F92-83C6-1241BD0E338A}"/>
              </a:ext>
            </a:extLst>
          </p:cNvPr>
          <p:cNvSpPr>
            <a:spLocks noGrp="1"/>
          </p:cNvSpPr>
          <p:nvPr/>
        </p:nvSpPr>
        <p:spPr>
          <a:xfrm>
            <a:off x="904875" y="2767917"/>
            <a:ext cx="2762250" cy="666750"/>
          </a:xfrm>
          <a:prstGeom prst="roundRect">
            <a:avLst>
              <a:gd name="adj" fmla="val 17143"/>
            </a:avLst>
          </a:prstGeom>
          <a:solidFill>
            <a:srgbClr val="FFE0E9"/>
          </a:solidFill>
          <a:ln w="11430">
            <a:solidFill>
              <a:srgbClr val="E958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71FDB0CB-6AA5-A9B9-F32D-C27FF31F4498}"/>
              </a:ext>
            </a:extLst>
          </p:cNvPr>
          <p:cNvSpPr>
            <a:spLocks noGrp="1"/>
          </p:cNvSpPr>
          <p:nvPr/>
        </p:nvSpPr>
        <p:spPr>
          <a:xfrm>
            <a:off x="1047750" y="2891742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E95878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E95878"/>
                </a:solidFill>
                <a:latin typeface="DM Sans"/>
                <a:ea typeface="DM Sans"/>
                <a:cs typeface="DM Sans"/>
              </a:rPr>
              <a:t>Small in discovery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A5D3BA15-8751-869B-9CC1-5742B28F01DB}"/>
              </a:ext>
            </a:extLst>
          </p:cNvPr>
          <p:cNvSpPr>
            <a:spLocks noGrp="1"/>
          </p:cNvSpPr>
          <p:nvPr/>
        </p:nvSpPr>
        <p:spPr>
          <a:xfrm>
            <a:off x="1047750" y="3158442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38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85 sellers • 6.1% of value</a:t>
            </a:r>
          </a:p>
        </p:txBody>
      </p:sp>
      <p:sp>
        <p:nvSpPr>
          <p:cNvPr id="34" name="Retângulo Arredondado 33">
            <a:extLst>
              <a:ext uri="{FF2B5EF4-FFF2-40B4-BE49-F238E27FC236}">
                <a16:creationId xmlns:a16="http://schemas.microsoft.com/office/drawing/2014/main" id="{DACFCD86-B0DC-88FE-A8F7-98ECED809389}"/>
              </a:ext>
            </a:extLst>
          </p:cNvPr>
          <p:cNvSpPr>
            <a:spLocks noGrp="1"/>
          </p:cNvSpPr>
          <p:nvPr/>
        </p:nvSpPr>
        <p:spPr>
          <a:xfrm>
            <a:off x="4476750" y="2767917"/>
            <a:ext cx="3143250" cy="666750"/>
          </a:xfrm>
          <a:prstGeom prst="roundRect">
            <a:avLst>
              <a:gd name="adj" fmla="val 17143"/>
            </a:avLst>
          </a:prstGeom>
          <a:solidFill>
            <a:srgbClr val="FFE2DA"/>
          </a:solidFill>
          <a:ln w="11430">
            <a:solidFill>
              <a:srgbClr val="E86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F0DBC287-7DD6-DA3A-0048-A5889BFE946F}"/>
              </a:ext>
            </a:extLst>
          </p:cNvPr>
          <p:cNvSpPr>
            <a:spLocks noGrp="1"/>
          </p:cNvSpPr>
          <p:nvPr/>
        </p:nvSpPr>
        <p:spPr>
          <a:xfrm>
            <a:off x="4619625" y="2891742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E86A4A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E86A4A"/>
                </a:solidFill>
                <a:latin typeface="DM Sans"/>
                <a:ea typeface="DM Sans"/>
                <a:cs typeface="DM Sans"/>
              </a:rPr>
              <a:t>High-volume, slow delivery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58497748-79EA-6D56-B9D5-426CF689997C}"/>
              </a:ext>
            </a:extLst>
          </p:cNvPr>
          <p:cNvSpPr>
            <a:spLocks noGrp="1"/>
          </p:cNvSpPr>
          <p:nvPr/>
        </p:nvSpPr>
        <p:spPr>
          <a:xfrm>
            <a:off x="4619625" y="3158442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38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15 sellers • about $142k/wk</a:t>
            </a:r>
          </a:p>
        </p:txBody>
      </p:sp>
      <p:sp>
        <p:nvSpPr>
          <p:cNvPr id="37" name="Retângulo Arredondado 36">
            <a:extLst>
              <a:ext uri="{FF2B5EF4-FFF2-40B4-BE49-F238E27FC236}">
                <a16:creationId xmlns:a16="http://schemas.microsoft.com/office/drawing/2014/main" id="{C15CD9F8-FC10-0B1A-854D-EA2388DA0C74}"/>
              </a:ext>
            </a:extLst>
          </p:cNvPr>
          <p:cNvSpPr>
            <a:spLocks noGrp="1"/>
          </p:cNvSpPr>
          <p:nvPr/>
        </p:nvSpPr>
        <p:spPr>
          <a:xfrm>
            <a:off x="904875" y="4196667"/>
            <a:ext cx="2762250" cy="666750"/>
          </a:xfrm>
          <a:prstGeom prst="roundRect">
            <a:avLst>
              <a:gd name="adj" fmla="val 17143"/>
            </a:avLst>
          </a:prstGeom>
          <a:solidFill>
            <a:srgbClr val="E5E8FF"/>
          </a:solidFill>
          <a:ln w="11430">
            <a:solidFill>
              <a:srgbClr val="5E6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7CFC65D9-CDD2-077E-BD2D-5AD7FB99F6D3}"/>
              </a:ext>
            </a:extLst>
          </p:cNvPr>
          <p:cNvSpPr>
            <a:spLocks noGrp="1"/>
          </p:cNvSpPr>
          <p:nvPr/>
        </p:nvSpPr>
        <p:spPr>
          <a:xfrm>
            <a:off x="1047750" y="4320492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5E6BE8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5E6BE8"/>
                </a:solidFill>
                <a:latin typeface="DM Sans"/>
                <a:ea typeface="DM Sans"/>
                <a:cs typeface="DM Sans"/>
              </a:rPr>
              <a:t>Small resilient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7AA06BF3-DE31-F875-6268-73859230E4F9}"/>
              </a:ext>
            </a:extLst>
          </p:cNvPr>
          <p:cNvSpPr>
            <a:spLocks noGrp="1"/>
          </p:cNvSpPr>
          <p:nvPr/>
        </p:nvSpPr>
        <p:spPr>
          <a:xfrm>
            <a:off x="1047750" y="4587192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38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8 sellers • 0.8% of value</a:t>
            </a:r>
          </a:p>
        </p:txBody>
      </p:sp>
      <p:sp>
        <p:nvSpPr>
          <p:cNvPr id="40" name="Retângulo Arredondado 39">
            <a:extLst>
              <a:ext uri="{FF2B5EF4-FFF2-40B4-BE49-F238E27FC236}">
                <a16:creationId xmlns:a16="http://schemas.microsoft.com/office/drawing/2014/main" id="{22A94CCB-AB59-D1E8-D5EC-054A1707BDA2}"/>
              </a:ext>
            </a:extLst>
          </p:cNvPr>
          <p:cNvSpPr>
            <a:spLocks noGrp="1"/>
          </p:cNvSpPr>
          <p:nvPr/>
        </p:nvSpPr>
        <p:spPr>
          <a:xfrm>
            <a:off x="4476750" y="4196667"/>
            <a:ext cx="3143250" cy="666750"/>
          </a:xfrm>
          <a:prstGeom prst="roundRect">
            <a:avLst>
              <a:gd name="adj" fmla="val 17143"/>
            </a:avLst>
          </a:prstGeom>
          <a:solidFill>
            <a:srgbClr val="EAD9FF"/>
          </a:solidFill>
          <a:ln w="11430">
            <a:solidFill>
              <a:srgbClr val="9147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0989CF05-FCC3-B786-24AA-60D449295B13}"/>
              </a:ext>
            </a:extLst>
          </p:cNvPr>
          <p:cNvSpPr>
            <a:spLocks noGrp="1"/>
          </p:cNvSpPr>
          <p:nvPr/>
        </p:nvSpPr>
        <p:spPr>
          <a:xfrm>
            <a:off x="4619625" y="4320492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Large anchor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5EEAC2C5-3F4F-7233-91B3-54B2C42AD7CE}"/>
              </a:ext>
            </a:extLst>
          </p:cNvPr>
          <p:cNvSpPr>
            <a:spLocks noGrp="1"/>
          </p:cNvSpPr>
          <p:nvPr/>
        </p:nvSpPr>
        <p:spPr>
          <a:xfrm>
            <a:off x="4619625" y="4587192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38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49 sellers • 35.4% of value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1DE7C2C6-9ABE-EDC6-ECB3-F3353EA59447}"/>
              </a:ext>
            </a:extLst>
          </p:cNvPr>
          <p:cNvSpPr>
            <a:spLocks noGrp="1"/>
          </p:cNvSpPr>
          <p:nvPr/>
        </p:nvSpPr>
        <p:spPr>
          <a:xfrm>
            <a:off x="3162300" y="5219700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AFA5B9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AFA5B9"/>
                </a:solidFill>
                <a:latin typeface="DM Sans"/>
                <a:ea typeface="DM Sans"/>
                <a:cs typeface="DM Sans"/>
              </a:rPr>
              <a:t>LOWER VALUE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E68C82EF-3CD5-5CD6-BB27-1DF9BE5D5D6F}"/>
              </a:ext>
            </a:extLst>
          </p:cNvPr>
          <p:cNvSpPr>
            <a:spLocks noGrp="1"/>
          </p:cNvSpPr>
          <p:nvPr/>
        </p:nvSpPr>
        <p:spPr>
          <a:xfrm>
            <a:off x="6927207" y="5187267"/>
            <a:ext cx="1099836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AFA5B9"/>
                </a:solidFill>
                <a:latin typeface="DM Sans"/>
                <a:ea typeface="DM Sans"/>
                <a:cs typeface="DM Sans"/>
              </a:defRPr>
            </a:pPr>
            <a:r>
              <a:rPr sz="825" b="1" dirty="0">
                <a:solidFill>
                  <a:srgbClr val="AFA5B9"/>
                </a:solidFill>
                <a:latin typeface="DM Sans"/>
                <a:ea typeface="DM Sans"/>
                <a:cs typeface="DM Sans"/>
              </a:rPr>
              <a:t>HIGHER VALUE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F62FCD99-9772-8AE1-6043-22374F2F5FA4}"/>
              </a:ext>
            </a:extLst>
          </p:cNvPr>
          <p:cNvSpPr>
            <a:spLocks noGrp="1"/>
          </p:cNvSpPr>
          <p:nvPr/>
        </p:nvSpPr>
        <p:spPr>
          <a:xfrm>
            <a:off x="563542" y="1991087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AFA5B9"/>
                </a:solidFill>
                <a:latin typeface="DM Sans"/>
                <a:ea typeface="DM Sans"/>
                <a:cs typeface="DM Sans"/>
              </a:defRPr>
            </a:pPr>
            <a:r>
              <a:rPr sz="825" b="1" dirty="0">
                <a:solidFill>
                  <a:srgbClr val="AFA5B9"/>
                </a:solidFill>
                <a:latin typeface="DM Sans"/>
                <a:ea typeface="DM Sans"/>
                <a:cs typeface="DM Sans"/>
              </a:rPr>
              <a:t>HIGHER RISK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10932BD6-5A07-0429-82E6-5C2A522079AB}"/>
              </a:ext>
            </a:extLst>
          </p:cNvPr>
          <p:cNvSpPr>
            <a:spLocks noGrp="1"/>
          </p:cNvSpPr>
          <p:nvPr/>
        </p:nvSpPr>
        <p:spPr>
          <a:xfrm>
            <a:off x="563542" y="521970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AFA5B9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AFA5B9"/>
                </a:solidFill>
                <a:latin typeface="DM Sans"/>
                <a:ea typeface="DM Sans"/>
                <a:cs typeface="DM Sans"/>
              </a:rPr>
              <a:t>LOWER RISK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A9538BD9-129F-3147-F1E9-AE8F0170B9F4}"/>
              </a:ext>
            </a:extLst>
          </p:cNvPr>
          <p:cNvSpPr>
            <a:spLocks noGrp="1"/>
          </p:cNvSpPr>
          <p:nvPr/>
        </p:nvSpPr>
        <p:spPr>
          <a:xfrm>
            <a:off x="8382000" y="2238375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HOW TO USE IT</a:t>
            </a:r>
          </a:p>
        </p:txBody>
      </p:sp>
      <p:sp>
        <p:nvSpPr>
          <p:cNvPr id="48" name="Retângulo 47">
            <a:extLst>
              <a:ext uri="{FF2B5EF4-FFF2-40B4-BE49-F238E27FC236}">
                <a16:creationId xmlns:a16="http://schemas.microsoft.com/office/drawing/2014/main" id="{75351F06-B21C-71A6-A35A-4F6D1EE76FE6}"/>
              </a:ext>
            </a:extLst>
          </p:cNvPr>
          <p:cNvSpPr>
            <a:spLocks noGrp="1"/>
          </p:cNvSpPr>
          <p:nvPr/>
        </p:nvSpPr>
        <p:spPr>
          <a:xfrm>
            <a:off x="8382000" y="2619375"/>
            <a:ext cx="3143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VALUE</a:t>
            </a:r>
          </a:p>
          <a:p>
            <a:pPr algn="l">
              <a:defRPr sz="1125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Average order value × orders/week</a:t>
            </a:r>
          </a:p>
          <a:p>
            <a:endParaRPr sz="1125" b="0">
              <a:solidFill>
                <a:srgbClr val="FFFFFF"/>
              </a:solidFill>
              <a:latin typeface="DM Sans"/>
              <a:ea typeface="DM Sans"/>
              <a:cs typeface="DM Sans"/>
            </a:endParaRPr>
          </a:p>
          <a:p>
            <a:pPr algn="l">
              <a:defRPr sz="1125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RISK</a:t>
            </a:r>
          </a:p>
          <a:p>
            <a:pPr algn="l">
              <a:defRPr sz="1125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Cancellation rate + delivery time + low metric recognition</a:t>
            </a:r>
          </a:p>
          <a:p>
            <a:endParaRPr sz="1125" b="0">
              <a:solidFill>
                <a:srgbClr val="FFFFFF"/>
              </a:solidFill>
              <a:latin typeface="DM Sans"/>
              <a:ea typeface="DM Sans"/>
              <a:cs typeface="DM Sans"/>
            </a:endParaRPr>
          </a:p>
          <a:p>
            <a:pPr algn="l">
              <a:defRPr sz="1125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NEXT CUT</a:t>
            </a:r>
          </a:p>
          <a:p>
            <a:pPr algn="l">
              <a:defRPr sz="1125" b="0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125" b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Overlay city, operating model and courier coverage before choosing the intervention.</a:t>
            </a:r>
          </a:p>
        </p:txBody>
      </p:sp>
      <p:sp>
        <p:nvSpPr>
          <p:cNvPr id="49" name="Retângulo Arredondado 48">
            <a:extLst>
              <a:ext uri="{FF2B5EF4-FFF2-40B4-BE49-F238E27FC236}">
                <a16:creationId xmlns:a16="http://schemas.microsoft.com/office/drawing/2014/main" id="{3A425956-96EF-E878-AEF8-A063E9D0766E}"/>
              </a:ext>
            </a:extLst>
          </p:cNvPr>
          <p:cNvSpPr>
            <a:spLocks noGrp="1"/>
          </p:cNvSpPr>
          <p:nvPr/>
        </p:nvSpPr>
        <p:spPr>
          <a:xfrm>
            <a:off x="190500" y="5676900"/>
            <a:ext cx="11811000" cy="371475"/>
          </a:xfrm>
          <a:prstGeom prst="roundRect">
            <a:avLst>
              <a:gd name="adj" fmla="val 30769"/>
            </a:avLst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EF96A66C-0D4B-1BBB-2813-BB13BDA008DF}"/>
              </a:ext>
            </a:extLst>
          </p:cNvPr>
          <p:cNvSpPr>
            <a:spLocks noGrp="1"/>
          </p:cNvSpPr>
          <p:nvPr/>
        </p:nvSpPr>
        <p:spPr>
          <a:xfrm>
            <a:off x="361950" y="5762625"/>
            <a:ext cx="1143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Working model → Finalize the score at seller level, then use the matrix to sequence product, operations and commercial work.</a:t>
            </a:r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884D4828-7629-FBBA-426F-E4E0B35DA315}"/>
              </a:ext>
            </a:extLst>
          </p:cNvPr>
          <p:cNvSpPr>
            <a:spLocks noGrp="1"/>
          </p:cNvSpPr>
          <p:nvPr/>
        </p:nvSpPr>
        <p:spPr>
          <a:xfrm>
            <a:off x="2095500" y="6372225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Seller + Courier Atlas</a:t>
            </a:r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9B866767-15A2-CEB4-C181-6FD3548D5A81}"/>
              </a:ext>
            </a:extLst>
          </p:cNvPr>
          <p:cNvSpPr>
            <a:spLocks noGrp="1"/>
          </p:cNvSpPr>
          <p:nvPr/>
        </p:nvSpPr>
        <p:spPr>
          <a:xfrm>
            <a:off x="6019800" y="6372225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22</a:t>
            </a:r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7CCC2B70-A171-43A8-5378-C7FDB16995FB}"/>
              </a:ext>
            </a:extLst>
          </p:cNvPr>
          <p:cNvSpPr>
            <a:spLocks noGrp="1"/>
          </p:cNvSpPr>
          <p:nvPr/>
        </p:nvSpPr>
        <p:spPr>
          <a:xfrm>
            <a:off x="7962900" y="637222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TaDa Growth Strategy 2027</a:t>
            </a:r>
          </a:p>
        </p:txBody>
      </p:sp>
    </p:spTree>
    <p:extLst>
      <p:ext uri="{BB962C8B-B14F-4D97-AF65-F5344CB8AC3E}">
        <p14:creationId xmlns:p14="http://schemas.microsoft.com/office/powerpoint/2010/main" val="3653417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7A6C627-C10B-43FC-A046-176842724278}"/>
              </a:ext>
            </a:extLst>
          </p:cNvPr>
          <p:cNvSpPr>
            <a:spLocks noGrp="1"/>
          </p:cNvSpPr>
          <p:nvPr/>
        </p:nvSpPr>
        <p:spPr>
          <a:xfrm>
            <a:off x="190500" y="30480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14 / COURIER EVIDENCE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5C528D6-FDBA-48D2-A1AF-2E75E4FF6755}"/>
              </a:ext>
            </a:extLst>
          </p:cNvPr>
          <p:cNvSpPr>
            <a:spLocks noGrp="1"/>
          </p:cNvSpPr>
          <p:nvPr/>
        </p:nvSpPr>
        <p:spPr>
          <a:xfrm>
            <a:off x="190500" y="1066800"/>
            <a:ext cx="9144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322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Courier conditions shape</a:t>
            </a:r>
          </a:p>
          <a:p>
            <a:pPr algn="l">
              <a:defRPr sz="322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322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the seller promise.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F209611-79C6-4164-98C4-C3E511B769FB}"/>
              </a:ext>
            </a:extLst>
          </p:cNvPr>
          <p:cNvSpPr>
            <a:spLocks noGrp="1"/>
          </p:cNvSpPr>
          <p:nvPr/>
        </p:nvSpPr>
        <p:spPr>
          <a:xfrm>
            <a:off x="190500" y="2400300"/>
            <a:ext cx="790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E5DFEA"/>
                </a:solidFill>
                <a:latin typeface="DM Sans"/>
                <a:ea typeface="DM Sans"/>
                <a:cs typeface="DM Sans"/>
              </a:defRPr>
            </a:pPr>
            <a:r>
              <a:rPr sz="1500" b="0">
                <a:solidFill>
                  <a:srgbClr val="E5DFEA"/>
                </a:solidFill>
                <a:latin typeface="DM Sans"/>
                <a:ea typeface="DM Sans"/>
                <a:cs typeface="DM Sans"/>
              </a:rPr>
              <a:t>Capacity, tenure, work pattern and operational friction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439977F-D3F1-4345-AC4C-6330AFDF93B8}"/>
              </a:ext>
            </a:extLst>
          </p:cNvPr>
          <p:cNvSpPr>
            <a:spLocks noGrp="1"/>
          </p:cNvSpPr>
          <p:nvPr/>
        </p:nvSpPr>
        <p:spPr>
          <a:xfrm>
            <a:off x="190500" y="55816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SELLERS  /  COURIERS  /  ONE SERVICE PROMISE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1B6CDD5-535C-448D-8DBE-88389DC31D4D}"/>
              </a:ext>
            </a:extLst>
          </p:cNvPr>
          <p:cNvSpPr>
            <a:spLocks noGrp="1"/>
          </p:cNvSpPr>
          <p:nvPr/>
        </p:nvSpPr>
        <p:spPr>
          <a:xfrm>
            <a:off x="2095500" y="6372225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Courier Ecosystem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7A0320A-DC82-4ADE-B8C9-C68B753C5240}"/>
              </a:ext>
            </a:extLst>
          </p:cNvPr>
          <p:cNvSpPr>
            <a:spLocks noGrp="1"/>
          </p:cNvSpPr>
          <p:nvPr/>
        </p:nvSpPr>
        <p:spPr>
          <a:xfrm>
            <a:off x="6019800" y="6372225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14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E14BDFD-ABE5-4590-AE71-012C13692E5E}"/>
              </a:ext>
            </a:extLst>
          </p:cNvPr>
          <p:cNvSpPr>
            <a:spLocks noGrp="1"/>
          </p:cNvSpPr>
          <p:nvPr/>
        </p:nvSpPr>
        <p:spPr>
          <a:xfrm>
            <a:off x="7962900" y="637222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TaDa Growth Strategy 2027</a:t>
            </a:r>
          </a:p>
        </p:txBody>
      </p:sp>
    </p:spTree>
    <p:extLst>
      <p:ext uri="{BB962C8B-B14F-4D97-AF65-F5344CB8AC3E}">
        <p14:creationId xmlns:p14="http://schemas.microsoft.com/office/powerpoint/2010/main" val="1642998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>
            <a:extLst>
              <a:ext uri="{FF2B5EF4-FFF2-40B4-BE49-F238E27FC236}">
                <a16:creationId xmlns:a16="http://schemas.microsoft.com/office/drawing/2014/main" id="{E6AA0A29-9863-4D7B-B8FA-7D94211D9284}"/>
              </a:ext>
            </a:extLst>
          </p:cNvPr>
          <p:cNvSpPr>
            <a:spLocks noGrp="1"/>
          </p:cNvSpPr>
          <p:nvPr/>
        </p:nvSpPr>
        <p:spPr>
          <a:xfrm>
            <a:off x="190500" y="228600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22 / APPENDIX · COURIER RESEARCH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043ABB4-F392-498F-8F31-2D7469890FB6}"/>
              </a:ext>
            </a:extLst>
          </p:cNvPr>
          <p:cNvSpPr>
            <a:spLocks noGrp="1"/>
          </p:cNvSpPr>
          <p:nvPr/>
        </p:nvSpPr>
        <p:spPr>
          <a:xfrm>
            <a:off x="190500" y="533400"/>
            <a:ext cx="1143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What we asked couriers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2CA9B86-BC92-4D41-9694-0D4698D4258E}"/>
              </a:ext>
            </a:extLst>
          </p:cNvPr>
          <p:cNvSpPr>
            <a:spLocks noGrp="1"/>
          </p:cNvSpPr>
          <p:nvPr/>
        </p:nvSpPr>
        <p:spPr>
          <a:xfrm>
            <a:off x="190500" y="1219200"/>
            <a:ext cx="1123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16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The courier questionnaire maps work pattern, attachment, platform overlap, friction and the single change couriers want most. Wording below is preserved in Spanish, as fielded.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02E258E-F472-4A1A-8621-BAFD2C12C827}"/>
              </a:ext>
            </a:extLst>
          </p:cNvPr>
          <p:cNvSpPr>
            <a:spLocks noGrp="1"/>
          </p:cNvSpPr>
          <p:nvPr/>
        </p:nvSpPr>
        <p:spPr>
          <a:xfrm>
            <a:off x="190500" y="1743075"/>
            <a:ext cx="3524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PERFIL Y INTENSIDAD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D591D28-9D48-4326-9D2F-6782241C060C}"/>
              </a:ext>
            </a:extLst>
          </p:cNvPr>
          <p:cNvSpPr>
            <a:spLocks noGrp="1"/>
          </p:cNvSpPr>
          <p:nvPr/>
        </p:nvSpPr>
        <p:spPr>
          <a:xfrm>
            <a:off x="190500" y="2000250"/>
            <a:ext cx="3476625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9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9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¿Cómo te identificas?</a:t>
            </a:r>
          </a:p>
          <a:p>
            <a:endParaRPr sz="998" b="0">
              <a:solidFill>
                <a:srgbClr val="17131B"/>
              </a:solidFill>
              <a:latin typeface="DM Sans"/>
              <a:ea typeface="DM Sans"/>
              <a:cs typeface="DM Sans"/>
            </a:endParaRPr>
          </a:p>
          <a:p>
            <a:pPr algn="l">
              <a:defRPr sz="99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9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¿En cuántas tiendas trabajas actualmente?</a:t>
            </a:r>
          </a:p>
          <a:p>
            <a:endParaRPr sz="998" b="0">
              <a:solidFill>
                <a:srgbClr val="17131B"/>
              </a:solidFill>
              <a:latin typeface="DM Sans"/>
              <a:ea typeface="DM Sans"/>
              <a:cs typeface="DM Sans"/>
            </a:endParaRPr>
          </a:p>
          <a:p>
            <a:pPr algn="l">
              <a:defRPr sz="99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9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¿Eres repartidor fijo de alguna tienda?</a:t>
            </a:r>
          </a:p>
          <a:p>
            <a:endParaRPr sz="998" b="0">
              <a:solidFill>
                <a:srgbClr val="17131B"/>
              </a:solidFill>
              <a:latin typeface="DM Sans"/>
              <a:ea typeface="DM Sans"/>
              <a:cs typeface="DM Sans"/>
            </a:endParaRPr>
          </a:p>
          <a:p>
            <a:pPr algn="l">
              <a:defRPr sz="99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9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¿Cuánto tiempo llevas trabajando como repartidor?</a:t>
            </a:r>
          </a:p>
          <a:p>
            <a:endParaRPr sz="998" b="0">
              <a:solidFill>
                <a:srgbClr val="17131B"/>
              </a:solidFill>
              <a:latin typeface="DM Sans"/>
              <a:ea typeface="DM Sans"/>
              <a:cs typeface="DM Sans"/>
            </a:endParaRPr>
          </a:p>
          <a:p>
            <a:pPr algn="l">
              <a:defRPr sz="99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9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¿Qué días de la semana trabajas haciendo entregas?</a:t>
            </a:r>
          </a:p>
          <a:p>
            <a:pPr algn="l">
              <a:defRPr sz="99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9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  Lunes · Martes · Miércoles · Jueves · Viernes · Sábado · Domingo</a:t>
            </a:r>
          </a:p>
          <a:p>
            <a:endParaRPr sz="998" b="0">
              <a:solidFill>
                <a:srgbClr val="17131B"/>
              </a:solidFill>
              <a:latin typeface="DM Sans"/>
              <a:ea typeface="DM Sans"/>
              <a:cs typeface="DM Sans"/>
            </a:endParaRPr>
          </a:p>
          <a:p>
            <a:pPr algn="l">
              <a:defRPr sz="99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9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En promedio, ¿cuántas horas al día trabajas haciendo entregas?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BC6C238-C602-4123-B5C2-2FE75F4BDB44}"/>
              </a:ext>
            </a:extLst>
          </p:cNvPr>
          <p:cNvSpPr>
            <a:spLocks noGrp="1"/>
          </p:cNvSpPr>
          <p:nvPr/>
        </p:nvSpPr>
        <p:spPr>
          <a:xfrm>
            <a:off x="3952875" y="1743075"/>
            <a:ext cx="3476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MODELO DE TRABAJO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7A5CA8B-1900-4BD8-95EC-0029C51C0040}"/>
              </a:ext>
            </a:extLst>
          </p:cNvPr>
          <p:cNvSpPr>
            <a:spLocks noGrp="1"/>
          </p:cNvSpPr>
          <p:nvPr/>
        </p:nvSpPr>
        <p:spPr>
          <a:xfrm>
            <a:off x="3952875" y="2000250"/>
            <a:ext cx="3476625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9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9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¿También trabajas en plataformas como Uber, Rappi, etc.?</a:t>
            </a:r>
          </a:p>
          <a:p>
            <a:endParaRPr sz="998" b="0">
              <a:solidFill>
                <a:srgbClr val="17131B"/>
              </a:solidFill>
              <a:latin typeface="DM Sans"/>
              <a:ea typeface="DM Sans"/>
              <a:cs typeface="DM Sans"/>
            </a:endParaRPr>
          </a:p>
          <a:p>
            <a:pPr algn="l">
              <a:defRPr sz="99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9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¿Qué problemas has tenido al realizar entregas?</a:t>
            </a:r>
          </a:p>
          <a:p>
            <a:pPr algn="l">
              <a:defRPr sz="99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9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  Retraso para recibir el pedido · pedido listo sin repartidor · información incorrecta o incompleta · app difícil o con fallas · comunicación con cliente · falta de soporte · problemas de pago · rutas/direcciones · espera excesiva</a:t>
            </a:r>
          </a:p>
          <a:p>
            <a:endParaRPr sz="998" b="0">
              <a:solidFill>
                <a:srgbClr val="17131B"/>
              </a:solidFill>
              <a:latin typeface="DM Sans"/>
              <a:ea typeface="DM Sans"/>
              <a:cs typeface="DM Sans"/>
            </a:endParaRPr>
          </a:p>
          <a:p>
            <a:pPr algn="l">
              <a:defRPr sz="998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98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En una escala del 0 al 5, ¿qué tan satisfecho estás con la forma en que funcionan las entregas hoy?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7B08737-FFCC-4BB7-89F0-2D9D7EDA3B5A}"/>
              </a:ext>
            </a:extLst>
          </p:cNvPr>
          <p:cNvSpPr>
            <a:spLocks noGrp="1"/>
          </p:cNvSpPr>
          <p:nvPr/>
        </p:nvSpPr>
        <p:spPr>
          <a:xfrm>
            <a:off x="7762875" y="1743075"/>
            <a:ext cx="3476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VOZ ABIERTA</a:t>
            </a:r>
          </a:p>
        </p:txBody>
      </p:sp>
      <p:sp>
        <p:nvSpPr>
          <p:cNvPr id="9" name="Retângulo Arredondado 8">
            <a:extLst>
              <a:ext uri="{FF2B5EF4-FFF2-40B4-BE49-F238E27FC236}">
                <a16:creationId xmlns:a16="http://schemas.microsoft.com/office/drawing/2014/main" id="{AD5CC920-973A-4B68-ACEB-6FB9EA3EEE1C}"/>
              </a:ext>
            </a:extLst>
          </p:cNvPr>
          <p:cNvSpPr>
            <a:spLocks noGrp="1"/>
          </p:cNvSpPr>
          <p:nvPr/>
        </p:nvSpPr>
        <p:spPr>
          <a:xfrm>
            <a:off x="7762875" y="2000250"/>
            <a:ext cx="3476625" cy="2143125"/>
          </a:xfrm>
          <a:prstGeom prst="roundRect">
            <a:avLst>
              <a:gd name="adj" fmla="val 6222"/>
            </a:avLst>
          </a:prstGeom>
          <a:solidFill>
            <a:srgbClr val="E5E8FF"/>
          </a:solidFill>
          <a:ln w="11430">
            <a:solidFill>
              <a:srgbClr val="5E6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C0002B5-F5C8-49D6-A2F5-ED5202E492C3}"/>
              </a:ext>
            </a:extLst>
          </p:cNvPr>
          <p:cNvSpPr>
            <a:spLocks noGrp="1"/>
          </p:cNvSpPr>
          <p:nvPr/>
        </p:nvSpPr>
        <p:spPr>
          <a:xfrm>
            <a:off x="7953375" y="2209800"/>
            <a:ext cx="30956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E6BE8"/>
                </a:solidFill>
                <a:latin typeface="DM Sans"/>
                <a:ea typeface="DM Sans"/>
                <a:cs typeface="DM Sans"/>
              </a:defRPr>
            </a:pPr>
            <a:r>
              <a:rPr sz="1125" b="1">
                <a:solidFill>
                  <a:srgbClr val="5E6BE8"/>
                </a:solidFill>
                <a:latin typeface="DM Sans"/>
                <a:ea typeface="DM Sans"/>
                <a:cs typeface="DM Sans"/>
              </a:rPr>
              <a:t>Pregunta principal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6F0F5DF-C4A9-4946-BB0D-8E2EE7F53528}"/>
              </a:ext>
            </a:extLst>
          </p:cNvPr>
          <p:cNvSpPr>
            <a:spLocks noGrp="1"/>
          </p:cNvSpPr>
          <p:nvPr/>
        </p:nvSpPr>
        <p:spPr>
          <a:xfrm>
            <a:off x="7953375" y="2571750"/>
            <a:ext cx="3095625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Si pudieras cambiar UNA cosa para mejorar la app, ¿qué sería?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0C1826A-03BC-472F-A936-B1F004FD7BE4}"/>
              </a:ext>
            </a:extLst>
          </p:cNvPr>
          <p:cNvSpPr>
            <a:spLocks noGrp="1"/>
          </p:cNvSpPr>
          <p:nvPr/>
        </p:nvSpPr>
        <p:spPr>
          <a:xfrm>
            <a:off x="7953375" y="3714750"/>
            <a:ext cx="3095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938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El formato fuerza una prioridad clara y revela dónde el producto está fallando en la operación.</a:t>
            </a:r>
          </a:p>
        </p:txBody>
      </p:sp>
      <p:sp>
        <p:nvSpPr>
          <p:cNvPr id="13" name="Retângulo Arredondado 12">
            <a:extLst>
              <a:ext uri="{FF2B5EF4-FFF2-40B4-BE49-F238E27FC236}">
                <a16:creationId xmlns:a16="http://schemas.microsoft.com/office/drawing/2014/main" id="{E5DEC4C8-2848-48A3-B57B-E305B01C4ECF}"/>
              </a:ext>
            </a:extLst>
          </p:cNvPr>
          <p:cNvSpPr>
            <a:spLocks noGrp="1"/>
          </p:cNvSpPr>
          <p:nvPr/>
        </p:nvSpPr>
        <p:spPr>
          <a:xfrm>
            <a:off x="190500" y="5676900"/>
            <a:ext cx="11811000" cy="371475"/>
          </a:xfrm>
          <a:prstGeom prst="roundRect">
            <a:avLst>
              <a:gd name="adj" fmla="val 30769"/>
            </a:avLst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7CDBC70-34C4-45AA-ABCB-55065D34D75C}"/>
              </a:ext>
            </a:extLst>
          </p:cNvPr>
          <p:cNvSpPr>
            <a:spLocks noGrp="1"/>
          </p:cNvSpPr>
          <p:nvPr/>
        </p:nvSpPr>
        <p:spPr>
          <a:xfrm>
            <a:off x="361950" y="5762625"/>
            <a:ext cx="1143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Research design → The courier survey links self-reported work intensity to the exact moments that create delay, uncertainty or lost earning potential.</a:t>
            </a:r>
          </a:p>
        </p:txBody>
      </p:sp>
      <p:sp>
        <p:nvSpPr>
          <p:cNvPr id="15" name="Conector Reto 14">
            <a:extLst>
              <a:ext uri="{FF2B5EF4-FFF2-40B4-BE49-F238E27FC236}">
                <a16:creationId xmlns:a16="http://schemas.microsoft.com/office/drawing/2014/main" id="{27C54DC7-D835-4D6B-A030-16FA916909A5}"/>
              </a:ext>
            </a:extLst>
          </p:cNvPr>
          <p:cNvSpPr>
            <a:spLocks noGrp="1"/>
          </p:cNvSpPr>
          <p:nvPr/>
        </p:nvSpPr>
        <p:spPr>
          <a:xfrm>
            <a:off x="190500" y="6200775"/>
            <a:ext cx="11811000" cy="0"/>
          </a:xfrm>
          <a:prstGeom prst="line">
            <a:avLst/>
          </a:prstGeom>
          <a:ln w="9525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C1AF889-0FDE-4019-B3D3-A2AB946709FA}"/>
              </a:ext>
            </a:extLst>
          </p:cNvPr>
          <p:cNvSpPr>
            <a:spLocks noGrp="1"/>
          </p:cNvSpPr>
          <p:nvPr/>
        </p:nvSpPr>
        <p:spPr>
          <a:xfrm>
            <a:off x="190500" y="633412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Ta-Da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C6B7F31-FA23-4961-A8BC-A040E29CB92F}"/>
              </a:ext>
            </a:extLst>
          </p:cNvPr>
          <p:cNvSpPr>
            <a:spLocks noGrp="1"/>
          </p:cNvSpPr>
          <p:nvPr/>
        </p:nvSpPr>
        <p:spPr>
          <a:xfrm>
            <a:off x="5810250" y="633412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22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2C5E88C4-89D5-4B94-82F6-91783BA91F56}"/>
              </a:ext>
            </a:extLst>
          </p:cNvPr>
          <p:cNvSpPr>
            <a:spLocks noGrp="1"/>
          </p:cNvSpPr>
          <p:nvPr/>
        </p:nvSpPr>
        <p:spPr>
          <a:xfrm>
            <a:off x="7953375" y="63341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Appendix · Research Instrument</a:t>
            </a:r>
          </a:p>
        </p:txBody>
      </p:sp>
    </p:spTree>
    <p:extLst>
      <p:ext uri="{BB962C8B-B14F-4D97-AF65-F5344CB8AC3E}">
        <p14:creationId xmlns:p14="http://schemas.microsoft.com/office/powerpoint/2010/main" val="8506034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 28">
            <a:extLst>
              <a:ext uri="{FF2B5EF4-FFF2-40B4-BE49-F238E27FC236}">
                <a16:creationId xmlns:a16="http://schemas.microsoft.com/office/drawing/2014/main" id="{86F49DED-E2BC-4C19-8DD5-137C472B8495}"/>
              </a:ext>
            </a:extLst>
          </p:cNvPr>
          <p:cNvSpPr>
            <a:spLocks noGrp="1"/>
          </p:cNvSpPr>
          <p:nvPr/>
        </p:nvSpPr>
        <p:spPr>
          <a:xfrm>
            <a:off x="190500" y="228600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15 / COURIER BASE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98F0DF6-62B6-4909-9039-236F9E443477}"/>
              </a:ext>
            </a:extLst>
          </p:cNvPr>
          <p:cNvSpPr>
            <a:spLocks noGrp="1"/>
          </p:cNvSpPr>
          <p:nvPr/>
        </p:nvSpPr>
        <p:spPr>
          <a:xfrm>
            <a:off x="190500" y="533400"/>
            <a:ext cx="1143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Courier capacity follows the seller footprint, with more scale behind it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D9DB3A7-198D-403B-A5C1-BFC03189E3A4}"/>
              </a:ext>
            </a:extLst>
          </p:cNvPr>
          <p:cNvSpPr>
            <a:spLocks noGrp="1"/>
          </p:cNvSpPr>
          <p:nvPr/>
        </p:nvSpPr>
        <p:spPr>
          <a:xfrm>
            <a:off x="190500" y="1219200"/>
            <a:ext cx="1123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16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The courier network is concentrated in the same six countries, but the active base is broader than the 322-seller matched sample.</a:t>
            </a:r>
          </a:p>
        </p:txBody>
      </p:sp>
      <p:sp>
        <p:nvSpPr>
          <p:cNvPr id="4" name="Retângulo Arredondado 3">
            <a:extLst>
              <a:ext uri="{FF2B5EF4-FFF2-40B4-BE49-F238E27FC236}">
                <a16:creationId xmlns:a16="http://schemas.microsoft.com/office/drawing/2014/main" id="{4E700A4D-6566-4C0E-BFD5-546AC0D894FC}"/>
              </a:ext>
            </a:extLst>
          </p:cNvPr>
          <p:cNvSpPr>
            <a:spLocks noGrp="1"/>
          </p:cNvSpPr>
          <p:nvPr/>
        </p:nvSpPr>
        <p:spPr>
          <a:xfrm>
            <a:off x="190500" y="1724025"/>
            <a:ext cx="2667000" cy="1066800"/>
          </a:xfrm>
          <a:prstGeom prst="roundRect">
            <a:avLst>
              <a:gd name="adj" fmla="val 13393"/>
            </a:avLst>
          </a:prstGeom>
          <a:solidFill>
            <a:srgbClr val="FFFFFF"/>
          </a:solidFill>
          <a:ln w="9525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4134E07-FF9B-4B89-9143-58567A27DF98}"/>
              </a:ext>
            </a:extLst>
          </p:cNvPr>
          <p:cNvSpPr>
            <a:spLocks noGrp="1"/>
          </p:cNvSpPr>
          <p:nvPr/>
        </p:nvSpPr>
        <p:spPr>
          <a:xfrm>
            <a:off x="361950" y="1895475"/>
            <a:ext cx="2324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6,138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53C3AA7-7572-4BD4-BC6C-A755893F2B3C}"/>
              </a:ext>
            </a:extLst>
          </p:cNvPr>
          <p:cNvSpPr>
            <a:spLocks noGrp="1"/>
          </p:cNvSpPr>
          <p:nvPr/>
        </p:nvSpPr>
        <p:spPr>
          <a:xfrm>
            <a:off x="361950" y="238125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active couriers in the last 30 days</a:t>
            </a:r>
          </a:p>
        </p:txBody>
      </p:sp>
      <p:sp>
        <p:nvSpPr>
          <p:cNvPr id="7" name="Retângulo Arredondado 6">
            <a:extLst>
              <a:ext uri="{FF2B5EF4-FFF2-40B4-BE49-F238E27FC236}">
                <a16:creationId xmlns:a16="http://schemas.microsoft.com/office/drawing/2014/main" id="{D69FBDAF-3D78-408A-BC4A-4295661A7810}"/>
              </a:ext>
            </a:extLst>
          </p:cNvPr>
          <p:cNvSpPr>
            <a:spLocks noGrp="1"/>
          </p:cNvSpPr>
          <p:nvPr/>
        </p:nvSpPr>
        <p:spPr>
          <a:xfrm>
            <a:off x="3048000" y="1724025"/>
            <a:ext cx="2667000" cy="1066800"/>
          </a:xfrm>
          <a:prstGeom prst="roundRect">
            <a:avLst>
              <a:gd name="adj" fmla="val 13393"/>
            </a:avLst>
          </a:prstGeom>
          <a:solidFill>
            <a:srgbClr val="FFE0E9"/>
          </a:solidFill>
          <a:ln w="9525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0EB4619-BD83-4394-8EF2-33060DDF4464}"/>
              </a:ext>
            </a:extLst>
          </p:cNvPr>
          <p:cNvSpPr>
            <a:spLocks noGrp="1"/>
          </p:cNvSpPr>
          <p:nvPr/>
        </p:nvSpPr>
        <p:spPr>
          <a:xfrm>
            <a:off x="3219450" y="1895475"/>
            <a:ext cx="2324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E95878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E95878"/>
                </a:solidFill>
                <a:latin typeface="DM Sans"/>
                <a:ea typeface="DM Sans"/>
                <a:cs typeface="DM Sans"/>
              </a:rPr>
              <a:t>33,874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8C1E739-BE02-4873-B69F-22F1334CA35A}"/>
              </a:ext>
            </a:extLst>
          </p:cNvPr>
          <p:cNvSpPr>
            <a:spLocks noGrp="1"/>
          </p:cNvSpPr>
          <p:nvPr/>
        </p:nvSpPr>
        <p:spPr>
          <a:xfrm>
            <a:off x="3219450" y="238125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historical couriers in the base</a:t>
            </a:r>
          </a:p>
        </p:txBody>
      </p:sp>
      <p:sp>
        <p:nvSpPr>
          <p:cNvPr id="10" name="Retângulo Arredondado 9">
            <a:extLst>
              <a:ext uri="{FF2B5EF4-FFF2-40B4-BE49-F238E27FC236}">
                <a16:creationId xmlns:a16="http://schemas.microsoft.com/office/drawing/2014/main" id="{AE8230ED-A29D-4CCA-8A96-11E784C37A04}"/>
              </a:ext>
            </a:extLst>
          </p:cNvPr>
          <p:cNvSpPr>
            <a:spLocks noGrp="1"/>
          </p:cNvSpPr>
          <p:nvPr/>
        </p:nvSpPr>
        <p:spPr>
          <a:xfrm>
            <a:off x="5905500" y="1724025"/>
            <a:ext cx="2667000" cy="1066800"/>
          </a:xfrm>
          <a:prstGeom prst="roundRect">
            <a:avLst>
              <a:gd name="adj" fmla="val 13393"/>
            </a:avLst>
          </a:prstGeom>
          <a:solidFill>
            <a:srgbClr val="E5E8FF"/>
          </a:solidFill>
          <a:ln w="9525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111466B-B605-42CF-8036-AB6B26F02C17}"/>
              </a:ext>
            </a:extLst>
          </p:cNvPr>
          <p:cNvSpPr>
            <a:spLocks noGrp="1"/>
          </p:cNvSpPr>
          <p:nvPr/>
        </p:nvSpPr>
        <p:spPr>
          <a:xfrm>
            <a:off x="6076950" y="1895475"/>
            <a:ext cx="2324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5E6BE8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5E6BE8"/>
                </a:solidFill>
                <a:latin typeface="DM Sans"/>
                <a:ea typeface="DM Sans"/>
                <a:cs typeface="DM Sans"/>
              </a:rPr>
              <a:t>46%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1AA97F5-714D-4BF9-84AD-6E9D4453A5E8}"/>
              </a:ext>
            </a:extLst>
          </p:cNvPr>
          <p:cNvSpPr>
            <a:spLocks noGrp="1"/>
          </p:cNvSpPr>
          <p:nvPr/>
        </p:nvSpPr>
        <p:spPr>
          <a:xfrm>
            <a:off x="6076950" y="238125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Mexico share of active couriers</a:t>
            </a:r>
          </a:p>
        </p:txBody>
      </p:sp>
      <p:sp>
        <p:nvSpPr>
          <p:cNvPr id="13" name="Retângulo Arredondado 12">
            <a:extLst>
              <a:ext uri="{FF2B5EF4-FFF2-40B4-BE49-F238E27FC236}">
                <a16:creationId xmlns:a16="http://schemas.microsoft.com/office/drawing/2014/main" id="{338EDC7F-995B-4E29-8206-76069E102E54}"/>
              </a:ext>
            </a:extLst>
          </p:cNvPr>
          <p:cNvSpPr>
            <a:spLocks noGrp="1"/>
          </p:cNvSpPr>
          <p:nvPr/>
        </p:nvSpPr>
        <p:spPr>
          <a:xfrm>
            <a:off x="8763000" y="1724025"/>
            <a:ext cx="2667000" cy="1066800"/>
          </a:xfrm>
          <a:prstGeom prst="roundRect">
            <a:avLst>
              <a:gd name="adj" fmla="val 13393"/>
            </a:avLst>
          </a:prstGeom>
          <a:solidFill>
            <a:srgbClr val="EAD9FF"/>
          </a:solidFill>
          <a:ln w="9525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CEFCA05-E8A0-4BEA-9EF7-17B9689DB275}"/>
              </a:ext>
            </a:extLst>
          </p:cNvPr>
          <p:cNvSpPr>
            <a:spLocks noGrp="1"/>
          </p:cNvSpPr>
          <p:nvPr/>
        </p:nvSpPr>
        <p:spPr>
          <a:xfrm>
            <a:off x="8934450" y="1895475"/>
            <a:ext cx="2324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1.6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3E9E708-D4D9-4C23-8373-3270CCE91C7B}"/>
              </a:ext>
            </a:extLst>
          </p:cNvPr>
          <p:cNvSpPr>
            <a:spLocks noGrp="1"/>
          </p:cNvSpPr>
          <p:nvPr/>
        </p:nvSpPr>
        <p:spPr>
          <a:xfrm>
            <a:off x="8934450" y="238125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median active tenure in months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="190500" y="3162300"/>
          <a:ext cx="7239000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Retângulo Arredondado 16">
            <a:extLst>
              <a:ext uri="{FF2B5EF4-FFF2-40B4-BE49-F238E27FC236}">
                <a16:creationId xmlns:a16="http://schemas.microsoft.com/office/drawing/2014/main" id="{F5A69AB5-041E-487C-AFB4-5AC46EB13E97}"/>
              </a:ext>
            </a:extLst>
          </p:cNvPr>
          <p:cNvSpPr>
            <a:spLocks noGrp="1"/>
          </p:cNvSpPr>
          <p:nvPr/>
        </p:nvSpPr>
        <p:spPr>
          <a:xfrm>
            <a:off x="7905750" y="3238500"/>
            <a:ext cx="3476625" cy="1047750"/>
          </a:xfrm>
          <a:prstGeom prst="roundRect">
            <a:avLst>
              <a:gd name="adj" fmla="val 14545"/>
            </a:avLst>
          </a:prstGeom>
          <a:solidFill>
            <a:srgbClr val="FFE0E9"/>
          </a:solidFill>
          <a:ln w="13335">
            <a:solidFill>
              <a:srgbClr val="E958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59B7D024-BE95-490A-9A1B-4D861F65B2DF}"/>
              </a:ext>
            </a:extLst>
          </p:cNvPr>
          <p:cNvSpPr>
            <a:spLocks noGrp="1"/>
          </p:cNvSpPr>
          <p:nvPr/>
        </p:nvSpPr>
        <p:spPr>
          <a:xfrm>
            <a:off x="8077200" y="3400425"/>
            <a:ext cx="31337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95878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E95878"/>
                </a:solidFill>
                <a:latin typeface="DM Sans"/>
                <a:ea typeface="DM Sans"/>
                <a:cs typeface="DM Sans"/>
              </a:rPr>
              <a:t>Concentration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49B6805-06D0-49B1-994A-D441921EE0F4}"/>
              </a:ext>
            </a:extLst>
          </p:cNvPr>
          <p:cNvSpPr>
            <a:spLocks noGrp="1"/>
          </p:cNvSpPr>
          <p:nvPr/>
        </p:nvSpPr>
        <p:spPr>
          <a:xfrm>
            <a:off x="8077200" y="3743325"/>
            <a:ext cx="31337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Mexico and Colombia account for 72.7% of active couriers. They also represent 82.0% of matched sellers.</a:t>
            </a:r>
          </a:p>
        </p:txBody>
      </p:sp>
      <p:sp>
        <p:nvSpPr>
          <p:cNvPr id="20" name="Retângulo Arredondado 19">
            <a:extLst>
              <a:ext uri="{FF2B5EF4-FFF2-40B4-BE49-F238E27FC236}">
                <a16:creationId xmlns:a16="http://schemas.microsoft.com/office/drawing/2014/main" id="{D6C2E4F5-748D-4C84-8989-23172F63A7FF}"/>
              </a:ext>
            </a:extLst>
          </p:cNvPr>
          <p:cNvSpPr>
            <a:spLocks noGrp="1"/>
          </p:cNvSpPr>
          <p:nvPr/>
        </p:nvSpPr>
        <p:spPr>
          <a:xfrm>
            <a:off x="7905750" y="4476750"/>
            <a:ext cx="3476625" cy="1047750"/>
          </a:xfrm>
          <a:prstGeom prst="roundRect">
            <a:avLst>
              <a:gd name="adj" fmla="val 14545"/>
            </a:avLst>
          </a:prstGeom>
          <a:solidFill>
            <a:srgbClr val="E5E8FF"/>
          </a:solidFill>
          <a:ln w="13335">
            <a:solidFill>
              <a:srgbClr val="5E6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01989900-21D9-4699-A799-978C9B3D64A4}"/>
              </a:ext>
            </a:extLst>
          </p:cNvPr>
          <p:cNvSpPr>
            <a:spLocks noGrp="1"/>
          </p:cNvSpPr>
          <p:nvPr/>
        </p:nvSpPr>
        <p:spPr>
          <a:xfrm>
            <a:off x="8077200" y="4638675"/>
            <a:ext cx="31337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5E6BE8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5E6BE8"/>
                </a:solidFill>
                <a:latin typeface="DM Sans"/>
                <a:ea typeface="DM Sans"/>
                <a:cs typeface="DM Sans"/>
              </a:rPr>
              <a:t>Planning implication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47345854-7F97-484B-A841-2D7ACDB79D9F}"/>
              </a:ext>
            </a:extLst>
          </p:cNvPr>
          <p:cNvSpPr>
            <a:spLocks noGrp="1"/>
          </p:cNvSpPr>
          <p:nvPr/>
        </p:nvSpPr>
        <p:spPr>
          <a:xfrm>
            <a:off x="8077200" y="4981575"/>
            <a:ext cx="31337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5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Courier capacity and seller enablement should be planned together by country and city, especially in Mexico.</a:t>
            </a:r>
          </a:p>
        </p:txBody>
      </p:sp>
      <p:sp>
        <p:nvSpPr>
          <p:cNvPr id="23" name="Retângulo Arredondado 22">
            <a:extLst>
              <a:ext uri="{FF2B5EF4-FFF2-40B4-BE49-F238E27FC236}">
                <a16:creationId xmlns:a16="http://schemas.microsoft.com/office/drawing/2014/main" id="{3AEBE2BC-1031-42AC-9545-E50D580B2691}"/>
              </a:ext>
            </a:extLst>
          </p:cNvPr>
          <p:cNvSpPr>
            <a:spLocks noGrp="1"/>
          </p:cNvSpPr>
          <p:nvPr/>
        </p:nvSpPr>
        <p:spPr>
          <a:xfrm>
            <a:off x="190500" y="5676900"/>
            <a:ext cx="11811000" cy="371475"/>
          </a:xfrm>
          <a:prstGeom prst="roundRect">
            <a:avLst>
              <a:gd name="adj" fmla="val 30769"/>
            </a:avLst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118068A4-A36B-4F67-B7BA-D981A19698B0}"/>
              </a:ext>
            </a:extLst>
          </p:cNvPr>
          <p:cNvSpPr>
            <a:spLocks noGrp="1"/>
          </p:cNvSpPr>
          <p:nvPr/>
        </p:nvSpPr>
        <p:spPr>
          <a:xfrm>
            <a:off x="361950" y="5762625"/>
            <a:ext cx="1143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Planning implication → Use the courier base to plan capacity by market. Use the seller sample to design and prioritize the playbooks.</a:t>
            </a:r>
          </a:p>
        </p:txBody>
      </p:sp>
      <p:sp>
        <p:nvSpPr>
          <p:cNvPr id="25" name="Conector Reto 24">
            <a:extLst>
              <a:ext uri="{FF2B5EF4-FFF2-40B4-BE49-F238E27FC236}">
                <a16:creationId xmlns:a16="http://schemas.microsoft.com/office/drawing/2014/main" id="{B8D7E72E-B0E9-40FA-AADD-A0BBC53ACA3B}"/>
              </a:ext>
            </a:extLst>
          </p:cNvPr>
          <p:cNvSpPr>
            <a:spLocks noGrp="1"/>
          </p:cNvSpPr>
          <p:nvPr/>
        </p:nvSpPr>
        <p:spPr>
          <a:xfrm>
            <a:off x="190500" y="6200775"/>
            <a:ext cx="11811000" cy="0"/>
          </a:xfrm>
          <a:prstGeom prst="line">
            <a:avLst/>
          </a:prstGeom>
          <a:ln w="9525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9E7E4B7D-3EAD-41DE-80FF-CEE189057DBA}"/>
              </a:ext>
            </a:extLst>
          </p:cNvPr>
          <p:cNvSpPr>
            <a:spLocks noGrp="1"/>
          </p:cNvSpPr>
          <p:nvPr/>
        </p:nvSpPr>
        <p:spPr>
          <a:xfrm>
            <a:off x="190500" y="633412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Ta-Da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062CD720-0233-41FA-98D8-8D7EFA683CAF}"/>
              </a:ext>
            </a:extLst>
          </p:cNvPr>
          <p:cNvSpPr>
            <a:spLocks noGrp="1"/>
          </p:cNvSpPr>
          <p:nvPr/>
        </p:nvSpPr>
        <p:spPr>
          <a:xfrm>
            <a:off x="5810250" y="633412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15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3DEBED30-B02F-43A1-ABF2-C63031CA7BEA}"/>
              </a:ext>
            </a:extLst>
          </p:cNvPr>
          <p:cNvSpPr>
            <a:spLocks noGrp="1"/>
          </p:cNvSpPr>
          <p:nvPr/>
        </p:nvSpPr>
        <p:spPr>
          <a:xfrm>
            <a:off x="7953375" y="63341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Courier Ecosystem</a:t>
            </a:r>
          </a:p>
        </p:txBody>
      </p:sp>
    </p:spTree>
    <p:extLst>
      <p:ext uri="{BB962C8B-B14F-4D97-AF65-F5344CB8AC3E}">
        <p14:creationId xmlns:p14="http://schemas.microsoft.com/office/powerpoint/2010/main" val="2055407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4EF96AE4-A9DF-4577-BB9D-284712919D5A}"/>
              </a:ext>
            </a:extLst>
          </p:cNvPr>
          <p:cNvSpPr>
            <a:spLocks noGrp="1"/>
          </p:cNvSpPr>
          <p:nvPr/>
        </p:nvSpPr>
        <p:spPr>
          <a:xfrm>
            <a:off x="190500" y="228600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16 / COURIER TENURE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349C1A6-5329-45F4-AAA7-155B2C065E92}"/>
              </a:ext>
            </a:extLst>
          </p:cNvPr>
          <p:cNvSpPr>
            <a:spLocks noGrp="1"/>
          </p:cNvSpPr>
          <p:nvPr/>
        </p:nvSpPr>
        <p:spPr>
          <a:xfrm>
            <a:off x="190500" y="533400"/>
            <a:ext cx="1143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Courier retention is decided early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F9D85C3-B3ED-404E-B2FE-3B1716AB5EA7}"/>
              </a:ext>
            </a:extLst>
          </p:cNvPr>
          <p:cNvSpPr>
            <a:spLocks noGrp="1"/>
          </p:cNvSpPr>
          <p:nvPr/>
        </p:nvSpPr>
        <p:spPr>
          <a:xfrm>
            <a:off x="190500" y="1219200"/>
            <a:ext cx="1123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16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The average tenure is pulled up by a small veteran group. Most of the historical base leaves within the first few months.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="190500" y="1809750"/>
          <a:ext cx="6667500" cy="3238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97D29C6C-8A01-4579-A4A9-2452477AFFCB}"/>
              </a:ext>
            </a:extLst>
          </p:cNvPr>
          <p:cNvSpPr>
            <a:spLocks noGrp="1"/>
          </p:cNvSpPr>
          <p:nvPr/>
        </p:nvSpPr>
        <p:spPr>
          <a:xfrm>
            <a:off x="190500" y="5181600"/>
            <a:ext cx="666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Share of 33,874 historical couriers by active tenure band</a:t>
            </a:r>
          </a:p>
        </p:txBody>
      </p:sp>
      <p:sp>
        <p:nvSpPr>
          <p:cNvPr id="6" name="Retângulo Arredondado 5">
            <a:extLst>
              <a:ext uri="{FF2B5EF4-FFF2-40B4-BE49-F238E27FC236}">
                <a16:creationId xmlns:a16="http://schemas.microsoft.com/office/drawing/2014/main" id="{9C3A457D-3BEC-4D43-81DE-ED9954B552A4}"/>
              </a:ext>
            </a:extLst>
          </p:cNvPr>
          <p:cNvSpPr>
            <a:spLocks noGrp="1"/>
          </p:cNvSpPr>
          <p:nvPr/>
        </p:nvSpPr>
        <p:spPr>
          <a:xfrm>
            <a:off x="7524750" y="1809750"/>
            <a:ext cx="3810000" cy="1000125"/>
          </a:xfrm>
          <a:prstGeom prst="roundRect">
            <a:avLst>
              <a:gd name="adj" fmla="val 15238"/>
            </a:avLst>
          </a:prstGeom>
          <a:solidFill>
            <a:srgbClr val="FFE0E9"/>
          </a:solidFill>
          <a:ln w="13335">
            <a:solidFill>
              <a:srgbClr val="E958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17C0E81-4DFE-434A-870D-0FF89B1B401D}"/>
              </a:ext>
            </a:extLst>
          </p:cNvPr>
          <p:cNvSpPr>
            <a:spLocks noGrp="1"/>
          </p:cNvSpPr>
          <p:nvPr/>
        </p:nvSpPr>
        <p:spPr>
          <a:xfrm>
            <a:off x="7696200" y="1971675"/>
            <a:ext cx="3467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95878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E95878"/>
                </a:solidFill>
                <a:latin typeface="DM Sans"/>
                <a:ea typeface="DM Sans"/>
                <a:cs typeface="DM Sans"/>
              </a:rPr>
              <a:t>62% stay active for 3 months or less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0A43AEA-8833-4A64-8A60-F421E5CFA58B}"/>
              </a:ext>
            </a:extLst>
          </p:cNvPr>
          <p:cNvSpPr>
            <a:spLocks noGrp="1"/>
          </p:cNvSpPr>
          <p:nvPr/>
        </p:nvSpPr>
        <p:spPr>
          <a:xfrm>
            <a:off x="7696200" y="2314575"/>
            <a:ext cx="3467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21,020 couriers sit in the first three tenure bands. The first-order experience matters disproportionately.</a:t>
            </a:r>
          </a:p>
        </p:txBody>
      </p:sp>
      <p:sp>
        <p:nvSpPr>
          <p:cNvPr id="9" name="Retângulo Arredondado 8">
            <a:extLst>
              <a:ext uri="{FF2B5EF4-FFF2-40B4-BE49-F238E27FC236}">
                <a16:creationId xmlns:a16="http://schemas.microsoft.com/office/drawing/2014/main" id="{851A9259-11D2-4AD1-A40D-610352D0774C}"/>
              </a:ext>
            </a:extLst>
          </p:cNvPr>
          <p:cNvSpPr>
            <a:spLocks noGrp="1"/>
          </p:cNvSpPr>
          <p:nvPr/>
        </p:nvSpPr>
        <p:spPr>
          <a:xfrm>
            <a:off x="7524750" y="3000375"/>
            <a:ext cx="3810000" cy="1000125"/>
          </a:xfrm>
          <a:prstGeom prst="roundRect">
            <a:avLst>
              <a:gd name="adj" fmla="val 15238"/>
            </a:avLst>
          </a:prstGeom>
          <a:solidFill>
            <a:srgbClr val="EAD9FF"/>
          </a:solidFill>
          <a:ln w="13335">
            <a:solidFill>
              <a:srgbClr val="9147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2C78AF8-8EF7-45EC-8E0E-1FDFDEAC12C7}"/>
              </a:ext>
            </a:extLst>
          </p:cNvPr>
          <p:cNvSpPr>
            <a:spLocks noGrp="1"/>
          </p:cNvSpPr>
          <p:nvPr/>
        </p:nvSpPr>
        <p:spPr>
          <a:xfrm>
            <a:off x="7696200" y="3162300"/>
            <a:ext cx="3467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Only 5.5% exceed two years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A2303DA-78EB-41E3-810D-5AD623201C91}"/>
              </a:ext>
            </a:extLst>
          </p:cNvPr>
          <p:cNvSpPr>
            <a:spLocks noGrp="1"/>
          </p:cNvSpPr>
          <p:nvPr/>
        </p:nvSpPr>
        <p:spPr>
          <a:xfrm>
            <a:off x="7696200" y="3505200"/>
            <a:ext cx="3467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1,847 couriers form the long-tenure group. They are the natural source of coaching and operational feedback.</a:t>
            </a:r>
          </a:p>
        </p:txBody>
      </p:sp>
      <p:sp>
        <p:nvSpPr>
          <p:cNvPr id="12" name="Retângulo Arredondado 11">
            <a:extLst>
              <a:ext uri="{FF2B5EF4-FFF2-40B4-BE49-F238E27FC236}">
                <a16:creationId xmlns:a16="http://schemas.microsoft.com/office/drawing/2014/main" id="{35973B42-595B-4C0D-8A31-AD486CD99647}"/>
              </a:ext>
            </a:extLst>
          </p:cNvPr>
          <p:cNvSpPr>
            <a:spLocks noGrp="1"/>
          </p:cNvSpPr>
          <p:nvPr/>
        </p:nvSpPr>
        <p:spPr>
          <a:xfrm>
            <a:off x="7524750" y="4191000"/>
            <a:ext cx="3810000" cy="1000125"/>
          </a:xfrm>
          <a:prstGeom prst="roundRect">
            <a:avLst>
              <a:gd name="adj" fmla="val 15238"/>
            </a:avLst>
          </a:prstGeom>
          <a:solidFill>
            <a:srgbClr val="E5E8FF"/>
          </a:solidFill>
          <a:ln w="13335">
            <a:solidFill>
              <a:srgbClr val="5E6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AE8B7F7-58C2-472E-BEF0-5BBA4C5C626C}"/>
              </a:ext>
            </a:extLst>
          </p:cNvPr>
          <p:cNvSpPr>
            <a:spLocks noGrp="1"/>
          </p:cNvSpPr>
          <p:nvPr/>
        </p:nvSpPr>
        <p:spPr>
          <a:xfrm>
            <a:off x="7696200" y="4352925"/>
            <a:ext cx="3467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5E6BE8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5E6BE8"/>
                </a:solidFill>
                <a:latin typeface="DM Sans"/>
                <a:ea typeface="DM Sans"/>
                <a:cs typeface="DM Sans"/>
              </a:rPr>
              <a:t>665 average deliveries per courier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91E813A-D07A-4113-A2D1-6E971487B9F4}"/>
              </a:ext>
            </a:extLst>
          </p:cNvPr>
          <p:cNvSpPr>
            <a:spLocks noGrp="1"/>
          </p:cNvSpPr>
          <p:nvPr/>
        </p:nvSpPr>
        <p:spPr>
          <a:xfrm>
            <a:off x="7696200" y="4695825"/>
            <a:ext cx="3467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The network accumulates meaningful operational experience, but that experience is not evenly retained across the base.</a:t>
            </a:r>
          </a:p>
        </p:txBody>
      </p:sp>
      <p:sp>
        <p:nvSpPr>
          <p:cNvPr id="15" name="Retângulo Arredondado 14">
            <a:extLst>
              <a:ext uri="{FF2B5EF4-FFF2-40B4-BE49-F238E27FC236}">
                <a16:creationId xmlns:a16="http://schemas.microsoft.com/office/drawing/2014/main" id="{F4B0E504-95B6-45C9-A1F0-0D7B6656141E}"/>
              </a:ext>
            </a:extLst>
          </p:cNvPr>
          <p:cNvSpPr>
            <a:spLocks noGrp="1"/>
          </p:cNvSpPr>
          <p:nvPr/>
        </p:nvSpPr>
        <p:spPr>
          <a:xfrm>
            <a:off x="190500" y="5676900"/>
            <a:ext cx="11811000" cy="371475"/>
          </a:xfrm>
          <a:prstGeom prst="roundRect">
            <a:avLst>
              <a:gd name="adj" fmla="val 30769"/>
            </a:avLst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D25D7BB-5E27-44A7-B883-E66ACBA630C7}"/>
              </a:ext>
            </a:extLst>
          </p:cNvPr>
          <p:cNvSpPr>
            <a:spLocks noGrp="1"/>
          </p:cNvSpPr>
          <p:nvPr/>
        </p:nvSpPr>
        <p:spPr>
          <a:xfrm>
            <a:off x="361950" y="5762625"/>
            <a:ext cx="1143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Courier implication → Treat the first 90 days as a service journey with clear expectations, fast support and visible earning logic.</a:t>
            </a:r>
          </a:p>
        </p:txBody>
      </p:sp>
      <p:sp>
        <p:nvSpPr>
          <p:cNvPr id="17" name="Conector Reto 16">
            <a:extLst>
              <a:ext uri="{FF2B5EF4-FFF2-40B4-BE49-F238E27FC236}">
                <a16:creationId xmlns:a16="http://schemas.microsoft.com/office/drawing/2014/main" id="{7D666E23-D487-4605-BDDE-F93D7C30993A}"/>
              </a:ext>
            </a:extLst>
          </p:cNvPr>
          <p:cNvSpPr>
            <a:spLocks noGrp="1"/>
          </p:cNvSpPr>
          <p:nvPr/>
        </p:nvSpPr>
        <p:spPr>
          <a:xfrm>
            <a:off x="190500" y="6200775"/>
            <a:ext cx="11811000" cy="0"/>
          </a:xfrm>
          <a:prstGeom prst="line">
            <a:avLst/>
          </a:prstGeom>
          <a:ln w="9525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4CEBE218-8C03-46BE-8F19-21B0F57637E7}"/>
              </a:ext>
            </a:extLst>
          </p:cNvPr>
          <p:cNvSpPr>
            <a:spLocks noGrp="1"/>
          </p:cNvSpPr>
          <p:nvPr/>
        </p:nvSpPr>
        <p:spPr>
          <a:xfrm>
            <a:off x="190500" y="633412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Ta-Da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F9594FC-6A3B-4DC2-A08C-E23A059828A9}"/>
              </a:ext>
            </a:extLst>
          </p:cNvPr>
          <p:cNvSpPr>
            <a:spLocks noGrp="1"/>
          </p:cNvSpPr>
          <p:nvPr/>
        </p:nvSpPr>
        <p:spPr>
          <a:xfrm>
            <a:off x="5810250" y="633412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16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6DC27A5A-1A07-438B-B24B-80C39DD23CA3}"/>
              </a:ext>
            </a:extLst>
          </p:cNvPr>
          <p:cNvSpPr>
            <a:spLocks noGrp="1"/>
          </p:cNvSpPr>
          <p:nvPr/>
        </p:nvSpPr>
        <p:spPr>
          <a:xfrm>
            <a:off x="7953375" y="63341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Courier Ecosystem</a:t>
            </a:r>
          </a:p>
        </p:txBody>
      </p:sp>
    </p:spTree>
    <p:extLst>
      <p:ext uri="{BB962C8B-B14F-4D97-AF65-F5344CB8AC3E}">
        <p14:creationId xmlns:p14="http://schemas.microsoft.com/office/powerpoint/2010/main" val="812210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>
            <a:extLst>
              <a:ext uri="{FF2B5EF4-FFF2-40B4-BE49-F238E27FC236}">
                <a16:creationId xmlns:a16="http://schemas.microsoft.com/office/drawing/2014/main" id="{4919A788-C483-45FC-807B-0FEAA8DFAA48}"/>
              </a:ext>
            </a:extLst>
          </p:cNvPr>
          <p:cNvSpPr>
            <a:spLocks noGrp="1"/>
          </p:cNvSpPr>
          <p:nvPr/>
        </p:nvSpPr>
        <p:spPr>
          <a:xfrm>
            <a:off x="190500" y="228600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17 / COURIER WORK PATTERN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EBDF697-1E06-4DD7-B24A-A29FA15283C4}"/>
              </a:ext>
            </a:extLst>
          </p:cNvPr>
          <p:cNvSpPr>
            <a:spLocks noGrp="1"/>
          </p:cNvSpPr>
          <p:nvPr/>
        </p:nvSpPr>
        <p:spPr>
          <a:xfrm>
            <a:off x="190500" y="533400"/>
            <a:ext cx="1143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Courier work peaks when seller risk peaks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8434B9F-B3B6-4B38-8DAC-62D10ECF1EC0}"/>
              </a:ext>
            </a:extLst>
          </p:cNvPr>
          <p:cNvSpPr>
            <a:spLocks noGrp="1"/>
          </p:cNvSpPr>
          <p:nvPr/>
        </p:nvSpPr>
        <p:spPr>
          <a:xfrm>
            <a:off x="190500" y="1219200"/>
            <a:ext cx="1123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16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The survey describes a workforce that depends on operational predictability during the same peaks that matter most to sellers.</a:t>
            </a:r>
          </a:p>
        </p:txBody>
      </p:sp>
      <p:sp>
        <p:nvSpPr>
          <p:cNvPr id="4" name="Retângulo Arredondado 3">
            <a:extLst>
              <a:ext uri="{FF2B5EF4-FFF2-40B4-BE49-F238E27FC236}">
                <a16:creationId xmlns:a16="http://schemas.microsoft.com/office/drawing/2014/main" id="{38AB4B1E-C8AF-4172-A279-74FD43D50CEC}"/>
              </a:ext>
            </a:extLst>
          </p:cNvPr>
          <p:cNvSpPr>
            <a:spLocks noGrp="1"/>
          </p:cNvSpPr>
          <p:nvPr/>
        </p:nvSpPr>
        <p:spPr>
          <a:xfrm>
            <a:off x="190500" y="1724025"/>
            <a:ext cx="2571750" cy="1066800"/>
          </a:xfrm>
          <a:prstGeom prst="roundRect">
            <a:avLst>
              <a:gd name="adj" fmla="val 13393"/>
            </a:avLst>
          </a:prstGeom>
          <a:solidFill>
            <a:srgbClr val="FFE0E9"/>
          </a:solidFill>
          <a:ln w="9525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C44A19E-258A-457B-A0D0-F3F01577CFD5}"/>
              </a:ext>
            </a:extLst>
          </p:cNvPr>
          <p:cNvSpPr>
            <a:spLocks noGrp="1"/>
          </p:cNvSpPr>
          <p:nvPr/>
        </p:nvSpPr>
        <p:spPr>
          <a:xfrm>
            <a:off x="361950" y="1895475"/>
            <a:ext cx="2228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E95878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E95878"/>
                </a:solidFill>
                <a:latin typeface="DM Sans"/>
                <a:ea typeface="DM Sans"/>
                <a:cs typeface="DM Sans"/>
              </a:rPr>
              <a:t>85%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D21250F-E457-4B5D-AC7D-24FDE85256B1}"/>
              </a:ext>
            </a:extLst>
          </p:cNvPr>
          <p:cNvSpPr>
            <a:spLocks noGrp="1"/>
          </p:cNvSpPr>
          <p:nvPr/>
        </p:nvSpPr>
        <p:spPr>
          <a:xfrm>
            <a:off x="361950" y="2381250"/>
            <a:ext cx="2228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work 7+ hours per day</a:t>
            </a:r>
          </a:p>
        </p:txBody>
      </p:sp>
      <p:sp>
        <p:nvSpPr>
          <p:cNvPr id="7" name="Retângulo Arredondado 6">
            <a:extLst>
              <a:ext uri="{FF2B5EF4-FFF2-40B4-BE49-F238E27FC236}">
                <a16:creationId xmlns:a16="http://schemas.microsoft.com/office/drawing/2014/main" id="{6521E2EA-B2EA-42C8-A449-52762ECF9972}"/>
              </a:ext>
            </a:extLst>
          </p:cNvPr>
          <p:cNvSpPr>
            <a:spLocks noGrp="1"/>
          </p:cNvSpPr>
          <p:nvPr/>
        </p:nvSpPr>
        <p:spPr>
          <a:xfrm>
            <a:off x="2905125" y="1724025"/>
            <a:ext cx="2571750" cy="1066800"/>
          </a:xfrm>
          <a:prstGeom prst="roundRect">
            <a:avLst>
              <a:gd name="adj" fmla="val 13393"/>
            </a:avLst>
          </a:prstGeom>
          <a:solidFill>
            <a:srgbClr val="FFE2DA"/>
          </a:solidFill>
          <a:ln w="9525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4BD5121-C25B-4F3C-98EB-0EBC00EE817F}"/>
              </a:ext>
            </a:extLst>
          </p:cNvPr>
          <p:cNvSpPr>
            <a:spLocks noGrp="1"/>
          </p:cNvSpPr>
          <p:nvPr/>
        </p:nvSpPr>
        <p:spPr>
          <a:xfrm>
            <a:off x="3076575" y="1895475"/>
            <a:ext cx="2228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E86A4A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E86A4A"/>
                </a:solidFill>
                <a:latin typeface="DM Sans"/>
                <a:ea typeface="DM Sans"/>
                <a:cs typeface="DM Sans"/>
              </a:rPr>
              <a:t>92%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331D20E-1C60-48EA-AEB2-B927E26922CD}"/>
              </a:ext>
            </a:extLst>
          </p:cNvPr>
          <p:cNvSpPr>
            <a:spLocks noGrp="1"/>
          </p:cNvSpPr>
          <p:nvPr/>
        </p:nvSpPr>
        <p:spPr>
          <a:xfrm>
            <a:off x="3076575" y="2381250"/>
            <a:ext cx="2228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work at least one Fri–Sun day</a:t>
            </a:r>
          </a:p>
        </p:txBody>
      </p:sp>
      <p:sp>
        <p:nvSpPr>
          <p:cNvPr id="10" name="Retângulo Arredondado 9">
            <a:extLst>
              <a:ext uri="{FF2B5EF4-FFF2-40B4-BE49-F238E27FC236}">
                <a16:creationId xmlns:a16="http://schemas.microsoft.com/office/drawing/2014/main" id="{E6042F4A-EA28-4E41-8A3E-E2F7FCD1A664}"/>
              </a:ext>
            </a:extLst>
          </p:cNvPr>
          <p:cNvSpPr>
            <a:spLocks noGrp="1"/>
          </p:cNvSpPr>
          <p:nvPr/>
        </p:nvSpPr>
        <p:spPr>
          <a:xfrm>
            <a:off x="5619750" y="1724025"/>
            <a:ext cx="2571750" cy="1066800"/>
          </a:xfrm>
          <a:prstGeom prst="roundRect">
            <a:avLst>
              <a:gd name="adj" fmla="val 13393"/>
            </a:avLst>
          </a:prstGeom>
          <a:solidFill>
            <a:srgbClr val="E5E8FF"/>
          </a:solidFill>
          <a:ln w="9525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A1467E8-C0A5-431A-A4AE-FBFDFA6577D1}"/>
              </a:ext>
            </a:extLst>
          </p:cNvPr>
          <p:cNvSpPr>
            <a:spLocks noGrp="1"/>
          </p:cNvSpPr>
          <p:nvPr/>
        </p:nvSpPr>
        <p:spPr>
          <a:xfrm>
            <a:off x="5791200" y="1895475"/>
            <a:ext cx="2228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5E6BE8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5E6BE8"/>
                </a:solidFill>
                <a:latin typeface="DM Sans"/>
                <a:ea typeface="DM Sans"/>
                <a:cs typeface="DM Sans"/>
              </a:rPr>
              <a:t>76%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8769E9D-F3FF-4C2F-8FD3-6451E58123A7}"/>
              </a:ext>
            </a:extLst>
          </p:cNvPr>
          <p:cNvSpPr>
            <a:spLocks noGrp="1"/>
          </p:cNvSpPr>
          <p:nvPr/>
        </p:nvSpPr>
        <p:spPr>
          <a:xfrm>
            <a:off x="5791200" y="2381250"/>
            <a:ext cx="2228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are fixed to at least one store</a:t>
            </a:r>
          </a:p>
        </p:txBody>
      </p:sp>
      <p:sp>
        <p:nvSpPr>
          <p:cNvPr id="13" name="Retângulo Arredondado 12">
            <a:extLst>
              <a:ext uri="{FF2B5EF4-FFF2-40B4-BE49-F238E27FC236}">
                <a16:creationId xmlns:a16="http://schemas.microsoft.com/office/drawing/2014/main" id="{957740F3-4E59-4D79-9582-1503E4CBB879}"/>
              </a:ext>
            </a:extLst>
          </p:cNvPr>
          <p:cNvSpPr>
            <a:spLocks noGrp="1"/>
          </p:cNvSpPr>
          <p:nvPr/>
        </p:nvSpPr>
        <p:spPr>
          <a:xfrm>
            <a:off x="8334375" y="1724025"/>
            <a:ext cx="2571750" cy="1066800"/>
          </a:xfrm>
          <a:prstGeom prst="roundRect">
            <a:avLst>
              <a:gd name="adj" fmla="val 13393"/>
            </a:avLst>
          </a:prstGeom>
          <a:solidFill>
            <a:srgbClr val="EAD9FF"/>
          </a:solidFill>
          <a:ln w="9525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6A1962D-22C4-4E88-8310-D023F2B555F6}"/>
              </a:ext>
            </a:extLst>
          </p:cNvPr>
          <p:cNvSpPr>
            <a:spLocks noGrp="1"/>
          </p:cNvSpPr>
          <p:nvPr/>
        </p:nvSpPr>
        <p:spPr>
          <a:xfrm>
            <a:off x="8505825" y="1895475"/>
            <a:ext cx="2228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31%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FF6F621-1BCB-41A2-AA89-00A5CC3438B6}"/>
              </a:ext>
            </a:extLst>
          </p:cNvPr>
          <p:cNvSpPr>
            <a:spLocks noGrp="1"/>
          </p:cNvSpPr>
          <p:nvPr/>
        </p:nvSpPr>
        <p:spPr>
          <a:xfrm>
            <a:off x="8505825" y="2381250"/>
            <a:ext cx="2228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also work another platform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B4F25B4-4DEF-46B0-A8C3-B3812104D663}"/>
              </a:ext>
            </a:extLst>
          </p:cNvPr>
          <p:cNvSpPr>
            <a:spLocks noGrp="1"/>
          </p:cNvSpPr>
          <p:nvPr/>
        </p:nvSpPr>
        <p:spPr>
          <a:xfrm>
            <a:off x="190500" y="31813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HOURS PER DAY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="190500" y="3457575"/>
          <a:ext cx="495300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Retângulo 17">
            <a:extLst>
              <a:ext uri="{FF2B5EF4-FFF2-40B4-BE49-F238E27FC236}">
                <a16:creationId xmlns:a16="http://schemas.microsoft.com/office/drawing/2014/main" id="{DF665C46-4AB8-4CC9-87AD-950F2B0D5ADD}"/>
              </a:ext>
            </a:extLst>
          </p:cNvPr>
          <p:cNvSpPr>
            <a:spLocks noGrp="1"/>
          </p:cNvSpPr>
          <p:nvPr/>
        </p:nvSpPr>
        <p:spPr>
          <a:xfrm>
            <a:off x="5810250" y="318135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DAYS WITH DELIVERIES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="5810250" y="3457575"/>
          <a:ext cx="495300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Retângulo Arredondado 19">
            <a:extLst>
              <a:ext uri="{FF2B5EF4-FFF2-40B4-BE49-F238E27FC236}">
                <a16:creationId xmlns:a16="http://schemas.microsoft.com/office/drawing/2014/main" id="{E607E6D6-2CC9-454A-921A-1FA5F9E185C5}"/>
              </a:ext>
            </a:extLst>
          </p:cNvPr>
          <p:cNvSpPr>
            <a:spLocks noGrp="1"/>
          </p:cNvSpPr>
          <p:nvPr/>
        </p:nvSpPr>
        <p:spPr>
          <a:xfrm>
            <a:off x="190500" y="5676900"/>
            <a:ext cx="11811000" cy="371475"/>
          </a:xfrm>
          <a:prstGeom prst="roundRect">
            <a:avLst>
              <a:gd name="adj" fmla="val 30769"/>
            </a:avLst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7B4816CD-8C94-46D3-856D-27350A5DC868}"/>
              </a:ext>
            </a:extLst>
          </p:cNvPr>
          <p:cNvSpPr>
            <a:spLocks noGrp="1"/>
          </p:cNvSpPr>
          <p:nvPr/>
        </p:nvSpPr>
        <p:spPr>
          <a:xfrm>
            <a:off x="361950" y="5762625"/>
            <a:ext cx="1143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Operational implication → A late handoff at a peak hour costs both sides: sellers miss the promise and couriers lose time.</a:t>
            </a:r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6DD45121-C482-410F-9C7C-C6C3D5C5E60D}"/>
              </a:ext>
            </a:extLst>
          </p:cNvPr>
          <p:cNvSpPr>
            <a:spLocks noGrp="1"/>
          </p:cNvSpPr>
          <p:nvPr/>
        </p:nvSpPr>
        <p:spPr>
          <a:xfrm>
            <a:off x="190500" y="6200775"/>
            <a:ext cx="11811000" cy="0"/>
          </a:xfrm>
          <a:prstGeom prst="line">
            <a:avLst/>
          </a:prstGeom>
          <a:ln w="9525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64DD6214-1F92-4637-94A9-61BE094A5B2D}"/>
              </a:ext>
            </a:extLst>
          </p:cNvPr>
          <p:cNvSpPr>
            <a:spLocks noGrp="1"/>
          </p:cNvSpPr>
          <p:nvPr/>
        </p:nvSpPr>
        <p:spPr>
          <a:xfrm>
            <a:off x="190500" y="633412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Ta-Da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7B35547A-6615-4E27-B8F7-282720981E22}"/>
              </a:ext>
            </a:extLst>
          </p:cNvPr>
          <p:cNvSpPr>
            <a:spLocks noGrp="1"/>
          </p:cNvSpPr>
          <p:nvPr/>
        </p:nvSpPr>
        <p:spPr>
          <a:xfrm>
            <a:off x="5810250" y="633412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17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A630BD1D-0D27-4B38-9521-7213696C30EF}"/>
              </a:ext>
            </a:extLst>
          </p:cNvPr>
          <p:cNvSpPr>
            <a:spLocks noGrp="1"/>
          </p:cNvSpPr>
          <p:nvPr/>
        </p:nvSpPr>
        <p:spPr>
          <a:xfrm>
            <a:off x="7953375" y="63341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Courier Ecosystem</a:t>
            </a:r>
          </a:p>
        </p:txBody>
      </p:sp>
    </p:spTree>
    <p:extLst>
      <p:ext uri="{BB962C8B-B14F-4D97-AF65-F5344CB8AC3E}">
        <p14:creationId xmlns:p14="http://schemas.microsoft.com/office/powerpoint/2010/main" val="6927274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D453B3DA-D8F4-4062-88A8-88F3D85EBA54}"/>
              </a:ext>
            </a:extLst>
          </p:cNvPr>
          <p:cNvSpPr>
            <a:spLocks noGrp="1"/>
          </p:cNvSpPr>
          <p:nvPr/>
        </p:nvSpPr>
        <p:spPr>
          <a:xfrm>
            <a:off x="190500" y="228600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18 / COURIER EXPERIENCE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7FD9153-A055-4F6D-AF1C-612309DC55EB}"/>
              </a:ext>
            </a:extLst>
          </p:cNvPr>
          <p:cNvSpPr>
            <a:spLocks noGrp="1"/>
          </p:cNvSpPr>
          <p:nvPr/>
        </p:nvSpPr>
        <p:spPr>
          <a:xfrm>
            <a:off x="190500" y="533400"/>
            <a:ext cx="1143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Courier friction concentrates at the customer handoff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1F78792-E93F-4EDA-97FA-B9F11E6AAF3B}"/>
              </a:ext>
            </a:extLst>
          </p:cNvPr>
          <p:cNvSpPr>
            <a:spLocks noGrp="1"/>
          </p:cNvSpPr>
          <p:nvPr/>
        </p:nvSpPr>
        <p:spPr>
          <a:xfrm>
            <a:off x="190500" y="1219200"/>
            <a:ext cx="1123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16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The leading issues sit between order information, customer contact, navigation and waiting time.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="190500" y="1743075"/>
          <a:ext cx="6572250" cy="3524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BAEE9D59-45FC-49FC-B467-9B73707C1B92}"/>
              </a:ext>
            </a:extLst>
          </p:cNvPr>
          <p:cNvSpPr>
            <a:spLocks noGrp="1"/>
          </p:cNvSpPr>
          <p:nvPr/>
        </p:nvSpPr>
        <p:spPr>
          <a:xfrm>
            <a:off x="190500" y="5334000"/>
            <a:ext cx="6572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Share of 794 couriers selecting each issue; multiple selections allowed</a:t>
            </a:r>
          </a:p>
        </p:txBody>
      </p:sp>
      <p:sp>
        <p:nvSpPr>
          <p:cNvPr id="6" name="Retângulo Arredondado 5">
            <a:extLst>
              <a:ext uri="{FF2B5EF4-FFF2-40B4-BE49-F238E27FC236}">
                <a16:creationId xmlns:a16="http://schemas.microsoft.com/office/drawing/2014/main" id="{D132F879-A836-4006-B611-6B3D6119B9B1}"/>
              </a:ext>
            </a:extLst>
          </p:cNvPr>
          <p:cNvSpPr>
            <a:spLocks noGrp="1"/>
          </p:cNvSpPr>
          <p:nvPr/>
        </p:nvSpPr>
        <p:spPr>
          <a:xfrm>
            <a:off x="7334250" y="1790700"/>
            <a:ext cx="4048125" cy="990600"/>
          </a:xfrm>
          <a:prstGeom prst="roundRect">
            <a:avLst>
              <a:gd name="adj" fmla="val 15385"/>
            </a:avLst>
          </a:prstGeom>
          <a:solidFill>
            <a:srgbClr val="FFE0E9"/>
          </a:solidFill>
          <a:ln w="13335">
            <a:solidFill>
              <a:srgbClr val="E958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E212A58-F31E-4BFB-92A8-33580341FF84}"/>
              </a:ext>
            </a:extLst>
          </p:cNvPr>
          <p:cNvSpPr>
            <a:spLocks noGrp="1"/>
          </p:cNvSpPr>
          <p:nvPr/>
        </p:nvSpPr>
        <p:spPr>
          <a:xfrm>
            <a:off x="7505700" y="1952625"/>
            <a:ext cx="37052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E95878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E95878"/>
                </a:solidFill>
                <a:latin typeface="DM Sans"/>
                <a:ea typeface="DM Sans"/>
                <a:cs typeface="DM Sans"/>
              </a:rPr>
              <a:t>46.9%  |  customer communication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BEB7475-A2C5-4D9B-889A-0E4AD0D27963}"/>
              </a:ext>
            </a:extLst>
          </p:cNvPr>
          <p:cNvSpPr>
            <a:spLocks noGrp="1"/>
          </p:cNvSpPr>
          <p:nvPr/>
        </p:nvSpPr>
        <p:spPr>
          <a:xfrm>
            <a:off x="7505700" y="2295525"/>
            <a:ext cx="37052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Customer contact and arrival uncertainty create work after the order is already in motion.</a:t>
            </a:r>
          </a:p>
        </p:txBody>
      </p:sp>
      <p:sp>
        <p:nvSpPr>
          <p:cNvPr id="9" name="Retângulo Arredondado 8">
            <a:extLst>
              <a:ext uri="{FF2B5EF4-FFF2-40B4-BE49-F238E27FC236}">
                <a16:creationId xmlns:a16="http://schemas.microsoft.com/office/drawing/2014/main" id="{3DAF1476-D345-4DB4-A6E0-7A5CF4587829}"/>
              </a:ext>
            </a:extLst>
          </p:cNvPr>
          <p:cNvSpPr>
            <a:spLocks noGrp="1"/>
          </p:cNvSpPr>
          <p:nvPr/>
        </p:nvSpPr>
        <p:spPr>
          <a:xfrm>
            <a:off x="7334250" y="2971800"/>
            <a:ext cx="4048125" cy="990600"/>
          </a:xfrm>
          <a:prstGeom prst="roundRect">
            <a:avLst>
              <a:gd name="adj" fmla="val 15385"/>
            </a:avLst>
          </a:prstGeom>
          <a:solidFill>
            <a:srgbClr val="E5E8FF"/>
          </a:solidFill>
          <a:ln w="13335">
            <a:solidFill>
              <a:srgbClr val="5E6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776D1E4-97E6-4AD4-888F-764FC68B7D59}"/>
              </a:ext>
            </a:extLst>
          </p:cNvPr>
          <p:cNvSpPr>
            <a:spLocks noGrp="1"/>
          </p:cNvSpPr>
          <p:nvPr/>
        </p:nvSpPr>
        <p:spPr>
          <a:xfrm>
            <a:off x="7505700" y="3133725"/>
            <a:ext cx="37052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5E6BE8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5E6BE8"/>
                </a:solidFill>
                <a:latin typeface="DM Sans"/>
                <a:ea typeface="DM Sans"/>
                <a:cs typeface="DM Sans"/>
              </a:rPr>
              <a:t>36.5%  |  routes and addresses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A1EDBDC-653D-4DED-B0D3-968E134DF355}"/>
              </a:ext>
            </a:extLst>
          </p:cNvPr>
          <p:cNvSpPr>
            <a:spLocks noGrp="1"/>
          </p:cNvSpPr>
          <p:nvPr/>
        </p:nvSpPr>
        <p:spPr>
          <a:xfrm>
            <a:off x="7505700" y="3476625"/>
            <a:ext cx="37052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Bad or incomplete location data increases route time and makes seller promises harder to meet.</a:t>
            </a:r>
          </a:p>
        </p:txBody>
      </p:sp>
      <p:sp>
        <p:nvSpPr>
          <p:cNvPr id="12" name="Retângulo Arredondado 11">
            <a:extLst>
              <a:ext uri="{FF2B5EF4-FFF2-40B4-BE49-F238E27FC236}">
                <a16:creationId xmlns:a16="http://schemas.microsoft.com/office/drawing/2014/main" id="{E65FA2CF-3B89-4109-AB38-E90C03BA92BF}"/>
              </a:ext>
            </a:extLst>
          </p:cNvPr>
          <p:cNvSpPr>
            <a:spLocks noGrp="1"/>
          </p:cNvSpPr>
          <p:nvPr/>
        </p:nvSpPr>
        <p:spPr>
          <a:xfrm>
            <a:off x="7334250" y="4152900"/>
            <a:ext cx="4048125" cy="990600"/>
          </a:xfrm>
          <a:prstGeom prst="roundRect">
            <a:avLst>
              <a:gd name="adj" fmla="val 15385"/>
            </a:avLst>
          </a:prstGeom>
          <a:solidFill>
            <a:srgbClr val="FFE2DA"/>
          </a:solidFill>
          <a:ln w="13335">
            <a:solidFill>
              <a:srgbClr val="E86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C972CA9-8655-42AC-AD7F-9CF213F718FC}"/>
              </a:ext>
            </a:extLst>
          </p:cNvPr>
          <p:cNvSpPr>
            <a:spLocks noGrp="1"/>
          </p:cNvSpPr>
          <p:nvPr/>
        </p:nvSpPr>
        <p:spPr>
          <a:xfrm>
            <a:off x="7505700" y="4314825"/>
            <a:ext cx="37052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E86A4A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E86A4A"/>
                </a:solidFill>
                <a:latin typeface="DM Sans"/>
                <a:ea typeface="DM Sans"/>
                <a:cs typeface="DM Sans"/>
              </a:rPr>
              <a:t>72.1%  |  satisfaction 4–5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023BD03-E0BB-432B-8020-64C1A6FBA36C}"/>
              </a:ext>
            </a:extLst>
          </p:cNvPr>
          <p:cNvSpPr>
            <a:spLocks noGrp="1"/>
          </p:cNvSpPr>
          <p:nvPr/>
        </p:nvSpPr>
        <p:spPr>
          <a:xfrm>
            <a:off x="7505700" y="4657725"/>
            <a:ext cx="3705225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The positive score coexists with operational friction. 370 open comments explain where the remaining effort sits.</a:t>
            </a:r>
          </a:p>
        </p:txBody>
      </p:sp>
      <p:sp>
        <p:nvSpPr>
          <p:cNvPr id="15" name="Retângulo Arredondado 14">
            <a:extLst>
              <a:ext uri="{FF2B5EF4-FFF2-40B4-BE49-F238E27FC236}">
                <a16:creationId xmlns:a16="http://schemas.microsoft.com/office/drawing/2014/main" id="{3755D540-25FE-4E87-B474-DE00CCA2CD6F}"/>
              </a:ext>
            </a:extLst>
          </p:cNvPr>
          <p:cNvSpPr>
            <a:spLocks noGrp="1"/>
          </p:cNvSpPr>
          <p:nvPr/>
        </p:nvSpPr>
        <p:spPr>
          <a:xfrm>
            <a:off x="190500" y="5676900"/>
            <a:ext cx="11811000" cy="371475"/>
          </a:xfrm>
          <a:prstGeom prst="roundRect">
            <a:avLst>
              <a:gd name="adj" fmla="val 30769"/>
            </a:avLst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614EEC4-DA42-48A4-8FB4-CFB3AC375639}"/>
              </a:ext>
            </a:extLst>
          </p:cNvPr>
          <p:cNvSpPr>
            <a:spLocks noGrp="1"/>
          </p:cNvSpPr>
          <p:nvPr/>
        </p:nvSpPr>
        <p:spPr>
          <a:xfrm>
            <a:off x="361950" y="5762625"/>
            <a:ext cx="1143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Design opportunity → Make customer contact, address validation and waiting rules visible in the same order flow.</a:t>
            </a:r>
          </a:p>
        </p:txBody>
      </p:sp>
      <p:sp>
        <p:nvSpPr>
          <p:cNvPr id="17" name="Conector Reto 16">
            <a:extLst>
              <a:ext uri="{FF2B5EF4-FFF2-40B4-BE49-F238E27FC236}">
                <a16:creationId xmlns:a16="http://schemas.microsoft.com/office/drawing/2014/main" id="{898A3FB2-4BCC-42A2-99D6-FCC266569356}"/>
              </a:ext>
            </a:extLst>
          </p:cNvPr>
          <p:cNvSpPr>
            <a:spLocks noGrp="1"/>
          </p:cNvSpPr>
          <p:nvPr/>
        </p:nvSpPr>
        <p:spPr>
          <a:xfrm>
            <a:off x="190500" y="6200775"/>
            <a:ext cx="11811000" cy="0"/>
          </a:xfrm>
          <a:prstGeom prst="line">
            <a:avLst/>
          </a:prstGeom>
          <a:ln w="9525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7C0CE60E-F5E1-41E9-A025-F74E39F3EB14}"/>
              </a:ext>
            </a:extLst>
          </p:cNvPr>
          <p:cNvSpPr>
            <a:spLocks noGrp="1"/>
          </p:cNvSpPr>
          <p:nvPr/>
        </p:nvSpPr>
        <p:spPr>
          <a:xfrm>
            <a:off x="190500" y="633412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Ta-Da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D76C8391-EEDE-4E1D-B738-9C3ADE8FF382}"/>
              </a:ext>
            </a:extLst>
          </p:cNvPr>
          <p:cNvSpPr>
            <a:spLocks noGrp="1"/>
          </p:cNvSpPr>
          <p:nvPr/>
        </p:nvSpPr>
        <p:spPr>
          <a:xfrm>
            <a:off x="5810250" y="633412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18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4F3AFBC4-3A78-4732-8E0D-0B48FAB68AF2}"/>
              </a:ext>
            </a:extLst>
          </p:cNvPr>
          <p:cNvSpPr>
            <a:spLocks noGrp="1"/>
          </p:cNvSpPr>
          <p:nvPr/>
        </p:nvSpPr>
        <p:spPr>
          <a:xfrm>
            <a:off x="7953375" y="63341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Courier Ecosystem</a:t>
            </a:r>
          </a:p>
        </p:txBody>
      </p:sp>
    </p:spTree>
    <p:extLst>
      <p:ext uri="{BB962C8B-B14F-4D97-AF65-F5344CB8AC3E}">
        <p14:creationId xmlns:p14="http://schemas.microsoft.com/office/powerpoint/2010/main" val="7928589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tângulo 53">
            <a:extLst>
              <a:ext uri="{FF2B5EF4-FFF2-40B4-BE49-F238E27FC236}">
                <a16:creationId xmlns:a16="http://schemas.microsoft.com/office/drawing/2014/main" id="{E328EA5B-14EF-4512-B9D0-F25E95DC98A8}"/>
              </a:ext>
            </a:extLst>
          </p:cNvPr>
          <p:cNvSpPr>
            <a:spLocks noGrp="1"/>
          </p:cNvSpPr>
          <p:nvPr/>
        </p:nvSpPr>
        <p:spPr>
          <a:xfrm>
            <a:off x="190500" y="228600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19 / COURIER PROFILES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7301045-E12B-47B8-B47B-52844E90D813}"/>
              </a:ext>
            </a:extLst>
          </p:cNvPr>
          <p:cNvSpPr>
            <a:spLocks noGrp="1"/>
          </p:cNvSpPr>
          <p:nvPr/>
        </p:nvSpPr>
        <p:spPr>
          <a:xfrm>
            <a:off x="190500" y="533400"/>
            <a:ext cx="1143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Four courier profiles describe different jobs to be done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F116275-647A-4511-8BE9-CDD5AB64B80A}"/>
              </a:ext>
            </a:extLst>
          </p:cNvPr>
          <p:cNvSpPr>
            <a:spLocks noGrp="1"/>
          </p:cNvSpPr>
          <p:nvPr/>
        </p:nvSpPr>
        <p:spPr>
          <a:xfrm>
            <a:off x="190500" y="1219200"/>
            <a:ext cx="1123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16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These are routing profiles for product and operations decisions, built from tenure, store attachment, hours, platform overlap and survey signals.</a:t>
            </a:r>
          </a:p>
        </p:txBody>
      </p:sp>
      <p:sp>
        <p:nvSpPr>
          <p:cNvPr id="4" name="Retângulo Arredondado 3">
            <a:extLst>
              <a:ext uri="{FF2B5EF4-FFF2-40B4-BE49-F238E27FC236}">
                <a16:creationId xmlns:a16="http://schemas.microsoft.com/office/drawing/2014/main" id="{1D19CCB2-8324-452A-ABB5-801D11BE1225}"/>
              </a:ext>
            </a:extLst>
          </p:cNvPr>
          <p:cNvSpPr>
            <a:spLocks noGrp="1"/>
          </p:cNvSpPr>
          <p:nvPr/>
        </p:nvSpPr>
        <p:spPr>
          <a:xfrm>
            <a:off x="190500" y="1752600"/>
            <a:ext cx="2714625" cy="3667125"/>
          </a:xfrm>
          <a:prstGeom prst="roundRect">
            <a:avLst>
              <a:gd name="adj" fmla="val 5614"/>
            </a:avLst>
          </a:prstGeom>
          <a:solidFill>
            <a:srgbClr val="FFE0E9"/>
          </a:solidFill>
          <a:ln w="13335">
            <a:solidFill>
              <a:srgbClr val="E958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0261052-D080-4558-8D50-92CC6324F49B}"/>
              </a:ext>
            </a:extLst>
          </p:cNvPr>
          <p:cNvSpPr>
            <a:spLocks noGrp="1"/>
          </p:cNvSpPr>
          <p:nvPr/>
        </p:nvSpPr>
        <p:spPr>
          <a:xfrm>
            <a:off x="333375" y="1933575"/>
            <a:ext cx="2428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E95878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E95878"/>
                </a:solidFill>
                <a:latin typeface="DM Sans"/>
                <a:ea typeface="DM Sans"/>
                <a:cs typeface="DM Sans"/>
              </a:rPr>
              <a:t>Core store runner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BFBF60E-8AAF-4862-8CDC-B205A02320A8}"/>
              </a:ext>
            </a:extLst>
          </p:cNvPr>
          <p:cNvSpPr>
            <a:spLocks noGrp="1"/>
          </p:cNvSpPr>
          <p:nvPr/>
        </p:nvSpPr>
        <p:spPr>
          <a:xfrm>
            <a:off x="333375" y="2362200"/>
            <a:ext cx="2428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93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444 couriers  •  56%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329EF2B-040E-46C9-BB29-77A4299CA8B2}"/>
              </a:ext>
            </a:extLst>
          </p:cNvPr>
          <p:cNvSpPr>
            <a:spLocks noGrp="1"/>
          </p:cNvSpPr>
          <p:nvPr/>
        </p:nvSpPr>
        <p:spPr>
          <a:xfrm>
            <a:off x="333375" y="2781300"/>
            <a:ext cx="24288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WORK PATTERN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09BCC6E-A025-4E99-9FDD-71EB6B8EECC5}"/>
              </a:ext>
            </a:extLst>
          </p:cNvPr>
          <p:cNvSpPr>
            <a:spLocks noGrp="1"/>
          </p:cNvSpPr>
          <p:nvPr/>
        </p:nvSpPr>
        <p:spPr>
          <a:xfrm>
            <a:off x="333375" y="2943225"/>
            <a:ext cx="2428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Fixed to one store; 88% work 7+ hours.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8FB286D-9327-4BE1-9F68-C5FDE78116DA}"/>
              </a:ext>
            </a:extLst>
          </p:cNvPr>
          <p:cNvSpPr>
            <a:spLocks noGrp="1"/>
          </p:cNvSpPr>
          <p:nvPr/>
        </p:nvSpPr>
        <p:spPr>
          <a:xfrm>
            <a:off x="333375" y="3457575"/>
            <a:ext cx="24288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SIGNAL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781DBF52-0CF2-4BE2-9981-D35ECDA0093E}"/>
              </a:ext>
            </a:extLst>
          </p:cNvPr>
          <p:cNvSpPr>
            <a:spLocks noGrp="1"/>
          </p:cNvSpPr>
          <p:nvPr/>
        </p:nvSpPr>
        <p:spPr>
          <a:xfrm>
            <a:off x="333375" y="3619500"/>
            <a:ext cx="2428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56% of survey; 70% score 4–5.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264AE01-1E98-4D1D-A854-9AC112DCD3B2}"/>
              </a:ext>
            </a:extLst>
          </p:cNvPr>
          <p:cNvSpPr>
            <a:spLocks noGrp="1"/>
          </p:cNvSpPr>
          <p:nvPr/>
        </p:nvSpPr>
        <p:spPr>
          <a:xfrm>
            <a:off x="333375" y="4133850"/>
            <a:ext cx="24288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FRICTION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982CE8B-14D9-476F-B314-CE0735E98D77}"/>
              </a:ext>
            </a:extLst>
          </p:cNvPr>
          <p:cNvSpPr>
            <a:spLocks noGrp="1"/>
          </p:cNvSpPr>
          <p:nvPr/>
        </p:nvSpPr>
        <p:spPr>
          <a:xfrm>
            <a:off x="333375" y="4295775"/>
            <a:ext cx="2428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Customer communication (50.9%) and routes (39.6%).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D2BF16D-DF0D-4C3D-A019-269F6EB6AB9E}"/>
              </a:ext>
            </a:extLst>
          </p:cNvPr>
          <p:cNvSpPr>
            <a:spLocks noGrp="1"/>
          </p:cNvSpPr>
          <p:nvPr/>
        </p:nvSpPr>
        <p:spPr>
          <a:xfrm>
            <a:off x="333375" y="4810125"/>
            <a:ext cx="24288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PLAY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81A8143-B038-4A60-97D0-91DD5EE5542A}"/>
              </a:ext>
            </a:extLst>
          </p:cNvPr>
          <p:cNvSpPr>
            <a:spLocks noGrp="1"/>
          </p:cNvSpPr>
          <p:nvPr/>
        </p:nvSpPr>
        <p:spPr>
          <a:xfrm>
            <a:off x="333375" y="4972050"/>
            <a:ext cx="2428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Improve customer data, waiting rules and frontline support.</a:t>
            </a:r>
          </a:p>
        </p:txBody>
      </p:sp>
      <p:sp>
        <p:nvSpPr>
          <p:cNvPr id="15" name="Retângulo Arredondado 14">
            <a:extLst>
              <a:ext uri="{FF2B5EF4-FFF2-40B4-BE49-F238E27FC236}">
                <a16:creationId xmlns:a16="http://schemas.microsoft.com/office/drawing/2014/main" id="{88B9C53B-B799-4E68-B62B-EBEAD22DEC01}"/>
              </a:ext>
            </a:extLst>
          </p:cNvPr>
          <p:cNvSpPr>
            <a:spLocks noGrp="1"/>
          </p:cNvSpPr>
          <p:nvPr/>
        </p:nvSpPr>
        <p:spPr>
          <a:xfrm>
            <a:off x="3095625" y="1752600"/>
            <a:ext cx="2714625" cy="3667125"/>
          </a:xfrm>
          <a:prstGeom prst="roundRect">
            <a:avLst>
              <a:gd name="adj" fmla="val 5614"/>
            </a:avLst>
          </a:prstGeom>
          <a:solidFill>
            <a:srgbClr val="FFE2DA"/>
          </a:solidFill>
          <a:ln w="13335">
            <a:solidFill>
              <a:srgbClr val="E86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DCD23B5-AD37-41F3-B786-377392C29B47}"/>
              </a:ext>
            </a:extLst>
          </p:cNvPr>
          <p:cNvSpPr>
            <a:spLocks noGrp="1"/>
          </p:cNvSpPr>
          <p:nvPr/>
        </p:nvSpPr>
        <p:spPr>
          <a:xfrm>
            <a:off x="3238500" y="1933575"/>
            <a:ext cx="2428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E86A4A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E86A4A"/>
                </a:solidFill>
                <a:latin typeface="DM Sans"/>
                <a:ea typeface="DM Sans"/>
                <a:cs typeface="DM Sans"/>
              </a:rPr>
              <a:t>Flexible / rotating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FDE96C9-9EA0-422C-82A7-57145C57BD8F}"/>
              </a:ext>
            </a:extLst>
          </p:cNvPr>
          <p:cNvSpPr>
            <a:spLocks noGrp="1"/>
          </p:cNvSpPr>
          <p:nvPr/>
        </p:nvSpPr>
        <p:spPr>
          <a:xfrm>
            <a:off x="3238500" y="2362200"/>
            <a:ext cx="2428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93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191 couriers  •  24%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D7620AC-D012-4E7A-8C6C-23DEE6BE8038}"/>
              </a:ext>
            </a:extLst>
          </p:cNvPr>
          <p:cNvSpPr>
            <a:spLocks noGrp="1"/>
          </p:cNvSpPr>
          <p:nvPr/>
        </p:nvSpPr>
        <p:spPr>
          <a:xfrm>
            <a:off x="3238500" y="2781300"/>
            <a:ext cx="24288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WORK PATTERN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9AFD5BB2-E133-4228-8B61-7609FBAC462D}"/>
              </a:ext>
            </a:extLst>
          </p:cNvPr>
          <p:cNvSpPr>
            <a:spLocks noGrp="1"/>
          </p:cNvSpPr>
          <p:nvPr/>
        </p:nvSpPr>
        <p:spPr>
          <a:xfrm>
            <a:off x="3238500" y="2943225"/>
            <a:ext cx="2428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24% of survey; 48% also use other apps.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2DC1DF7-0B83-4B2B-B06A-47ABE38926A8}"/>
              </a:ext>
            </a:extLst>
          </p:cNvPr>
          <p:cNvSpPr>
            <a:spLocks noGrp="1"/>
          </p:cNvSpPr>
          <p:nvPr/>
        </p:nvSpPr>
        <p:spPr>
          <a:xfrm>
            <a:off x="3238500" y="3457575"/>
            <a:ext cx="24288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SIGNAL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C1C3D273-44CA-4C1C-AF0C-CC2ABD831160}"/>
              </a:ext>
            </a:extLst>
          </p:cNvPr>
          <p:cNvSpPr>
            <a:spLocks noGrp="1"/>
          </p:cNvSpPr>
          <p:nvPr/>
        </p:nvSpPr>
        <p:spPr>
          <a:xfrm>
            <a:off x="3238500" y="3619500"/>
            <a:ext cx="2428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78% work 7+ hours; 75% score 4–5.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AB99F389-61C7-4C1D-B61F-67C6A3AD830A}"/>
              </a:ext>
            </a:extLst>
          </p:cNvPr>
          <p:cNvSpPr>
            <a:spLocks noGrp="1"/>
          </p:cNvSpPr>
          <p:nvPr/>
        </p:nvSpPr>
        <p:spPr>
          <a:xfrm>
            <a:off x="3238500" y="4133850"/>
            <a:ext cx="24288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FRICTION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2939D695-97D7-44AC-A310-50BB3694ED01}"/>
              </a:ext>
            </a:extLst>
          </p:cNvPr>
          <p:cNvSpPr>
            <a:spLocks noGrp="1"/>
          </p:cNvSpPr>
          <p:nvPr/>
        </p:nvSpPr>
        <p:spPr>
          <a:xfrm>
            <a:off x="3238500" y="4295775"/>
            <a:ext cx="2428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Customer communication (36.6%) and wait (32.5%).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C4E08B15-2F0F-4A2A-A88C-31C181A7079D}"/>
              </a:ext>
            </a:extLst>
          </p:cNvPr>
          <p:cNvSpPr>
            <a:spLocks noGrp="1"/>
          </p:cNvSpPr>
          <p:nvPr/>
        </p:nvSpPr>
        <p:spPr>
          <a:xfrm>
            <a:off x="3238500" y="4810125"/>
            <a:ext cx="24288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PLAY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AFFC96CD-F0A8-4F24-9BE2-952D7B47D81B}"/>
              </a:ext>
            </a:extLst>
          </p:cNvPr>
          <p:cNvSpPr>
            <a:spLocks noGrp="1"/>
          </p:cNvSpPr>
          <p:nvPr/>
        </p:nvSpPr>
        <p:spPr>
          <a:xfrm>
            <a:off x="3238500" y="4972050"/>
            <a:ext cx="2428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Protect earning visibility and make issue resolution fast.</a:t>
            </a:r>
          </a:p>
        </p:txBody>
      </p:sp>
      <p:sp>
        <p:nvSpPr>
          <p:cNvPr id="26" name="Retângulo Arredondado 25">
            <a:extLst>
              <a:ext uri="{FF2B5EF4-FFF2-40B4-BE49-F238E27FC236}">
                <a16:creationId xmlns:a16="http://schemas.microsoft.com/office/drawing/2014/main" id="{713FF693-4E2B-4B5A-A115-3D9C720B9B43}"/>
              </a:ext>
            </a:extLst>
          </p:cNvPr>
          <p:cNvSpPr>
            <a:spLocks noGrp="1"/>
          </p:cNvSpPr>
          <p:nvPr/>
        </p:nvSpPr>
        <p:spPr>
          <a:xfrm>
            <a:off x="6000750" y="1752600"/>
            <a:ext cx="2714625" cy="3667125"/>
          </a:xfrm>
          <a:prstGeom prst="roundRect">
            <a:avLst>
              <a:gd name="adj" fmla="val 5614"/>
            </a:avLst>
          </a:prstGeom>
          <a:solidFill>
            <a:srgbClr val="E5E8FF"/>
          </a:solidFill>
          <a:ln w="13335">
            <a:solidFill>
              <a:srgbClr val="5E6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DCCAC480-1B49-4E37-B41A-D6FD7C301C6A}"/>
              </a:ext>
            </a:extLst>
          </p:cNvPr>
          <p:cNvSpPr>
            <a:spLocks noGrp="1"/>
          </p:cNvSpPr>
          <p:nvPr/>
        </p:nvSpPr>
        <p:spPr>
          <a:xfrm>
            <a:off x="6143625" y="1933575"/>
            <a:ext cx="2428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5E6BE8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5E6BE8"/>
                </a:solidFill>
                <a:latin typeface="DM Sans"/>
                <a:ea typeface="DM Sans"/>
                <a:cs typeface="DM Sans"/>
              </a:rPr>
              <a:t>New single-store starter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C93EC6C0-0A67-477B-81BE-53F9852CC48D}"/>
              </a:ext>
            </a:extLst>
          </p:cNvPr>
          <p:cNvSpPr>
            <a:spLocks noGrp="1"/>
          </p:cNvSpPr>
          <p:nvPr/>
        </p:nvSpPr>
        <p:spPr>
          <a:xfrm>
            <a:off x="6143625" y="2362200"/>
            <a:ext cx="2428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93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83 couriers  •  11%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F92C7CA7-858C-453B-B29E-8D713B9857B0}"/>
              </a:ext>
            </a:extLst>
          </p:cNvPr>
          <p:cNvSpPr>
            <a:spLocks noGrp="1"/>
          </p:cNvSpPr>
          <p:nvPr/>
        </p:nvSpPr>
        <p:spPr>
          <a:xfrm>
            <a:off x="6143625" y="2781300"/>
            <a:ext cx="24288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WORK PATTERN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6E0685DA-E044-4ED3-9EBB-7101C41B7157}"/>
              </a:ext>
            </a:extLst>
          </p:cNvPr>
          <p:cNvSpPr>
            <a:spLocks noGrp="1"/>
          </p:cNvSpPr>
          <p:nvPr/>
        </p:nvSpPr>
        <p:spPr>
          <a:xfrm>
            <a:off x="6143625" y="2943225"/>
            <a:ext cx="2428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10.5%; less than 3 months in the role.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CAEB5A81-E6F1-4FC5-B6B0-FC577189C8E1}"/>
              </a:ext>
            </a:extLst>
          </p:cNvPr>
          <p:cNvSpPr>
            <a:spLocks noGrp="1"/>
          </p:cNvSpPr>
          <p:nvPr/>
        </p:nvSpPr>
        <p:spPr>
          <a:xfrm>
            <a:off x="6143625" y="3457575"/>
            <a:ext cx="24288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SIGNAL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34442805-4C57-4C32-B6C2-12C0D5E37CC8}"/>
              </a:ext>
            </a:extLst>
          </p:cNvPr>
          <p:cNvSpPr>
            <a:spLocks noGrp="1"/>
          </p:cNvSpPr>
          <p:nvPr/>
        </p:nvSpPr>
        <p:spPr>
          <a:xfrm>
            <a:off x="6143625" y="3619500"/>
            <a:ext cx="2428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74% work 7+ hours; 77% score 4–5.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012E20B6-326C-4F6B-812C-E882B6483089}"/>
              </a:ext>
            </a:extLst>
          </p:cNvPr>
          <p:cNvSpPr>
            <a:spLocks noGrp="1"/>
          </p:cNvSpPr>
          <p:nvPr/>
        </p:nvSpPr>
        <p:spPr>
          <a:xfrm>
            <a:off x="6143625" y="4133850"/>
            <a:ext cx="24288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FRICTION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587E0344-A1DB-4D39-806E-8C7E4964410A}"/>
              </a:ext>
            </a:extLst>
          </p:cNvPr>
          <p:cNvSpPr>
            <a:spLocks noGrp="1"/>
          </p:cNvSpPr>
          <p:nvPr/>
        </p:nvSpPr>
        <p:spPr>
          <a:xfrm>
            <a:off x="6143625" y="4295775"/>
            <a:ext cx="2428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App crashes (30.1%) and routes (34.9%).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1C564F74-F724-4B1F-984D-2DE3232F13BD}"/>
              </a:ext>
            </a:extLst>
          </p:cNvPr>
          <p:cNvSpPr>
            <a:spLocks noGrp="1"/>
          </p:cNvSpPr>
          <p:nvPr/>
        </p:nvSpPr>
        <p:spPr>
          <a:xfrm>
            <a:off x="6143625" y="4810125"/>
            <a:ext cx="24288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PLAY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A27E299B-1CFE-40FE-9F6A-A291FEA9DF6B}"/>
              </a:ext>
            </a:extLst>
          </p:cNvPr>
          <p:cNvSpPr>
            <a:spLocks noGrp="1"/>
          </p:cNvSpPr>
          <p:nvPr/>
        </p:nvSpPr>
        <p:spPr>
          <a:xfrm>
            <a:off x="6143625" y="4972050"/>
            <a:ext cx="2428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Onboarding, in-app guidance and safe first deliveries.</a:t>
            </a:r>
          </a:p>
        </p:txBody>
      </p:sp>
      <p:sp>
        <p:nvSpPr>
          <p:cNvPr id="37" name="Retângulo Arredondado 36">
            <a:extLst>
              <a:ext uri="{FF2B5EF4-FFF2-40B4-BE49-F238E27FC236}">
                <a16:creationId xmlns:a16="http://schemas.microsoft.com/office/drawing/2014/main" id="{825472CB-8ADE-413A-91E1-B53B04EA887E}"/>
              </a:ext>
            </a:extLst>
          </p:cNvPr>
          <p:cNvSpPr>
            <a:spLocks noGrp="1"/>
          </p:cNvSpPr>
          <p:nvPr/>
        </p:nvSpPr>
        <p:spPr>
          <a:xfrm>
            <a:off x="8905875" y="1752600"/>
            <a:ext cx="2714625" cy="3667125"/>
          </a:xfrm>
          <a:prstGeom prst="roundRect">
            <a:avLst>
              <a:gd name="adj" fmla="val 5614"/>
            </a:avLst>
          </a:prstGeom>
          <a:solidFill>
            <a:srgbClr val="EAD9FF"/>
          </a:solidFill>
          <a:ln w="13335">
            <a:solidFill>
              <a:srgbClr val="9147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DAC0FA9B-912B-426C-9DD5-26C6DF987B61}"/>
              </a:ext>
            </a:extLst>
          </p:cNvPr>
          <p:cNvSpPr>
            <a:spLocks noGrp="1"/>
          </p:cNvSpPr>
          <p:nvPr/>
        </p:nvSpPr>
        <p:spPr>
          <a:xfrm>
            <a:off x="9048750" y="1933575"/>
            <a:ext cx="24288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Portfolio courier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951BA103-38FB-4AF7-8DA4-0FFD2C69A39B}"/>
              </a:ext>
            </a:extLst>
          </p:cNvPr>
          <p:cNvSpPr>
            <a:spLocks noGrp="1"/>
          </p:cNvSpPr>
          <p:nvPr/>
        </p:nvSpPr>
        <p:spPr>
          <a:xfrm>
            <a:off x="9048750" y="2362200"/>
            <a:ext cx="2428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3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93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76 couriers  •  10%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64275AD7-078A-4209-8F9E-7900DA39BA4B}"/>
              </a:ext>
            </a:extLst>
          </p:cNvPr>
          <p:cNvSpPr>
            <a:spLocks noGrp="1"/>
          </p:cNvSpPr>
          <p:nvPr/>
        </p:nvSpPr>
        <p:spPr>
          <a:xfrm>
            <a:off x="9048750" y="2781300"/>
            <a:ext cx="24288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WORK PATTERN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ED60700F-D384-4084-96F1-5CD4BE7A7755}"/>
              </a:ext>
            </a:extLst>
          </p:cNvPr>
          <p:cNvSpPr>
            <a:spLocks noGrp="1"/>
          </p:cNvSpPr>
          <p:nvPr/>
        </p:nvSpPr>
        <p:spPr>
          <a:xfrm>
            <a:off x="9048750" y="2943225"/>
            <a:ext cx="2428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9.6%; multi-store and 95% work 7+ hours.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82373640-A60B-495A-B6BA-946A6FB49DAF}"/>
              </a:ext>
            </a:extLst>
          </p:cNvPr>
          <p:cNvSpPr>
            <a:spLocks noGrp="1"/>
          </p:cNvSpPr>
          <p:nvPr/>
        </p:nvSpPr>
        <p:spPr>
          <a:xfrm>
            <a:off x="9048750" y="3457575"/>
            <a:ext cx="24288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SIGNAL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1A8E7995-3EE8-4193-AA56-80CD169573D9}"/>
              </a:ext>
            </a:extLst>
          </p:cNvPr>
          <p:cNvSpPr>
            <a:spLocks noGrp="1"/>
          </p:cNvSpPr>
          <p:nvPr/>
        </p:nvSpPr>
        <p:spPr>
          <a:xfrm>
            <a:off x="9048750" y="3619500"/>
            <a:ext cx="2428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58% work more than 10 hours.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B5398927-EE33-4463-9743-7DACE1EC8CC6}"/>
              </a:ext>
            </a:extLst>
          </p:cNvPr>
          <p:cNvSpPr>
            <a:spLocks noGrp="1"/>
          </p:cNvSpPr>
          <p:nvPr/>
        </p:nvSpPr>
        <p:spPr>
          <a:xfrm>
            <a:off x="9048750" y="4133850"/>
            <a:ext cx="24288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FRICTION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C68A4214-8896-401C-8BD9-71A0EFEB5D44}"/>
              </a:ext>
            </a:extLst>
          </p:cNvPr>
          <p:cNvSpPr>
            <a:spLocks noGrp="1"/>
          </p:cNvSpPr>
          <p:nvPr/>
        </p:nvSpPr>
        <p:spPr>
          <a:xfrm>
            <a:off x="9048750" y="4295775"/>
            <a:ext cx="2428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Customer communication (51.3%) and routes (44.7%).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6C234EDA-D478-4D36-81FC-EEF6FDC6833A}"/>
              </a:ext>
            </a:extLst>
          </p:cNvPr>
          <p:cNvSpPr>
            <a:spLocks noGrp="1"/>
          </p:cNvSpPr>
          <p:nvPr/>
        </p:nvSpPr>
        <p:spPr>
          <a:xfrm>
            <a:off x="9048750" y="4810125"/>
            <a:ext cx="24288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1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788" b="1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PLAY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77D35906-B7AE-4365-8EA1-38682D3DA74F}"/>
              </a:ext>
            </a:extLst>
          </p:cNvPr>
          <p:cNvSpPr>
            <a:spLocks noGrp="1"/>
          </p:cNvSpPr>
          <p:nvPr/>
        </p:nvSpPr>
        <p:spPr>
          <a:xfrm>
            <a:off x="9048750" y="4972050"/>
            <a:ext cx="2428875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0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Batching, route clarity and multi-store dispatch.</a:t>
            </a:r>
          </a:p>
        </p:txBody>
      </p:sp>
      <p:sp>
        <p:nvSpPr>
          <p:cNvPr id="48" name="Retângulo Arredondado 47">
            <a:extLst>
              <a:ext uri="{FF2B5EF4-FFF2-40B4-BE49-F238E27FC236}">
                <a16:creationId xmlns:a16="http://schemas.microsoft.com/office/drawing/2014/main" id="{28307113-F7D3-48C7-BE86-1EE228A3F12B}"/>
              </a:ext>
            </a:extLst>
          </p:cNvPr>
          <p:cNvSpPr>
            <a:spLocks noGrp="1"/>
          </p:cNvSpPr>
          <p:nvPr/>
        </p:nvSpPr>
        <p:spPr>
          <a:xfrm>
            <a:off x="190500" y="5676900"/>
            <a:ext cx="11811000" cy="371475"/>
          </a:xfrm>
          <a:prstGeom prst="roundRect">
            <a:avLst>
              <a:gd name="adj" fmla="val 30769"/>
            </a:avLst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0FFC7DEA-0B2C-480D-82DC-BC8B560CABF1}"/>
              </a:ext>
            </a:extLst>
          </p:cNvPr>
          <p:cNvSpPr>
            <a:spLocks noGrp="1"/>
          </p:cNvSpPr>
          <p:nvPr/>
        </p:nvSpPr>
        <p:spPr>
          <a:xfrm>
            <a:off x="361950" y="5762625"/>
            <a:ext cx="1143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Working hypothesis → One courier message will not fit everyone: attachment, intensity and tenure change the job to be done.</a:t>
            </a:r>
          </a:p>
        </p:txBody>
      </p:sp>
      <p:sp>
        <p:nvSpPr>
          <p:cNvPr id="50" name="Conector Reto 49">
            <a:extLst>
              <a:ext uri="{FF2B5EF4-FFF2-40B4-BE49-F238E27FC236}">
                <a16:creationId xmlns:a16="http://schemas.microsoft.com/office/drawing/2014/main" id="{687EEDF6-A353-4DB5-84C9-8DC8417FBB94}"/>
              </a:ext>
            </a:extLst>
          </p:cNvPr>
          <p:cNvSpPr>
            <a:spLocks noGrp="1"/>
          </p:cNvSpPr>
          <p:nvPr/>
        </p:nvSpPr>
        <p:spPr>
          <a:xfrm>
            <a:off x="190500" y="6200775"/>
            <a:ext cx="11811000" cy="0"/>
          </a:xfrm>
          <a:prstGeom prst="line">
            <a:avLst/>
          </a:prstGeom>
          <a:ln w="9525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0EE2AD4F-0F51-440F-A9AA-C4C84A0D15AF}"/>
              </a:ext>
            </a:extLst>
          </p:cNvPr>
          <p:cNvSpPr>
            <a:spLocks noGrp="1"/>
          </p:cNvSpPr>
          <p:nvPr/>
        </p:nvSpPr>
        <p:spPr>
          <a:xfrm>
            <a:off x="190500" y="633412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Ta-Da</a:t>
            </a:r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AC3E92B5-EF70-4167-BA37-F750F0596826}"/>
              </a:ext>
            </a:extLst>
          </p:cNvPr>
          <p:cNvSpPr>
            <a:spLocks noGrp="1"/>
          </p:cNvSpPr>
          <p:nvPr/>
        </p:nvSpPr>
        <p:spPr>
          <a:xfrm>
            <a:off x="5810250" y="633412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19</a:t>
            </a:r>
          </a:p>
        </p:txBody>
      </p:sp>
      <p:sp>
        <p:nvSpPr>
          <p:cNvPr id="53" name="Retângulo 52">
            <a:extLst>
              <a:ext uri="{FF2B5EF4-FFF2-40B4-BE49-F238E27FC236}">
                <a16:creationId xmlns:a16="http://schemas.microsoft.com/office/drawing/2014/main" id="{4C664E24-AFFD-4F65-9930-ECEE98319202}"/>
              </a:ext>
            </a:extLst>
          </p:cNvPr>
          <p:cNvSpPr>
            <a:spLocks noGrp="1"/>
          </p:cNvSpPr>
          <p:nvPr/>
        </p:nvSpPr>
        <p:spPr>
          <a:xfrm>
            <a:off x="7953375" y="63341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Courier Ecosystem</a:t>
            </a:r>
          </a:p>
        </p:txBody>
      </p:sp>
    </p:spTree>
    <p:extLst>
      <p:ext uri="{BB962C8B-B14F-4D97-AF65-F5344CB8AC3E}">
        <p14:creationId xmlns:p14="http://schemas.microsoft.com/office/powerpoint/2010/main" val="2441723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148DC725-B925-4D34-960C-677145364FED}"/>
              </a:ext>
            </a:extLst>
          </p:cNvPr>
          <p:cNvSpPr>
            <a:spLocks noGrp="1"/>
          </p:cNvSpPr>
          <p:nvPr/>
        </p:nvSpPr>
        <p:spPr>
          <a:xfrm>
            <a:off x="190500" y="28575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20 / SHARED SERVICE CHAIN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974EE8A-34B4-4A1E-95EF-7D4B80BC173D}"/>
              </a:ext>
            </a:extLst>
          </p:cNvPr>
          <p:cNvSpPr>
            <a:spLocks noGrp="1"/>
          </p:cNvSpPr>
          <p:nvPr/>
        </p:nvSpPr>
        <p:spPr>
          <a:xfrm>
            <a:off x="190500" y="723900"/>
            <a:ext cx="1066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3150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One order creates three linked product problems.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953C5C5-8503-46AB-826A-CB6EFF21EBD3}"/>
              </a:ext>
            </a:extLst>
          </p:cNvPr>
          <p:cNvSpPr>
            <a:spLocks noGrp="1"/>
          </p:cNvSpPr>
          <p:nvPr/>
        </p:nvSpPr>
        <p:spPr>
          <a:xfrm>
            <a:off x="190500" y="1685925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E5DFEA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E5DFEA"/>
                </a:solidFill>
                <a:latin typeface="DM Sans"/>
                <a:ea typeface="DM Sans"/>
                <a:cs typeface="DM Sans"/>
              </a:rPr>
              <a:t>The seller and courier studies describe different moments in the same handoff.</a:t>
            </a:r>
          </a:p>
        </p:txBody>
      </p:sp>
      <p:sp>
        <p:nvSpPr>
          <p:cNvPr id="4" name="Retângulo Arredondado 3">
            <a:extLst>
              <a:ext uri="{FF2B5EF4-FFF2-40B4-BE49-F238E27FC236}">
                <a16:creationId xmlns:a16="http://schemas.microsoft.com/office/drawing/2014/main" id="{0F583527-D9CB-4FCE-98E7-B9BC7EE89BBC}"/>
              </a:ext>
            </a:extLst>
          </p:cNvPr>
          <p:cNvSpPr>
            <a:spLocks noGrp="1"/>
          </p:cNvSpPr>
          <p:nvPr/>
        </p:nvSpPr>
        <p:spPr>
          <a:xfrm>
            <a:off x="190500" y="2571750"/>
            <a:ext cx="3476625" cy="1952625"/>
          </a:xfrm>
          <a:prstGeom prst="roundRect">
            <a:avLst>
              <a:gd name="adj" fmla="val 7805"/>
            </a:avLst>
          </a:prstGeom>
          <a:solidFill>
            <a:srgbClr val="FFE0E9"/>
          </a:solidFill>
          <a:ln w="13335">
            <a:solidFill>
              <a:srgbClr val="E958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AA3B3C9-48B8-4FB5-B780-CA45B2EB4240}"/>
              </a:ext>
            </a:extLst>
          </p:cNvPr>
          <p:cNvSpPr>
            <a:spLocks noGrp="1"/>
          </p:cNvSpPr>
          <p:nvPr/>
        </p:nvSpPr>
        <p:spPr>
          <a:xfrm>
            <a:off x="361950" y="2733675"/>
            <a:ext cx="31337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95878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E95878"/>
                </a:solidFill>
                <a:latin typeface="DM Sans"/>
                <a:ea typeface="DM Sans"/>
                <a:cs typeface="DM Sans"/>
              </a:rPr>
              <a:t>01  Before pickup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7AEBCE5-C2BE-4EB9-BCD9-D6EDEAEDA6E0}"/>
              </a:ext>
            </a:extLst>
          </p:cNvPr>
          <p:cNvSpPr>
            <a:spLocks noGrp="1"/>
          </p:cNvSpPr>
          <p:nvPr/>
        </p:nvSpPr>
        <p:spPr>
          <a:xfrm>
            <a:off x="361950" y="3076575"/>
            <a:ext cx="3133725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9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9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Information quality</a:t>
            </a:r>
          </a:p>
          <a:p>
            <a:endParaRPr sz="990" b="0">
              <a:solidFill>
                <a:srgbClr val="17131B"/>
              </a:solidFill>
              <a:latin typeface="DM Sans"/>
              <a:ea typeface="DM Sans"/>
              <a:cs typeface="DM Sans"/>
            </a:endParaRPr>
          </a:p>
          <a:p>
            <a:pPr algn="l">
              <a:defRPr sz="99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9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Customer contact, address accuracy and order information determine whether the handoff starts cleanly. Couriers cite customer communication in 46.9% of responses.</a:t>
            </a:r>
          </a:p>
        </p:txBody>
      </p:sp>
      <p:sp>
        <p:nvSpPr>
          <p:cNvPr id="7" name="Retângulo Arredondado 6">
            <a:extLst>
              <a:ext uri="{FF2B5EF4-FFF2-40B4-BE49-F238E27FC236}">
                <a16:creationId xmlns:a16="http://schemas.microsoft.com/office/drawing/2014/main" id="{8A3C6D1D-E94A-4BFD-B8D1-2AA1ADBA58E6}"/>
              </a:ext>
            </a:extLst>
          </p:cNvPr>
          <p:cNvSpPr>
            <a:spLocks noGrp="1"/>
          </p:cNvSpPr>
          <p:nvPr/>
        </p:nvSpPr>
        <p:spPr>
          <a:xfrm>
            <a:off x="3857625" y="2571750"/>
            <a:ext cx="3476625" cy="1952625"/>
          </a:xfrm>
          <a:prstGeom prst="roundRect">
            <a:avLst>
              <a:gd name="adj" fmla="val 7805"/>
            </a:avLst>
          </a:prstGeom>
          <a:solidFill>
            <a:srgbClr val="E5E8FF"/>
          </a:solidFill>
          <a:ln w="13335">
            <a:solidFill>
              <a:srgbClr val="5E6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F6F3D53-41A7-4B43-AA6E-F8887BA5A951}"/>
              </a:ext>
            </a:extLst>
          </p:cNvPr>
          <p:cNvSpPr>
            <a:spLocks noGrp="1"/>
          </p:cNvSpPr>
          <p:nvPr/>
        </p:nvSpPr>
        <p:spPr>
          <a:xfrm>
            <a:off x="4029075" y="2733675"/>
            <a:ext cx="31337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5E6BE8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5E6BE8"/>
                </a:solidFill>
                <a:latin typeface="DM Sans"/>
                <a:ea typeface="DM Sans"/>
                <a:cs typeface="DM Sans"/>
              </a:rPr>
              <a:t>02  During delivery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11E0FD3-F3E0-481D-9482-753390E30B8E}"/>
              </a:ext>
            </a:extLst>
          </p:cNvPr>
          <p:cNvSpPr>
            <a:spLocks noGrp="1"/>
          </p:cNvSpPr>
          <p:nvPr/>
        </p:nvSpPr>
        <p:spPr>
          <a:xfrm>
            <a:off x="4029075" y="3076575"/>
            <a:ext cx="3133725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9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9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Time and route realism</a:t>
            </a:r>
          </a:p>
          <a:p>
            <a:endParaRPr sz="990" b="0">
              <a:solidFill>
                <a:srgbClr val="17131B"/>
              </a:solidFill>
              <a:latin typeface="DM Sans"/>
              <a:ea typeface="DM Sans"/>
              <a:cs typeface="DM Sans"/>
            </a:endParaRPr>
          </a:p>
          <a:p>
            <a:pPr algn="l">
              <a:defRPr sz="99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9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Waiting, multi-order routes and unclear remaining time create failure at the moment sellers are judged on delivery.</a:t>
            </a:r>
          </a:p>
        </p:txBody>
      </p:sp>
      <p:sp>
        <p:nvSpPr>
          <p:cNvPr id="10" name="Retângulo Arredondado 9">
            <a:extLst>
              <a:ext uri="{FF2B5EF4-FFF2-40B4-BE49-F238E27FC236}">
                <a16:creationId xmlns:a16="http://schemas.microsoft.com/office/drawing/2014/main" id="{C220AA57-5C0D-4C64-9131-80D1C8882AC8}"/>
              </a:ext>
            </a:extLst>
          </p:cNvPr>
          <p:cNvSpPr>
            <a:spLocks noGrp="1"/>
          </p:cNvSpPr>
          <p:nvPr/>
        </p:nvSpPr>
        <p:spPr>
          <a:xfrm>
            <a:off x="7524750" y="2571750"/>
            <a:ext cx="3476625" cy="1952625"/>
          </a:xfrm>
          <a:prstGeom prst="roundRect">
            <a:avLst>
              <a:gd name="adj" fmla="val 7805"/>
            </a:avLst>
          </a:prstGeom>
          <a:solidFill>
            <a:srgbClr val="EAD9FF"/>
          </a:solidFill>
          <a:ln w="13335">
            <a:solidFill>
              <a:srgbClr val="9147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39C6062-A0F2-46FD-BE10-656E1377FEE7}"/>
              </a:ext>
            </a:extLst>
          </p:cNvPr>
          <p:cNvSpPr>
            <a:spLocks noGrp="1"/>
          </p:cNvSpPr>
          <p:nvPr/>
        </p:nvSpPr>
        <p:spPr>
          <a:xfrm>
            <a:off x="7696200" y="2733675"/>
            <a:ext cx="31337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03  After an exception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20589F5-7F7E-4F69-8F3E-B4867E418AC7}"/>
              </a:ext>
            </a:extLst>
          </p:cNvPr>
          <p:cNvSpPr>
            <a:spLocks noGrp="1"/>
          </p:cNvSpPr>
          <p:nvPr/>
        </p:nvSpPr>
        <p:spPr>
          <a:xfrm>
            <a:off x="7696200" y="3076575"/>
            <a:ext cx="3133725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9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9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Recovery and learning</a:t>
            </a:r>
          </a:p>
          <a:p>
            <a:endParaRPr sz="990" b="0">
              <a:solidFill>
                <a:srgbClr val="17131B"/>
              </a:solidFill>
              <a:latin typeface="DM Sans"/>
              <a:ea typeface="DM Sans"/>
              <a:cs typeface="DM Sans"/>
            </a:endParaRPr>
          </a:p>
          <a:p>
            <a:pPr algn="l">
              <a:defRPr sz="99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9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Cancellations, payment issues and support gaps become metric misses, lost time and repeated seller frustration.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860945B-73BD-410E-9A69-DFA9F799237C}"/>
              </a:ext>
            </a:extLst>
          </p:cNvPr>
          <p:cNvSpPr>
            <a:spLocks noGrp="1"/>
          </p:cNvSpPr>
          <p:nvPr/>
        </p:nvSpPr>
        <p:spPr>
          <a:xfrm>
            <a:off x="190500" y="5095875"/>
            <a:ext cx="10763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Product implication → Treat handoff, metric explanation and exception handling as one connected journey.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CEF869B-8C01-495D-901A-4DE10E814436}"/>
              </a:ext>
            </a:extLst>
          </p:cNvPr>
          <p:cNvSpPr>
            <a:spLocks noGrp="1"/>
          </p:cNvSpPr>
          <p:nvPr/>
        </p:nvSpPr>
        <p:spPr>
          <a:xfrm>
            <a:off x="2095500" y="6372225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Seller + Courier Atlas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1775ED8-9B3A-4D8E-911C-5D3FF0F4CDAB}"/>
              </a:ext>
            </a:extLst>
          </p:cNvPr>
          <p:cNvSpPr>
            <a:spLocks noGrp="1"/>
          </p:cNvSpPr>
          <p:nvPr/>
        </p:nvSpPr>
        <p:spPr>
          <a:xfrm>
            <a:off x="6019800" y="6372225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20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F88D24E0-ED12-42CB-9303-3F9BB2B221A0}"/>
              </a:ext>
            </a:extLst>
          </p:cNvPr>
          <p:cNvSpPr>
            <a:spLocks noGrp="1"/>
          </p:cNvSpPr>
          <p:nvPr/>
        </p:nvSpPr>
        <p:spPr>
          <a:xfrm>
            <a:off x="7962900" y="637222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TaDa Growth Strategy 2027</a:t>
            </a:r>
          </a:p>
        </p:txBody>
      </p:sp>
    </p:spTree>
    <p:extLst>
      <p:ext uri="{BB962C8B-B14F-4D97-AF65-F5344CB8AC3E}">
        <p14:creationId xmlns:p14="http://schemas.microsoft.com/office/powerpoint/2010/main" val="20443488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>
            <a:extLst>
              <a:ext uri="{FF2B5EF4-FFF2-40B4-BE49-F238E27FC236}">
                <a16:creationId xmlns:a16="http://schemas.microsoft.com/office/drawing/2014/main" id="{58908D2F-A68D-4CF4-8CCD-CB4385B24801}"/>
              </a:ext>
            </a:extLst>
          </p:cNvPr>
          <p:cNvSpPr>
            <a:spLocks noGrp="1"/>
          </p:cNvSpPr>
          <p:nvPr/>
        </p:nvSpPr>
        <p:spPr>
          <a:xfrm>
            <a:off x="190500" y="228600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24 / APPENDIX · COURIER VOICE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4BDC2DF-8EF3-4A63-85AB-0E39EE4E052D}"/>
              </a:ext>
            </a:extLst>
          </p:cNvPr>
          <p:cNvSpPr>
            <a:spLocks noGrp="1"/>
          </p:cNvSpPr>
          <p:nvPr/>
        </p:nvSpPr>
        <p:spPr>
          <a:xfrm>
            <a:off x="190500" y="533400"/>
            <a:ext cx="1143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2325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What couriers are saying in their own words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A0F61A5-8C01-49BD-93FD-D3956C1CCB29}"/>
              </a:ext>
            </a:extLst>
          </p:cNvPr>
          <p:cNvSpPr>
            <a:spLocks noGrp="1"/>
          </p:cNvSpPr>
          <p:nvPr/>
        </p:nvSpPr>
        <p:spPr>
          <a:xfrm>
            <a:off x="190500" y="1219200"/>
            <a:ext cx="1123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6E6678"/>
                </a:solidFill>
                <a:latin typeface="DM Sans"/>
                <a:ea typeface="DM Sans"/>
                <a:cs typeface="DM Sans"/>
              </a:defRPr>
            </a:pPr>
            <a:r>
              <a:rPr sz="1163" b="0">
                <a:solidFill>
                  <a:srgbClr val="6E6678"/>
                </a:solidFill>
                <a:latin typeface="DM Sans"/>
                <a:ea typeface="DM Sans"/>
                <a:cs typeface="DM Sans"/>
              </a:rPr>
              <a:t>Representative excerpts from the open-ended improvement question. Spanish is preserved; excerpts are lightly shortened for readability and contain no courier IDs.</a:t>
            </a:r>
          </a:p>
        </p:txBody>
      </p:sp>
      <p:sp>
        <p:nvSpPr>
          <p:cNvPr id="4" name="Retângulo Arredondado 3">
            <a:extLst>
              <a:ext uri="{FF2B5EF4-FFF2-40B4-BE49-F238E27FC236}">
                <a16:creationId xmlns:a16="http://schemas.microsoft.com/office/drawing/2014/main" id="{BCDC8502-47F6-46A9-9FA3-8C410B8849C0}"/>
              </a:ext>
            </a:extLst>
          </p:cNvPr>
          <p:cNvSpPr>
            <a:spLocks noGrp="1"/>
          </p:cNvSpPr>
          <p:nvPr/>
        </p:nvSpPr>
        <p:spPr>
          <a:xfrm>
            <a:off x="190500" y="1809750"/>
            <a:ext cx="5334000" cy="1571625"/>
          </a:xfrm>
          <a:prstGeom prst="roundRect">
            <a:avLst>
              <a:gd name="adj" fmla="val 9697"/>
            </a:avLst>
          </a:prstGeom>
          <a:solidFill>
            <a:srgbClr val="FFE0E9"/>
          </a:solidFill>
          <a:ln w="12383">
            <a:solidFill>
              <a:srgbClr val="E958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649C4AA-0415-4195-BEC3-7A30B7D40A97}"/>
              </a:ext>
            </a:extLst>
          </p:cNvPr>
          <p:cNvSpPr>
            <a:spLocks noGrp="1"/>
          </p:cNvSpPr>
          <p:nvPr/>
        </p:nvSpPr>
        <p:spPr>
          <a:xfrm>
            <a:off x="381000" y="20002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E95878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E95878"/>
                </a:solidFill>
                <a:latin typeface="DM Sans"/>
                <a:ea typeface="DM Sans"/>
                <a:cs typeface="DM Sans"/>
              </a:rPr>
              <a:t>CUSTOMER CONTACT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7B95740-1125-47EC-BFCD-3B79F4B469C1}"/>
              </a:ext>
            </a:extLst>
          </p:cNvPr>
          <p:cNvSpPr>
            <a:spLocks noGrp="1"/>
          </p:cNvSpPr>
          <p:nvPr/>
        </p:nvSpPr>
        <p:spPr>
          <a:xfrm>
            <a:off x="381000" y="2333625"/>
            <a:ext cx="495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“Que pongan bien el número de contacto del cliente.”</a:t>
            </a:r>
          </a:p>
        </p:txBody>
      </p:sp>
      <p:sp>
        <p:nvSpPr>
          <p:cNvPr id="7" name="Retângulo Arredondado 6">
            <a:extLst>
              <a:ext uri="{FF2B5EF4-FFF2-40B4-BE49-F238E27FC236}">
                <a16:creationId xmlns:a16="http://schemas.microsoft.com/office/drawing/2014/main" id="{683CF56D-257D-4DC2-8CBD-8D0B874987BD}"/>
              </a:ext>
            </a:extLst>
          </p:cNvPr>
          <p:cNvSpPr>
            <a:spLocks noGrp="1"/>
          </p:cNvSpPr>
          <p:nvPr/>
        </p:nvSpPr>
        <p:spPr>
          <a:xfrm>
            <a:off x="5905500" y="1809750"/>
            <a:ext cx="5334000" cy="1571625"/>
          </a:xfrm>
          <a:prstGeom prst="roundRect">
            <a:avLst>
              <a:gd name="adj" fmla="val 9697"/>
            </a:avLst>
          </a:prstGeom>
          <a:solidFill>
            <a:srgbClr val="FFE2DA"/>
          </a:solidFill>
          <a:ln w="12383">
            <a:solidFill>
              <a:srgbClr val="E86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9F876AA-12F3-43CB-9862-384BD7110AFC}"/>
              </a:ext>
            </a:extLst>
          </p:cNvPr>
          <p:cNvSpPr>
            <a:spLocks noGrp="1"/>
          </p:cNvSpPr>
          <p:nvPr/>
        </p:nvSpPr>
        <p:spPr>
          <a:xfrm>
            <a:off x="6096000" y="200025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E86A4A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E86A4A"/>
                </a:solidFill>
                <a:latin typeface="DM Sans"/>
                <a:ea typeface="DM Sans"/>
                <a:cs typeface="DM Sans"/>
              </a:rPr>
              <a:t>PAYMENTS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E0ADDEF-F5D5-4952-BCF8-E00FCD902A4C}"/>
              </a:ext>
            </a:extLst>
          </p:cNvPr>
          <p:cNvSpPr>
            <a:spLocks noGrp="1"/>
          </p:cNvSpPr>
          <p:nvPr/>
        </p:nvSpPr>
        <p:spPr>
          <a:xfrm>
            <a:off x="6096000" y="2333625"/>
            <a:ext cx="495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“Los pagos con tarjeta ya sean automáticos.”</a:t>
            </a:r>
          </a:p>
        </p:txBody>
      </p:sp>
      <p:sp>
        <p:nvSpPr>
          <p:cNvPr id="10" name="Retângulo Arredondado 9">
            <a:extLst>
              <a:ext uri="{FF2B5EF4-FFF2-40B4-BE49-F238E27FC236}">
                <a16:creationId xmlns:a16="http://schemas.microsoft.com/office/drawing/2014/main" id="{7306C2B4-D229-406C-8BD8-8F8DBB277F00}"/>
              </a:ext>
            </a:extLst>
          </p:cNvPr>
          <p:cNvSpPr>
            <a:spLocks noGrp="1"/>
          </p:cNvSpPr>
          <p:nvPr/>
        </p:nvSpPr>
        <p:spPr>
          <a:xfrm>
            <a:off x="190500" y="3762375"/>
            <a:ext cx="5334000" cy="1571625"/>
          </a:xfrm>
          <a:prstGeom prst="roundRect">
            <a:avLst>
              <a:gd name="adj" fmla="val 9697"/>
            </a:avLst>
          </a:prstGeom>
          <a:solidFill>
            <a:srgbClr val="E5E8FF"/>
          </a:solidFill>
          <a:ln w="12383">
            <a:solidFill>
              <a:srgbClr val="5E6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260D4B4-878B-48D2-82E8-A890ADF3244A}"/>
              </a:ext>
            </a:extLst>
          </p:cNvPr>
          <p:cNvSpPr>
            <a:spLocks noGrp="1"/>
          </p:cNvSpPr>
          <p:nvPr/>
        </p:nvSpPr>
        <p:spPr>
          <a:xfrm>
            <a:off x="381000" y="39528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5E6BE8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5E6BE8"/>
                </a:solidFill>
                <a:latin typeface="DM Sans"/>
                <a:ea typeface="DM Sans"/>
                <a:cs typeface="DM Sans"/>
              </a:rPr>
              <a:t>ROUTING + TIME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192DA0A-C9D2-463D-AC40-2C81B2040B03}"/>
              </a:ext>
            </a:extLst>
          </p:cNvPr>
          <p:cNvSpPr>
            <a:spLocks noGrp="1"/>
          </p:cNvSpPr>
          <p:nvPr/>
        </p:nvSpPr>
        <p:spPr>
          <a:xfrm>
            <a:off x="381000" y="4286250"/>
            <a:ext cx="495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“Cuando hay más de dos pedidos en una sola ruta, imposible cumplir con los indicadores.”</a:t>
            </a:r>
          </a:p>
        </p:txBody>
      </p:sp>
      <p:sp>
        <p:nvSpPr>
          <p:cNvPr id="13" name="Retângulo Arredondado 12">
            <a:extLst>
              <a:ext uri="{FF2B5EF4-FFF2-40B4-BE49-F238E27FC236}">
                <a16:creationId xmlns:a16="http://schemas.microsoft.com/office/drawing/2014/main" id="{75567A4D-794D-4359-8D56-36923657627D}"/>
              </a:ext>
            </a:extLst>
          </p:cNvPr>
          <p:cNvSpPr>
            <a:spLocks noGrp="1"/>
          </p:cNvSpPr>
          <p:nvPr/>
        </p:nvSpPr>
        <p:spPr>
          <a:xfrm>
            <a:off x="5905500" y="3762375"/>
            <a:ext cx="5334000" cy="1571625"/>
          </a:xfrm>
          <a:prstGeom prst="roundRect">
            <a:avLst>
              <a:gd name="adj" fmla="val 9697"/>
            </a:avLst>
          </a:prstGeom>
          <a:solidFill>
            <a:srgbClr val="EAD9FF"/>
          </a:solidFill>
          <a:ln w="12383">
            <a:solidFill>
              <a:srgbClr val="9147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9D6FE60-122B-4407-AAFF-2758D8054AB0}"/>
              </a:ext>
            </a:extLst>
          </p:cNvPr>
          <p:cNvSpPr>
            <a:spLocks noGrp="1"/>
          </p:cNvSpPr>
          <p:nvPr/>
        </p:nvSpPr>
        <p:spPr>
          <a:xfrm>
            <a:off x="6096000" y="3952875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82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SUPPORT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76B93CB-EBDB-4BE6-A110-D841DF7A17F2}"/>
              </a:ext>
            </a:extLst>
          </p:cNvPr>
          <p:cNvSpPr>
            <a:spLocks noGrp="1"/>
          </p:cNvSpPr>
          <p:nvPr/>
        </p:nvSpPr>
        <p:spPr>
          <a:xfrm>
            <a:off x="6096000" y="4286250"/>
            <a:ext cx="495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“Tendría la sección de quejas del repartidor o domiciliario, pues la aplicación no la tiene.”</a:t>
            </a:r>
          </a:p>
        </p:txBody>
      </p:sp>
      <p:sp>
        <p:nvSpPr>
          <p:cNvPr id="16" name="Retângulo Arredondado 15">
            <a:extLst>
              <a:ext uri="{FF2B5EF4-FFF2-40B4-BE49-F238E27FC236}">
                <a16:creationId xmlns:a16="http://schemas.microsoft.com/office/drawing/2014/main" id="{D61B7C8E-1E7A-409E-9D75-C7A5F89C5381}"/>
              </a:ext>
            </a:extLst>
          </p:cNvPr>
          <p:cNvSpPr>
            <a:spLocks noGrp="1"/>
          </p:cNvSpPr>
          <p:nvPr/>
        </p:nvSpPr>
        <p:spPr>
          <a:xfrm>
            <a:off x="190500" y="5676900"/>
            <a:ext cx="11811000" cy="371475"/>
          </a:xfrm>
          <a:prstGeom prst="roundRect">
            <a:avLst>
              <a:gd name="adj" fmla="val 30769"/>
            </a:avLst>
          </a:prstGeom>
          <a:solidFill>
            <a:srgbClr val="000000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74A9FB4-9E92-491C-A620-790EDA229AC9}"/>
              </a:ext>
            </a:extLst>
          </p:cNvPr>
          <p:cNvSpPr>
            <a:spLocks noGrp="1"/>
          </p:cNvSpPr>
          <p:nvPr/>
        </p:nvSpPr>
        <p:spPr>
          <a:xfrm>
            <a:off x="361950" y="5762625"/>
            <a:ext cx="1143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Courier signal → Couriers do not ask only for speed: they ask for better information, realistic routing, easier payment and a support channel that absorbs exceptions.</a:t>
            </a:r>
          </a:p>
        </p:txBody>
      </p:sp>
      <p:sp>
        <p:nvSpPr>
          <p:cNvPr id="18" name="Conector Reto 17">
            <a:extLst>
              <a:ext uri="{FF2B5EF4-FFF2-40B4-BE49-F238E27FC236}">
                <a16:creationId xmlns:a16="http://schemas.microsoft.com/office/drawing/2014/main" id="{2CF22388-E996-460F-8980-F4626563C59D}"/>
              </a:ext>
            </a:extLst>
          </p:cNvPr>
          <p:cNvSpPr>
            <a:spLocks noGrp="1"/>
          </p:cNvSpPr>
          <p:nvPr/>
        </p:nvSpPr>
        <p:spPr>
          <a:xfrm>
            <a:off x="190500" y="6200775"/>
            <a:ext cx="11811000" cy="0"/>
          </a:xfrm>
          <a:prstGeom prst="line">
            <a:avLst/>
          </a:prstGeom>
          <a:ln w="9525">
            <a:solidFill>
              <a:srgbClr val="E6DDE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26B0D16-02E8-4DE7-B25E-4955CDB367CA}"/>
              </a:ext>
            </a:extLst>
          </p:cNvPr>
          <p:cNvSpPr>
            <a:spLocks noGrp="1"/>
          </p:cNvSpPr>
          <p:nvPr/>
        </p:nvSpPr>
        <p:spPr>
          <a:xfrm>
            <a:off x="190500" y="6334125"/>
            <a:ext cx="2095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Ta-Da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28813221-5250-4A2E-8139-F092BB250FF4}"/>
              </a:ext>
            </a:extLst>
          </p:cNvPr>
          <p:cNvSpPr>
            <a:spLocks noGrp="1"/>
          </p:cNvSpPr>
          <p:nvPr/>
        </p:nvSpPr>
        <p:spPr>
          <a:xfrm>
            <a:off x="5810250" y="6334125"/>
            <a:ext cx="66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24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91A08AD7-671D-4726-960A-2EEAFC6F4026}"/>
              </a:ext>
            </a:extLst>
          </p:cNvPr>
          <p:cNvSpPr>
            <a:spLocks noGrp="1"/>
          </p:cNvSpPr>
          <p:nvPr/>
        </p:nvSpPr>
        <p:spPr>
          <a:xfrm>
            <a:off x="7953375" y="6334125"/>
            <a:ext cx="238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Appendix · Voices</a:t>
            </a:r>
          </a:p>
        </p:txBody>
      </p:sp>
    </p:spTree>
    <p:extLst>
      <p:ext uri="{BB962C8B-B14F-4D97-AF65-F5344CB8AC3E}">
        <p14:creationId xmlns:p14="http://schemas.microsoft.com/office/powerpoint/2010/main" val="12673499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4214F43D-9B7D-4824-9846-15C9A8C94417}"/>
              </a:ext>
            </a:extLst>
          </p:cNvPr>
          <p:cNvSpPr>
            <a:spLocks noGrp="1"/>
          </p:cNvSpPr>
          <p:nvPr/>
        </p:nvSpPr>
        <p:spPr>
          <a:xfrm>
            <a:off x="190500" y="28575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25 / RECOMMENDED ACTIONS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A4C1D09-7C50-499A-A1A8-46FCACDE1F00}"/>
              </a:ext>
            </a:extLst>
          </p:cNvPr>
          <p:cNvSpPr>
            <a:spLocks noGrp="1"/>
          </p:cNvSpPr>
          <p:nvPr/>
        </p:nvSpPr>
        <p:spPr>
          <a:xfrm>
            <a:off x="190500" y="723900"/>
            <a:ext cx="11049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3150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A focused sequence for the next 90 days.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9801871-F6ED-497C-9B16-A5ECCE49E102}"/>
              </a:ext>
            </a:extLst>
          </p:cNvPr>
          <p:cNvSpPr>
            <a:spLocks noGrp="1"/>
          </p:cNvSpPr>
          <p:nvPr/>
        </p:nvSpPr>
        <p:spPr>
          <a:xfrm>
            <a:off x="190500" y="1685925"/>
            <a:ext cx="1066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E5DFEA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E5DFEA"/>
                </a:solidFill>
                <a:latin typeface="DM Sans"/>
                <a:ea typeface="DM Sans"/>
                <a:cs typeface="DM Sans"/>
              </a:rPr>
              <a:t>Start with handoff reliability, then build the feedback system that makes learning measurable.</a:t>
            </a:r>
          </a:p>
        </p:txBody>
      </p:sp>
      <p:sp>
        <p:nvSpPr>
          <p:cNvPr id="4" name="Retângulo Arredondado 3">
            <a:extLst>
              <a:ext uri="{FF2B5EF4-FFF2-40B4-BE49-F238E27FC236}">
                <a16:creationId xmlns:a16="http://schemas.microsoft.com/office/drawing/2014/main" id="{3FE4C3FF-0B0C-4CC7-9308-E66455914AC2}"/>
              </a:ext>
            </a:extLst>
          </p:cNvPr>
          <p:cNvSpPr>
            <a:spLocks noGrp="1"/>
          </p:cNvSpPr>
          <p:nvPr/>
        </p:nvSpPr>
        <p:spPr>
          <a:xfrm>
            <a:off x="190500" y="2571750"/>
            <a:ext cx="3476625" cy="2714625"/>
          </a:xfrm>
          <a:prstGeom prst="roundRect">
            <a:avLst>
              <a:gd name="adj" fmla="val 5614"/>
            </a:avLst>
          </a:prstGeom>
          <a:solidFill>
            <a:srgbClr val="FFE0E9"/>
          </a:solidFill>
          <a:ln w="13335">
            <a:solidFill>
              <a:srgbClr val="E958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388C8B4-EAB9-4C79-8902-FF75FD5E48E7}"/>
              </a:ext>
            </a:extLst>
          </p:cNvPr>
          <p:cNvSpPr>
            <a:spLocks noGrp="1"/>
          </p:cNvSpPr>
          <p:nvPr/>
        </p:nvSpPr>
        <p:spPr>
          <a:xfrm>
            <a:off x="361950" y="2733675"/>
            <a:ext cx="31337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95878"/>
                </a:solidFill>
                <a:latin typeface="DM Sans"/>
                <a:ea typeface="DM Sans"/>
                <a:cs typeface="DM Sans"/>
              </a:defRPr>
            </a:pPr>
            <a:r>
              <a:rPr sz="1350" b="1" dirty="0">
                <a:solidFill>
                  <a:srgbClr val="E95878"/>
                </a:solidFill>
                <a:latin typeface="DM Sans"/>
                <a:ea typeface="DM Sans"/>
                <a:cs typeface="DM Sans"/>
              </a:rPr>
              <a:t>NOW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A99965A-CA47-431C-8A11-9FD052BDF394}"/>
              </a:ext>
            </a:extLst>
          </p:cNvPr>
          <p:cNvSpPr>
            <a:spLocks noGrp="1"/>
          </p:cNvSpPr>
          <p:nvPr/>
        </p:nvSpPr>
        <p:spPr>
          <a:xfrm>
            <a:off x="361950" y="3076575"/>
            <a:ext cx="3133725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9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9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Stabilize the handoff</a:t>
            </a:r>
          </a:p>
          <a:p>
            <a:endParaRPr sz="990" b="0">
              <a:solidFill>
                <a:srgbClr val="17131B"/>
              </a:solidFill>
              <a:latin typeface="DM Sans"/>
              <a:ea typeface="DM Sans"/>
              <a:cs typeface="DM Sans"/>
            </a:endParaRPr>
          </a:p>
          <a:p>
            <a:pPr algn="l">
              <a:defRPr sz="99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9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Standardize customer phone and address validation.</a:t>
            </a:r>
          </a:p>
          <a:p>
            <a:pPr algn="l">
              <a:defRPr sz="99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9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Define a shared cancellation / exception path for sellers and couriers.</a:t>
            </a:r>
          </a:p>
          <a:p>
            <a:pPr algn="l">
              <a:defRPr sz="99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9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Publish a plain-language metric dictionary: what each KPI means, why it moves and what action to take.</a:t>
            </a:r>
          </a:p>
          <a:p>
            <a:pPr algn="l">
              <a:defRPr sz="99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9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Tag the top issues by city and owner.</a:t>
            </a:r>
          </a:p>
        </p:txBody>
      </p:sp>
      <p:sp>
        <p:nvSpPr>
          <p:cNvPr id="7" name="Retângulo Arredondado 6">
            <a:extLst>
              <a:ext uri="{FF2B5EF4-FFF2-40B4-BE49-F238E27FC236}">
                <a16:creationId xmlns:a16="http://schemas.microsoft.com/office/drawing/2014/main" id="{2BDDA7B4-E6DF-4C3D-8C41-351EFB219609}"/>
              </a:ext>
            </a:extLst>
          </p:cNvPr>
          <p:cNvSpPr>
            <a:spLocks noGrp="1"/>
          </p:cNvSpPr>
          <p:nvPr/>
        </p:nvSpPr>
        <p:spPr>
          <a:xfrm>
            <a:off x="3857625" y="2571750"/>
            <a:ext cx="3476625" cy="2714625"/>
          </a:xfrm>
          <a:prstGeom prst="roundRect">
            <a:avLst>
              <a:gd name="adj" fmla="val 5614"/>
            </a:avLst>
          </a:prstGeom>
          <a:solidFill>
            <a:srgbClr val="FFE2DA"/>
          </a:solidFill>
          <a:ln w="13335">
            <a:solidFill>
              <a:srgbClr val="E86A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C36279F-3FAF-4E40-8ECE-8AFB948CAF6F}"/>
              </a:ext>
            </a:extLst>
          </p:cNvPr>
          <p:cNvSpPr>
            <a:spLocks noGrp="1"/>
          </p:cNvSpPr>
          <p:nvPr/>
        </p:nvSpPr>
        <p:spPr>
          <a:xfrm>
            <a:off x="4029075" y="2733675"/>
            <a:ext cx="31337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86A4A"/>
                </a:solidFill>
                <a:latin typeface="DM Sans"/>
                <a:ea typeface="DM Sans"/>
                <a:cs typeface="DM Sans"/>
              </a:defRPr>
            </a:pPr>
            <a:r>
              <a:rPr sz="1350" b="1" dirty="0">
                <a:solidFill>
                  <a:srgbClr val="E86A4A"/>
                </a:solidFill>
                <a:latin typeface="DM Sans"/>
                <a:ea typeface="DM Sans"/>
                <a:cs typeface="DM Sans"/>
              </a:rPr>
              <a:t>NEXT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9E6E0DF-A7F7-4FEC-8BC0-0ECCB1E991D1}"/>
              </a:ext>
            </a:extLst>
          </p:cNvPr>
          <p:cNvSpPr>
            <a:spLocks noGrp="1"/>
          </p:cNvSpPr>
          <p:nvPr/>
        </p:nvSpPr>
        <p:spPr>
          <a:xfrm>
            <a:off x="4029075" y="3076575"/>
            <a:ext cx="3133725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9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9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Improve execution and earning clarity</a:t>
            </a:r>
          </a:p>
          <a:p>
            <a:endParaRPr sz="990" b="0">
              <a:solidFill>
                <a:srgbClr val="17131B"/>
              </a:solidFill>
              <a:latin typeface="DM Sans"/>
              <a:ea typeface="DM Sans"/>
              <a:cs typeface="DM Sans"/>
            </a:endParaRPr>
          </a:p>
          <a:p>
            <a:pPr algn="l">
              <a:defRPr sz="99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9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Add remaining-time and multi-order route visibility.</a:t>
            </a:r>
          </a:p>
          <a:p>
            <a:pPr algn="l">
              <a:defRPr sz="99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9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Test realistic wait-time rules and better customer contact prompts.</a:t>
            </a:r>
          </a:p>
          <a:p>
            <a:pPr algn="l">
              <a:defRPr sz="99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9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Improve support recovery for wrong addresses, cancellations and app failures.</a:t>
            </a:r>
          </a:p>
          <a:p>
            <a:pPr algn="l">
              <a:defRPr sz="99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9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Create first-90-day playbooks for new couriers and small sellers.</a:t>
            </a:r>
          </a:p>
        </p:txBody>
      </p:sp>
      <p:sp>
        <p:nvSpPr>
          <p:cNvPr id="10" name="Retângulo Arredondado 9">
            <a:extLst>
              <a:ext uri="{FF2B5EF4-FFF2-40B4-BE49-F238E27FC236}">
                <a16:creationId xmlns:a16="http://schemas.microsoft.com/office/drawing/2014/main" id="{5DA5FFC3-F400-4338-83C2-5A37A916DAEA}"/>
              </a:ext>
            </a:extLst>
          </p:cNvPr>
          <p:cNvSpPr>
            <a:spLocks noGrp="1"/>
          </p:cNvSpPr>
          <p:nvPr/>
        </p:nvSpPr>
        <p:spPr>
          <a:xfrm>
            <a:off x="7524750" y="2571750"/>
            <a:ext cx="3476625" cy="2714625"/>
          </a:xfrm>
          <a:prstGeom prst="roundRect">
            <a:avLst>
              <a:gd name="adj" fmla="val 5614"/>
            </a:avLst>
          </a:prstGeom>
          <a:solidFill>
            <a:srgbClr val="EAD9FF"/>
          </a:solidFill>
          <a:ln w="13335">
            <a:solidFill>
              <a:srgbClr val="9147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2539296-59F3-4D4F-9F01-2932A6C7149B}"/>
              </a:ext>
            </a:extLst>
          </p:cNvPr>
          <p:cNvSpPr>
            <a:spLocks noGrp="1"/>
          </p:cNvSpPr>
          <p:nvPr/>
        </p:nvSpPr>
        <p:spPr>
          <a:xfrm>
            <a:off x="7696200" y="2733675"/>
            <a:ext cx="31337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1350" b="1" dirty="0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LATER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5656EEB-4515-4E85-8A45-307F0F5623AF}"/>
              </a:ext>
            </a:extLst>
          </p:cNvPr>
          <p:cNvSpPr>
            <a:spLocks noGrp="1"/>
          </p:cNvSpPr>
          <p:nvPr/>
        </p:nvSpPr>
        <p:spPr>
          <a:xfrm>
            <a:off x="7696200" y="3076575"/>
            <a:ext cx="3133725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9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9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Build the feedback system</a:t>
            </a:r>
          </a:p>
          <a:p>
            <a:endParaRPr sz="990" b="0">
              <a:solidFill>
                <a:srgbClr val="17131B"/>
              </a:solidFill>
              <a:latin typeface="DM Sans"/>
              <a:ea typeface="DM Sans"/>
              <a:cs typeface="DM Sans"/>
            </a:endParaRPr>
          </a:p>
          <a:p>
            <a:pPr algn="l">
              <a:defRPr sz="99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9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Connect seller profile, courier coverage, city and delivery outcomes in one dashboard.</a:t>
            </a:r>
          </a:p>
          <a:p>
            <a:pPr algn="l">
              <a:defRPr sz="99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9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Run retention cohorts for sellers and couriers, not only point-in-time cuts.</a:t>
            </a:r>
          </a:p>
          <a:p>
            <a:pPr algn="l">
              <a:defRPr sz="99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9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Pilot a seller–courier advisory group in the highest-volume cities.</a:t>
            </a:r>
          </a:p>
          <a:p>
            <a:pPr algn="l">
              <a:defRPr sz="990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990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• Re-run the survey after the first fixes and measure movement.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5DD608C-E5CC-4DDE-B6CD-E7765E216A86}"/>
              </a:ext>
            </a:extLst>
          </p:cNvPr>
          <p:cNvSpPr>
            <a:spLocks noGrp="1"/>
          </p:cNvSpPr>
          <p:nvPr/>
        </p:nvSpPr>
        <p:spPr>
          <a:xfrm>
            <a:off x="190500" y="5743575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Success measure → fewer handoff failures, clearer metrics, stronger first-90-day retention and more sellers able to grow without adding operational chaos.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38E1934-F680-4930-A355-FB2BBCFED538}"/>
              </a:ext>
            </a:extLst>
          </p:cNvPr>
          <p:cNvSpPr>
            <a:spLocks noGrp="1"/>
          </p:cNvSpPr>
          <p:nvPr/>
        </p:nvSpPr>
        <p:spPr>
          <a:xfrm>
            <a:off x="2095500" y="6372225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Seller + Courier Atlas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87AEFD6-8DBF-48AA-82C8-8F1338616F31}"/>
              </a:ext>
            </a:extLst>
          </p:cNvPr>
          <p:cNvSpPr>
            <a:spLocks noGrp="1"/>
          </p:cNvSpPr>
          <p:nvPr/>
        </p:nvSpPr>
        <p:spPr>
          <a:xfrm>
            <a:off x="6019800" y="6372225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25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0E1B1632-DAD8-4322-9303-39B2FD7C4FE4}"/>
              </a:ext>
            </a:extLst>
          </p:cNvPr>
          <p:cNvSpPr>
            <a:spLocks noGrp="1"/>
          </p:cNvSpPr>
          <p:nvPr/>
        </p:nvSpPr>
        <p:spPr>
          <a:xfrm>
            <a:off x="7962900" y="637222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TaDa Growth Strategy 2027</a:t>
            </a:r>
          </a:p>
        </p:txBody>
      </p:sp>
    </p:spTree>
    <p:extLst>
      <p:ext uri="{BB962C8B-B14F-4D97-AF65-F5344CB8AC3E}">
        <p14:creationId xmlns:p14="http://schemas.microsoft.com/office/powerpoint/2010/main" val="20816425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EB7CD2E9-93C1-4DE7-94EF-D416CAD47DA4}"/>
              </a:ext>
            </a:extLst>
          </p:cNvPr>
          <p:cNvSpPr>
            <a:spLocks noGrp="1"/>
          </p:cNvSpPr>
          <p:nvPr/>
        </p:nvSpPr>
        <p:spPr>
          <a:xfrm>
            <a:off x="190500" y="285750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75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26 / LEADERSHIP DECISIONS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4D749F01-8B79-4869-A271-39C13487303B}"/>
              </a:ext>
            </a:extLst>
          </p:cNvPr>
          <p:cNvSpPr>
            <a:spLocks noGrp="1"/>
          </p:cNvSpPr>
          <p:nvPr/>
        </p:nvSpPr>
        <p:spPr>
          <a:xfrm>
            <a:off x="190500" y="723900"/>
            <a:ext cx="10858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3150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What this research asks us to decide.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100E722-7AB4-4B11-BFAB-5C57D7F64197}"/>
              </a:ext>
            </a:extLst>
          </p:cNvPr>
          <p:cNvSpPr>
            <a:spLocks noGrp="1"/>
          </p:cNvSpPr>
          <p:nvPr/>
        </p:nvSpPr>
        <p:spPr>
          <a:xfrm>
            <a:off x="190500" y="1685925"/>
            <a:ext cx="1066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E5DFEA"/>
                </a:solidFill>
                <a:latin typeface="DM Sans"/>
                <a:ea typeface="DM Sans"/>
                <a:cs typeface="DM Sans"/>
              </a:defRPr>
            </a:pPr>
            <a:r>
              <a:rPr sz="1275" b="0">
                <a:solidFill>
                  <a:srgbClr val="E5DFEA"/>
                </a:solidFill>
                <a:latin typeface="DM Sans"/>
                <a:ea typeface="DM Sans"/>
                <a:cs typeface="DM Sans"/>
              </a:rPr>
              <a:t>The analysis becomes useful when it changes ownership, sequencing and measurement.</a:t>
            </a:r>
          </a:p>
        </p:txBody>
      </p:sp>
      <p:sp>
        <p:nvSpPr>
          <p:cNvPr id="4" name="Retângulo Arredondado 3">
            <a:extLst>
              <a:ext uri="{FF2B5EF4-FFF2-40B4-BE49-F238E27FC236}">
                <a16:creationId xmlns:a16="http://schemas.microsoft.com/office/drawing/2014/main" id="{5379DC1A-5724-417B-A031-7F100A50B457}"/>
              </a:ext>
            </a:extLst>
          </p:cNvPr>
          <p:cNvSpPr>
            <a:spLocks noGrp="1"/>
          </p:cNvSpPr>
          <p:nvPr/>
        </p:nvSpPr>
        <p:spPr>
          <a:xfrm>
            <a:off x="190500" y="2571750"/>
            <a:ext cx="3476625" cy="2095500"/>
          </a:xfrm>
          <a:prstGeom prst="roundRect">
            <a:avLst>
              <a:gd name="adj" fmla="val 7273"/>
            </a:avLst>
          </a:prstGeom>
          <a:solidFill>
            <a:srgbClr val="FFE0E9"/>
          </a:solidFill>
          <a:ln w="13335">
            <a:solidFill>
              <a:srgbClr val="E9587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11D4C78-AB98-490E-BDC0-47E39859B135}"/>
              </a:ext>
            </a:extLst>
          </p:cNvPr>
          <p:cNvSpPr>
            <a:spLocks noGrp="1"/>
          </p:cNvSpPr>
          <p:nvPr/>
        </p:nvSpPr>
        <p:spPr>
          <a:xfrm>
            <a:off x="361950" y="2733675"/>
            <a:ext cx="31337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95878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E95878"/>
                </a:solidFill>
                <a:latin typeface="DM Sans"/>
                <a:ea typeface="DM Sans"/>
                <a:cs typeface="DM Sans"/>
              </a:rPr>
              <a:t>01  Adopt the routing layer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0690ED9-6E96-4817-9664-6E159EA7CD1A}"/>
              </a:ext>
            </a:extLst>
          </p:cNvPr>
          <p:cNvSpPr>
            <a:spLocks noGrp="1"/>
          </p:cNvSpPr>
          <p:nvPr/>
        </p:nvSpPr>
        <p:spPr>
          <a:xfrm>
            <a:off x="361950" y="3076575"/>
            <a:ext cx="3133725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Use seller and courier profiles to route enablement, support and research. Keep the clusters descriptive until outcome data validates them.</a:t>
            </a:r>
          </a:p>
        </p:txBody>
      </p:sp>
      <p:sp>
        <p:nvSpPr>
          <p:cNvPr id="7" name="Retângulo Arredondado 6">
            <a:extLst>
              <a:ext uri="{FF2B5EF4-FFF2-40B4-BE49-F238E27FC236}">
                <a16:creationId xmlns:a16="http://schemas.microsoft.com/office/drawing/2014/main" id="{0FE42640-CBFF-4800-81F5-5AC4FF830718}"/>
              </a:ext>
            </a:extLst>
          </p:cNvPr>
          <p:cNvSpPr>
            <a:spLocks noGrp="1"/>
          </p:cNvSpPr>
          <p:nvPr/>
        </p:nvSpPr>
        <p:spPr>
          <a:xfrm>
            <a:off x="3857625" y="2571750"/>
            <a:ext cx="3476625" cy="2095500"/>
          </a:xfrm>
          <a:prstGeom prst="roundRect">
            <a:avLst>
              <a:gd name="adj" fmla="val 7273"/>
            </a:avLst>
          </a:prstGeom>
          <a:solidFill>
            <a:srgbClr val="E5E8FF"/>
          </a:solidFill>
          <a:ln w="13335">
            <a:solidFill>
              <a:srgbClr val="5E6B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35D5711-5AED-4CF3-9AF6-E1C9BB4F1580}"/>
              </a:ext>
            </a:extLst>
          </p:cNvPr>
          <p:cNvSpPr>
            <a:spLocks noGrp="1"/>
          </p:cNvSpPr>
          <p:nvPr/>
        </p:nvSpPr>
        <p:spPr>
          <a:xfrm>
            <a:off x="4029075" y="2733675"/>
            <a:ext cx="31337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5E6BE8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5E6BE8"/>
                </a:solidFill>
                <a:latin typeface="DM Sans"/>
                <a:ea typeface="DM Sans"/>
                <a:cs typeface="DM Sans"/>
              </a:rPr>
              <a:t>02  Choose the first pilots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47F0F2C-B2DD-4FFC-ADA4-E0A2CD4AC5EA}"/>
              </a:ext>
            </a:extLst>
          </p:cNvPr>
          <p:cNvSpPr>
            <a:spLocks noGrp="1"/>
          </p:cNvSpPr>
          <p:nvPr/>
        </p:nvSpPr>
        <p:spPr>
          <a:xfrm>
            <a:off x="4029075" y="3076575"/>
            <a:ext cx="3133725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Prioritize the highest-volume markets for handoff fixes, and pilot the small-seller activation play in a controlled set of cities.</a:t>
            </a:r>
          </a:p>
        </p:txBody>
      </p:sp>
      <p:sp>
        <p:nvSpPr>
          <p:cNvPr id="10" name="Retângulo Arredondado 9">
            <a:extLst>
              <a:ext uri="{FF2B5EF4-FFF2-40B4-BE49-F238E27FC236}">
                <a16:creationId xmlns:a16="http://schemas.microsoft.com/office/drawing/2014/main" id="{5E2AC783-3BD9-4307-BE85-F4E485397D75}"/>
              </a:ext>
            </a:extLst>
          </p:cNvPr>
          <p:cNvSpPr>
            <a:spLocks noGrp="1"/>
          </p:cNvSpPr>
          <p:nvPr/>
        </p:nvSpPr>
        <p:spPr>
          <a:xfrm>
            <a:off x="7524750" y="2571750"/>
            <a:ext cx="3476625" cy="2095500"/>
          </a:xfrm>
          <a:prstGeom prst="roundRect">
            <a:avLst>
              <a:gd name="adj" fmla="val 7273"/>
            </a:avLst>
          </a:prstGeom>
          <a:solidFill>
            <a:srgbClr val="EAD9FF"/>
          </a:solidFill>
          <a:ln w="13335">
            <a:solidFill>
              <a:srgbClr val="9147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7CB3C2B-5D92-47BA-BDA1-A1BC6AF60ECF}"/>
              </a:ext>
            </a:extLst>
          </p:cNvPr>
          <p:cNvSpPr>
            <a:spLocks noGrp="1"/>
          </p:cNvSpPr>
          <p:nvPr/>
        </p:nvSpPr>
        <p:spPr>
          <a:xfrm>
            <a:off x="7696200" y="2733675"/>
            <a:ext cx="31337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03  Assign owners and measures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9223144-BEF5-4F36-9BA4-D0225C2B5475}"/>
              </a:ext>
            </a:extLst>
          </p:cNvPr>
          <p:cNvSpPr>
            <a:spLocks noGrp="1"/>
          </p:cNvSpPr>
          <p:nvPr/>
        </p:nvSpPr>
        <p:spPr>
          <a:xfrm>
            <a:off x="7696200" y="3076575"/>
            <a:ext cx="3133725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0">
                <a:solidFill>
                  <a:srgbClr val="17131B"/>
                </a:solidFill>
                <a:latin typeface="DM Sans"/>
                <a:ea typeface="DM Sans"/>
                <a:cs typeface="DM Sans"/>
              </a:defRPr>
            </a:pPr>
            <a:r>
              <a:rPr sz="1013" b="0">
                <a:solidFill>
                  <a:srgbClr val="17131B"/>
                </a:solidFill>
                <a:latin typeface="DM Sans"/>
                <a:ea typeface="DM Sans"/>
                <a:cs typeface="DM Sans"/>
              </a:rPr>
              <a:t>Give product, operations and commercial teams a shared backlog. Track delivery, cancellations, rating, metric comprehension and retention.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E6E82B1-C979-4F6D-B41D-B48B66689D6D}"/>
              </a:ext>
            </a:extLst>
          </p:cNvPr>
          <p:cNvSpPr>
            <a:spLocks noGrp="1"/>
          </p:cNvSpPr>
          <p:nvPr/>
        </p:nvSpPr>
        <p:spPr>
          <a:xfrm>
            <a:off x="190500" y="5238750"/>
            <a:ext cx="10763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  <a:latin typeface="DM Sans"/>
                <a:ea typeface="DM Sans"/>
                <a:cs typeface="DM Sans"/>
              </a:defRPr>
            </a:pPr>
            <a:r>
              <a:rPr sz="1500" b="1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Suggested next meeting → select pilot markets, name the owners and agree on the baseline metrics.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1CB77C3-AF7E-485E-BBB3-FCA4ADD7A1B3}"/>
              </a:ext>
            </a:extLst>
          </p:cNvPr>
          <p:cNvSpPr>
            <a:spLocks noGrp="1"/>
          </p:cNvSpPr>
          <p:nvPr/>
        </p:nvSpPr>
        <p:spPr>
          <a:xfrm>
            <a:off x="2095500" y="6372225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Seller + Courier Atlas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7068EA6-762B-49FB-8C4C-6D7D1871B2BA}"/>
              </a:ext>
            </a:extLst>
          </p:cNvPr>
          <p:cNvSpPr>
            <a:spLocks noGrp="1"/>
          </p:cNvSpPr>
          <p:nvPr/>
        </p:nvSpPr>
        <p:spPr>
          <a:xfrm>
            <a:off x="6019800" y="6372225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26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706C445-1DDA-4FE7-A860-EF3A60994668}"/>
              </a:ext>
            </a:extLst>
          </p:cNvPr>
          <p:cNvSpPr>
            <a:spLocks noGrp="1"/>
          </p:cNvSpPr>
          <p:nvPr/>
        </p:nvSpPr>
        <p:spPr>
          <a:xfrm>
            <a:off x="7962900" y="637222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9147FF"/>
                </a:solidFill>
                <a:latin typeface="DM Sans"/>
                <a:ea typeface="DM Sans"/>
                <a:cs typeface="DM Sans"/>
              </a:defRPr>
            </a:pPr>
            <a:r>
              <a:rPr sz="900" b="1">
                <a:solidFill>
                  <a:srgbClr val="9147FF"/>
                </a:solidFill>
                <a:latin typeface="DM Sans"/>
                <a:ea typeface="DM Sans"/>
                <a:cs typeface="DM Sans"/>
              </a:rPr>
              <a:t>TaDa Growth Strategy 2027</a:t>
            </a:r>
          </a:p>
        </p:txBody>
      </p:sp>
    </p:spTree>
    <p:extLst>
      <p:ext uri="{BB962C8B-B14F-4D97-AF65-F5344CB8AC3E}">
        <p14:creationId xmlns:p14="http://schemas.microsoft.com/office/powerpoint/2010/main" val="13601453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5456</Words>
  <Application>Microsoft Macintosh PowerPoint</Application>
  <DocSecurity>0</DocSecurity>
  <PresentationFormat>Widescreen</PresentationFormat>
  <Paragraphs>669</Paragraphs>
  <Slides>27</Slides>
  <Notes>27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0" baseType="lpstr">
      <vt:lpstr>Calibri</vt:lpstr>
      <vt:lpstr>DM Sans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Damasceno, Vivian</cp:lastModifiedBy>
  <cp:revision>2</cp:revision>
  <dcterms:created xsi:type="dcterms:W3CDTF">2026-09-28T14:52:47Z</dcterms:created>
  <dcterms:modified xsi:type="dcterms:W3CDTF">2026-09-28T17:00:47Z</dcterms:modified>
</cp:coreProperties>
</file>