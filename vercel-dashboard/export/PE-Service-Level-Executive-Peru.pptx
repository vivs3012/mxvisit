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B06395-1459-553A-5846-593BFF4C73B9}" name="Augustini, Thiago" initials="AT" userId="S::thiago.augustini@ab-inbev.com::26794922-3cfa-4272-893c-e928d2a4b4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41FF"/>
    <a:srgbClr val="B38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0"/>
  </p:normalViewPr>
  <p:slideViewPr>
    <p:cSldViewPr snapToGrid="0">
      <p:cViewPr varScale="1">
        <p:scale>
          <a:sx n="109" d="100"/>
          <a:sy n="109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EF3B2-4943-E844-A197-EBB1C7FA647C}" type="datetimeFigureOut">
              <a:rPr lang="es-MX" smtClean="0"/>
              <a:t>11/09/26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B24D-D098-F343-B3CF-132B92296E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56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neg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29495-84F3-1A52-EC4F-A4C0A2C8A5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096428"/>
            <a:ext cx="9144000" cy="945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CC28F3-FDA0-89EB-A887-EEDB6B329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3687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32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F6A38-2B40-9BFB-3A97-CA2491B6E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912" y="417028"/>
            <a:ext cx="7904356" cy="662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889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F6A38-2B40-9BFB-3A97-CA2491B6E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912" y="417028"/>
            <a:ext cx="7904356" cy="662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940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616E0-9F67-9C74-0056-B752297A4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0928" y="3134936"/>
            <a:ext cx="4714103" cy="5881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350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F9CD-56D6-CCF3-B304-1CFAC1786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07004"/>
            <a:ext cx="4662788" cy="84399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1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B208F-DA3B-3083-1FDD-37A1BFFE7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3184" y="5076518"/>
            <a:ext cx="3688209" cy="7837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354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55A23-97C1-2FB1-B2A6-F0C0B4462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8696" y="2766218"/>
            <a:ext cx="4911811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B3872C"/>
                </a:solidFill>
              </a:defRPr>
            </a:lvl1pPr>
          </a:lstStyle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003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8CD8E4-7641-499E-B615-A304DB88DF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350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grpId="1" nodeType="withEffect" nodePh="1">
                                  <p:stCondLst>
                                    <p:cond delay="350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8" dur="3500" fill="hold"/>
                                        <p:tgtEl>
                                          <p:spTgt spid="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967C-564F-40EC-10E1-33C44D52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C0BC-9942-DFB8-5988-AB03219B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029F-8968-E6A0-62EB-2E432463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9AF2-A2F7-6C46-8EDA-1BACC4C5DD05}" type="datetimeFigureOut">
              <a:rPr lang="en-BR" smtClean="0"/>
              <a:t>9/11/26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C319-D0C9-EE79-78F5-940E7CCF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77BE-8AB9-0DEB-6B5A-F125C54D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0590-676C-8A45-A083-4C3D80752CE0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8889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07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09BC12C-5CF1-E931-E195-E136624863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263855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9BC12C-5CF1-E931-E195-E136624863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2B34AB6-479A-2F29-AA2F-7A6068A0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811" y="2766218"/>
            <a:ext cx="4911811" cy="13255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76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3872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9C41FF"/>
                </a:solidFill>
                <a:latin typeface="Avantt TRIAL ExtraBold"/>
              </a:rPr>
              <a:t>PERU</a:t>
            </a:r>
          </a:p>
          <a:p>
            <a:pPr algn="l"/>
            <a:r>
              <a:rPr sz="4400" b="1">
                <a:solidFill>
                  <a:srgbClr val="9C41FF"/>
                </a:solidFill>
                <a:latin typeface="Avantt TRIAL ExtraBold"/>
              </a:rPr>
              <a:t>SERVICE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24688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Executive learnings for Product — Seller · Courier · Admin · CX</a:t>
            </a:r>
          </a:p>
          <a:p>
            <a:pPr>
              <a:spcAft>
                <a:spcPts val="500"/>
              </a:spcAft>
            </a:pPr>
            <a:endParaRPr sz="1500" b="0" dirty="0">
              <a:solidFill>
                <a:srgbClr val="FFFFFF"/>
              </a:solidFill>
              <a:latin typeface="Avantt TRIAL"/>
            </a:endParaRP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Sources: Aug 31 store visits (3 Lima POCs) · Sep 1 Service Level with OPS + Product · Sep 2 OPS workshop (</a:t>
            </a:r>
            <a:r>
              <a:rPr sz="1500" b="0" dirty="0" err="1">
                <a:solidFill>
                  <a:srgbClr val="FFFFFF"/>
                </a:solidFill>
                <a:latin typeface="Avantt TRIAL"/>
              </a:rPr>
              <a:t>BeerHub</a:t>
            </a:r>
            <a:r>
              <a:rPr sz="1500" b="0" dirty="0">
                <a:solidFill>
                  <a:srgbClr val="FFFFFF"/>
                </a:solidFill>
                <a:latin typeface="Avantt TRIAL"/>
              </a:rPr>
              <a:t>).</a:t>
            </a:r>
          </a:p>
          <a:p>
            <a:pPr>
              <a:spcAft>
                <a:spcPts val="500"/>
              </a:spcAft>
            </a:pPr>
            <a:endParaRPr sz="1500" b="0" dirty="0">
              <a:solidFill>
                <a:srgbClr val="FFFFFF"/>
              </a:solidFill>
              <a:latin typeface="Avantt TRIAL"/>
            </a:endParaRP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Scope: operations &amp; service level only — not Consumer or Rewards tracks.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Peru context: +36% orders Jan–Jul YoY, ~96% SLA, ~18% cancellations from wrong address.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FFFFFF"/>
                </a:solidFill>
                <a:latin typeface="Avantt TRIAL"/>
              </a:rPr>
              <a:t>Shared product bets: Ecosystem Communication (weeks) · real-time inventory (strategic) · Brace for </a:t>
            </a:r>
            <a:r>
              <a:rPr sz="1500" b="0" dirty="0" err="1">
                <a:solidFill>
                  <a:srgbClr val="FFFFFF"/>
                </a:solidFill>
                <a:latin typeface="Avantt TRIAL"/>
              </a:rPr>
              <a:t>supervisor→store</a:t>
            </a:r>
            <a:r>
              <a:rPr sz="1500" b="0" dirty="0">
                <a:solidFill>
                  <a:srgbClr val="FFFFFF"/>
                </a:solidFill>
                <a:latin typeface="Avantt TRIAL"/>
              </a:rPr>
              <a:t> comms.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4840" y="414527"/>
            <a:ext cx="44053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>
                <a:solidFill>
                  <a:srgbClr val="9C41FF"/>
                </a:solidFill>
                <a:latin typeface="Avantt TRIAL ExtraBold"/>
              </a:rPr>
              <a:t>OPS</a:t>
            </a:r>
            <a:r>
              <a:rPr lang="pt-BR" sz="4400" b="1" dirty="0">
                <a:solidFill>
                  <a:srgbClr val="9C41FF"/>
                </a:solidFill>
                <a:latin typeface="Avantt TRIAL ExtraBold"/>
              </a:rPr>
              <a:t> </a:t>
            </a:r>
            <a:r>
              <a:rPr sz="4400" b="1" dirty="0">
                <a:solidFill>
                  <a:schemeClr val="bg1"/>
                </a:solidFill>
                <a:latin typeface="Avantt TRIAL ExtraBold"/>
              </a:rP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708" y="1183968"/>
            <a:ext cx="5074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How it ran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Kick-off → challenge board (real ops examples) → group prioritization vote → future vision for 2027.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Dedicated Operations board — stores, couriers, CX, admin (27.CX.ADMI).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Part 1: 25+ operational pains on stickies. Part 2: co-created bets (scheduled orders, copilot, BIS→TADA, vending).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Who participated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Peru OPS: supervisors, stores, couriers, CIEX/CX, commercial admin.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Visiting Product &amp; Design (Brazil/Mexico); Consumer and Rewards on a parallel board the same day.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Top 4 votes — Operations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#1 Real-time KPI visibility — stock, SLA, availability, hot CRM SKUs; alerts before SLA breaks.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#2 Automation + AI copilot for POC admin — coverage, polygons, grouping with SLA guardrails.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#3 Claims resolution — CX, store &amp; consumer on one path; fast credit like market leaders, not parallel email.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FFFFFF"/>
                </a:solidFill>
                <a:latin typeface="Avantt TRIAL"/>
              </a:rPr>
              <a:t>• #4 SKU restrictions on coupons — fewer promo errors, cancellations, and unfair seller KPI penalties.</a:t>
            </a:r>
          </a:p>
        </p:txBody>
      </p:sp>
      <p:pic>
        <p:nvPicPr>
          <p:cNvPr id="6" name="Picture 5" descr="Captura_de_Tela_2026-09-11_a_s_11.19.56-b826d917-f06b-43d3-b10f-a3a64ba277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868680"/>
            <a:ext cx="2880360" cy="3853455"/>
          </a:xfrm>
          <a:prstGeom prst="rect">
            <a:avLst/>
          </a:prstGeom>
        </p:spPr>
      </p:pic>
      <p:pic>
        <p:nvPicPr>
          <p:cNvPr id="7" name="Picture 6" descr="Captura_de_Tela_2026-09-11_a_s_11.20.00-8ebf02ca-6fa2-429a-99ad-541af8c8d2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868680"/>
            <a:ext cx="2880360" cy="3837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5646" y="4817013"/>
            <a:ext cx="34772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dirty="0">
                <a:solidFill>
                  <a:srgbClr val="CCCCCC"/>
                </a:solidFill>
                <a:latin typeface="Avantt TRIAL"/>
              </a:rPr>
              <a:t>Sep 2, 2026 · </a:t>
            </a:r>
            <a:r>
              <a:rPr sz="1200" b="0" dirty="0" err="1">
                <a:solidFill>
                  <a:srgbClr val="CCCCCC"/>
                </a:solidFill>
                <a:latin typeface="Avantt TRIAL"/>
              </a:rPr>
              <a:t>BeerHub</a:t>
            </a:r>
            <a:r>
              <a:rPr sz="1200" b="0" dirty="0">
                <a:solidFill>
                  <a:srgbClr val="CCCCCC"/>
                </a:solidFill>
                <a:latin typeface="Avantt TRIAL"/>
              </a:rPr>
              <a:t>, Lima · One Year Plan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9C41FF"/>
                </a:solidFill>
                <a:latin typeface="Avantt TRIAL ExtraBold"/>
              </a:rPr>
              <a:t>SELLER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13898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Avantt TRIAL"/>
              </a:rPr>
              <a:t>TaDa Seller app + Web Tiendas (WebPO) · validated in 3/3 Lima POCs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47088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What we learned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Map does not update: courier pin stays at the store; on peak only 1–2 of 15 riders visible — stores track via WhatsApp (La Marina ~5–10% visibility).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Inventory is on/off only (no quantity). Combos stay active when one SKU is off; search misses brands/formats; orders still arrive on disabled SKUs.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Order alert sound fails or plays on the wrong device (shared login: office PC vs shop floor) → missed and expired orders.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No in-app chat with the customer; deposit-bottle disputes hurt ratings; cannot assign a 2nd order to a courier already </a:t>
            </a:r>
            <a:r>
              <a:rPr sz="1350" b="0" dirty="0" err="1">
                <a:solidFill>
                  <a:srgbClr val="FFFFFF"/>
                </a:solidFill>
                <a:latin typeface="Avantt TRIAL"/>
              </a:rPr>
              <a:t>en</a:t>
            </a:r>
            <a:r>
              <a:rPr sz="1350" b="0" dirty="0">
                <a:solidFill>
                  <a:srgbClr val="FFFFFF"/>
                </a:solidFill>
                <a:latin typeface="Avantt TRIAL"/>
              </a:rPr>
              <a:t> route (La Marina #2 ask).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</a:t>
            </a:r>
            <a:r>
              <a:rPr sz="1350" b="0" dirty="0" err="1">
                <a:solidFill>
                  <a:srgbClr val="FFFFFF"/>
                </a:solidFill>
                <a:latin typeface="Avantt TRIAL"/>
              </a:rPr>
              <a:t>WebPO</a:t>
            </a:r>
            <a:r>
              <a:rPr sz="1350" b="0" dirty="0">
                <a:solidFill>
                  <a:srgbClr val="FFFFFF"/>
                </a:solidFill>
                <a:latin typeface="Avantt TRIAL"/>
              </a:rPr>
              <a:t> is valued (demand by hour, courier planning, weekly payments) but consumer promos often do not alert the store to pre-stock.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Priorities for Product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Stock quantity + partial order when one SKU is out (today: full cancel).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Ecosystem Communication (seller ↔ consumer ↔ courier) — shipping in weeks.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Actionable KPIs in-app; Top Tiendas off Monday Excel/WhatsApp.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Reliable push + sound + session on shared store accounts.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9C41FF"/>
                </a:solidFill>
                <a:latin typeface="Avantt TRIAL ExtraBold"/>
              </a:rPr>
              <a:t>COURIER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13898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Avantt TRIAL"/>
              </a:rPr>
              <a:t>Fleet &amp; last mile · driven by address quality, wait time, and proof of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" y="1986453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What we learned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Wrong address drives ~18% of cancellations (saved addresses + checkout UX); INAP review launched before the visit.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Customer no-answer at the door: no standard wait time → courier/seller cancel; major ticket and rating driver.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Sellers dispatch blind when the map freezes; WhatsApp is the real-time layer (no audit trail).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Returnable / heavy promos create unsafe stacking on bikes; store phone sometimes exposed to couriers.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“Delivered but not received” is low volume but painful; delivery PIN exists globally — Peru store-level pilot.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Priorities for Product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Address UX (checkout review + location patterns from CO/BR tests).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Timed courier ↔ consumer messages (5-min window; MX pilot −30% courier cancels).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Live map shared with seller (and CX) — same layer, one fix.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Roll out delivery confirmation code per POC.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35092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>
                <a:solidFill>
                  <a:srgbClr val="9C41FF"/>
                </a:solidFill>
                <a:latin typeface="Avantt TRIAL ExtraBold"/>
              </a:rPr>
              <a:t>ADMIN </a:t>
            </a:r>
            <a:r>
              <a:rPr sz="4400" b="1" dirty="0">
                <a:solidFill>
                  <a:schemeClr val="bg1"/>
                </a:solidFill>
                <a:latin typeface="Avantt TRIAL ExtraBold"/>
              </a:rPr>
              <a:t>/</a:t>
            </a:r>
            <a:r>
              <a:rPr lang="pt-BR" sz="4400" b="1" dirty="0">
                <a:solidFill>
                  <a:schemeClr val="bg1"/>
                </a:solidFill>
                <a:latin typeface="Avantt TRIAL ExtraBold"/>
              </a:rPr>
              <a:t> </a:t>
            </a:r>
            <a:r>
              <a:rPr sz="4400" b="1" dirty="0">
                <a:solidFill>
                  <a:schemeClr val="bg1"/>
                </a:solidFill>
                <a:latin typeface="Avantt TRIAL ExtraBold"/>
              </a:rPr>
              <a:t>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" y="1536192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What we learned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No real-time network cockpit: at rush, supervisors cannot see offline stores, expired orders, or new CRM SKUs not activated — Power BI T+1 + WhatsApp.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Promo/discount ops: 4 discount types × DDC sheets → 8+ templates updated twice weekly; flash promos require delete/re-upload; shelf order fixed manually each time.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Polygons edited street-by-street; no neighbor POC view; dangerous zones not excludable (BIS has this, </a:t>
            </a:r>
            <a:r>
              <a:rPr sz="1350" b="0" dirty="0" err="1">
                <a:solidFill>
                  <a:srgbClr val="FFFFFF"/>
                </a:solidFill>
                <a:latin typeface="Avantt TRIAL"/>
              </a:rPr>
              <a:t>TaDa</a:t>
            </a:r>
            <a:r>
              <a:rPr sz="1350" b="0" dirty="0">
                <a:solidFill>
                  <a:srgbClr val="FFFFFF"/>
                </a:solidFill>
                <a:latin typeface="Avantt TRIAL"/>
              </a:rPr>
              <a:t> does not).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Brace (notification center) planned to replace supervisor WhatsApp blasts; Admin squad capacity blocks the ops dashboard.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~20% of new POCs close within 3–4 months — gold/silver/bronze ranking still lives outside the product.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Priorities for Product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KPI cockpit per POC (resume OPS Power BI inside the platform; weekend on-call).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Brace: targeted store comms with read metrics.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Promo admin: change one campaign without full spreadsheet re-upload.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</a:t>
            </a:r>
            <a:r>
              <a:rPr sz="1350" b="0" dirty="0" err="1">
                <a:solidFill>
                  <a:srgbClr val="FFFFFF"/>
                </a:solidFill>
                <a:latin typeface="Avantt TRIAL"/>
              </a:rPr>
              <a:t>WebPO</a:t>
            </a:r>
            <a:r>
              <a:rPr sz="1350" b="0" dirty="0">
                <a:solidFill>
                  <a:srgbClr val="FFFFFF"/>
                </a:solidFill>
                <a:latin typeface="Avantt TRIAL"/>
              </a:rPr>
              <a:t>: keep weekly VLC/credit notes; close gap on per-order export or stores stay on legacy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652" y="612648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9C41FF"/>
                </a:solidFill>
                <a:latin typeface="Avantt TRIAL ExtraBold"/>
              </a:rPr>
              <a:t>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" y="13898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Avantt TRIAL"/>
              </a:rPr>
              <a:t>CIEX · Zendesk · triangle between store, consumer, and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" y="1911565"/>
            <a:ext cx="108356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What we learned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Claims path is slow: Zendesk → email to store → days for evidence; CX, store, and consumer are not on one thread.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Support cannot cancel after the courier has the order — parallel email/Teams.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Small-claim coupons deflect ~40% of tickets (working); large cases (full case damage) still need the store.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CX has no live courier map — same blind spot as consumers; drives “where is my order?” volume.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Tax docs: customer puts RUC in delivery notes; store does not see it → ticket days later; checkout checkbox missing.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OPS workshop vote #3: resolve claims like market leaders (fast credit), not parallel email.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9C41FF"/>
                </a:solidFill>
                <a:latin typeface="Avantt TRIAL ExtraBold"/>
              </a:rPr>
              <a:t>Priorities for Product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Faster claims triangle + clearer roles (when store vs automated coupon).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cx-courier-map-visibility — align with seller map fix.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Ecosystem Communication reduces issues that become tickets.</a:t>
            </a:r>
          </a:p>
          <a:p>
            <a:pPr>
              <a:spcAft>
                <a:spcPts val="300"/>
              </a:spcAft>
            </a:pPr>
            <a:r>
              <a:rPr sz="1350" b="0" dirty="0">
                <a:solidFill>
                  <a:srgbClr val="FFFFFF"/>
                </a:solidFill>
                <a:latin typeface="Avantt TRIAL"/>
              </a:rPr>
              <a:t>• Checkout invoice type + RUC; delivery PIN for dispute closure.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4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4" id="{2A339A7A-944F-6643-AA14-B14628DB3669}" vid="{678B67D1-45DF-F84A-97FF-5A3FBCCD32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1146</Words>
  <Application>Microsoft Macintosh PowerPoint</Application>
  <PresentationFormat>Widescreen</PresentationFormat>
  <Paragraphs>75</Paragraphs>
  <Slides>6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Aptos</vt:lpstr>
      <vt:lpstr>Arial</vt:lpstr>
      <vt:lpstr>Arial Black</vt:lpstr>
      <vt:lpstr>Avantt TRIAL</vt:lpstr>
      <vt:lpstr>Avantt TRIAL ExtraBold</vt:lpstr>
      <vt:lpstr>Tema4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PEDRO NICOTRA</dc:creator>
  <cp:lastModifiedBy>Damasceno, Vivian</cp:lastModifiedBy>
  <cp:revision>8</cp:revision>
  <dcterms:created xsi:type="dcterms:W3CDTF">2025-09-01T22:18:54Z</dcterms:created>
  <dcterms:modified xsi:type="dcterms:W3CDTF">2026-09-11T14:30:48Z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2025-09-02T03:58:10Z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8d5afb12-6287-4686-a515-b929b02cbe92</vt:lpwstr>
  </property>
  <property fmtid="{D5CDD505-2E9C-101B-9397-08002B2CF9AE}" pid="8" name="MSIP_Label_68104b14-b53d-46de-9ae8-975cc0e84815_ContentBits">
    <vt:lpwstr>0</vt:lpwstr>
  </property>
  <property fmtid="{D5CDD505-2E9C-101B-9397-08002B2CF9AE}" pid="9" name="MSIP_Label_68104b14-b53d-46de-9ae8-975cc0e84815_Tag">
    <vt:lpwstr>50, 3, 0, 1</vt:lpwstr>
  </property>
</Properties>
</file>