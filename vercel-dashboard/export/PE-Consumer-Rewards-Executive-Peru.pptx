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CB06395-1459-553A-5846-593BFF4C73B9}" name="Augustini, Thiago" initials="AT" userId="S::thiago.augustini@ab-inbev.com::26794922-3cfa-4272-893c-e928d2a4b4e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C41FF"/>
    <a:srgbClr val="B3872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70"/>
  </p:normalViewPr>
  <p:slideViewPr>
    <p:cSldViewPr snapToGrid="0">
      <p:cViewPr varScale="1">
        <p:scale>
          <a:sx n="109" d="100"/>
          <a:sy n="109" d="100"/>
        </p:scale>
        <p:origin x="87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8/10/relationships/authors" Target="author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FEF3B2-4943-E844-A197-EBB1C7FA647C}" type="datetimeFigureOut">
              <a:rPr lang="es-MX" smtClean="0"/>
              <a:t>11/09/26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67B24D-D098-F343-B3CF-132B92296E4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835680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negr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D29495-84F3-1A52-EC4F-A4C0A2C8A52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2096428"/>
            <a:ext cx="9144000" cy="945183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3600">
                <a:solidFill>
                  <a:srgbClr val="B3872C"/>
                </a:solidFill>
              </a:defRPr>
            </a:lvl1pPr>
          </a:lstStyle>
          <a:p>
            <a:r>
              <a:rPr lang="es-MX"/>
              <a:t>Título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2CC28F3-FDA0-89EB-A887-EEDB6B3292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133687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03243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blanc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BF6A38-2B40-9BFB-3A97-CA2491B6E5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4912" y="417028"/>
            <a:ext cx="7904356" cy="66278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B3872C"/>
                </a:solidFill>
              </a:defRPr>
            </a:lvl1pPr>
          </a:lstStyle>
          <a:p>
            <a:r>
              <a:rPr lang="es-MX"/>
              <a:t>Título</a:t>
            </a:r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08892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lide blanc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BF6A38-2B40-9BFB-3A97-CA2491B6E5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4912" y="417028"/>
            <a:ext cx="7904356" cy="66278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B3872C"/>
                </a:solidFill>
              </a:defRPr>
            </a:lvl1pPr>
          </a:lstStyle>
          <a:p>
            <a:r>
              <a:rPr lang="es-MX"/>
              <a:t>Título</a:t>
            </a:r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694083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parador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C616E0-9F67-9C74-0056-B752297A4C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20928" y="3134936"/>
            <a:ext cx="4714103" cy="588127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solidFill>
                  <a:srgbClr val="B3872C"/>
                </a:solidFill>
              </a:defRPr>
            </a:lvl1pPr>
          </a:lstStyle>
          <a:p>
            <a:r>
              <a:rPr lang="es-MX"/>
              <a:t>Título</a:t>
            </a:r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035022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parador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15F9CD-56D6-CCF3-B304-1CFAC17863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3007004"/>
            <a:ext cx="4662788" cy="843991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600">
                <a:solidFill>
                  <a:srgbClr val="B3872C"/>
                </a:solidFill>
              </a:defRPr>
            </a:lvl1pPr>
          </a:lstStyle>
          <a:p>
            <a:r>
              <a:rPr lang="es-MX"/>
              <a:t>Título</a:t>
            </a:r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881505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parador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AB208F-DA3B-3083-1FDD-37A1BFFE76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43184" y="5076518"/>
            <a:ext cx="3688209" cy="7837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solidFill>
                  <a:srgbClr val="B3872C"/>
                </a:solidFill>
              </a:defRPr>
            </a:lvl1pPr>
          </a:lstStyle>
          <a:p>
            <a:r>
              <a:rPr lang="es-MX"/>
              <a:t>Título</a:t>
            </a:r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135476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parador 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455A23-97C1-2FB1-B2A6-F0C0B4462E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58696" y="2766218"/>
            <a:ext cx="4911811" cy="1325563"/>
          </a:xfrm>
        </p:spPr>
        <p:txBody>
          <a:bodyPr>
            <a:normAutofit/>
          </a:bodyPr>
          <a:lstStyle>
            <a:lvl1pPr>
              <a:defRPr sz="3600">
                <a:solidFill>
                  <a:srgbClr val="B3872C"/>
                </a:solidFill>
              </a:defRPr>
            </a:lvl1pPr>
          </a:lstStyle>
          <a:p>
            <a:r>
              <a:rPr lang="es-MX"/>
              <a:t>Título</a:t>
            </a:r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800341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368CD8E4-7641-499E-B615-A304DB88DFA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002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accel="50000" decel="5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animScale>
                                      <p:cBhvr>
                                        <p:cTn id="6" dur="3500" fill="hold"/>
                                        <p:tgtEl>
                                          <p:spTgt spid="8"/>
                                        </p:tgtEl>
                                      </p:cBhvr>
                                      <p:by x="120000" y="120000"/>
                                    </p:animScale>
                                  </p:childTnLst>
                                </p:cTn>
                              </p:par>
                              <p:par>
                                <p:cTn id="7" presetID="6" presetClass="emph" presetSubtype="0" accel="50000" decel="50000" fill="hold" grpId="1" nodeType="withEffect" nodePh="1">
                                  <p:stCondLst>
                                    <p:cond delay="3500"/>
                                  </p:stCondLst>
                                  <p:endCondLst>
                                    <p:cond evt="begin" delay="0">
                                      <p:tn val="7"/>
                                    </p:cond>
                                  </p:endCondLst>
                                  <p:childTnLst>
                                    <p:animScale>
                                      <p:cBhvr>
                                        <p:cTn id="8" dur="3500" fill="hold"/>
                                        <p:tgtEl>
                                          <p:spTgt spid="8"/>
                                        </p:tgtEl>
                                      </p:cBhvr>
                                      <p:by x="90000" y="9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8" grpId="1"/>
    </p:bld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7967C-564F-40EC-10E1-33C44D52BC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7CC0BC-9942-DFB8-5988-AB03219B02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57029F-8968-E6A0-62EB-2E43246394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99AF2-A2F7-6C46-8EDA-1BACC4C5DD05}" type="datetimeFigureOut">
              <a:rPr lang="en-BR" smtClean="0"/>
              <a:t>9/11/26</a:t>
            </a:fld>
            <a:endParaRPr lang="en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B4C319-D0C9-EE79-78F5-940E7CCF8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CB77BE-8AB9-0DEB-6B5A-F125C54DD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B40590-676C-8A45-A083-4C3D80752CE0}" type="slidenum">
              <a:rPr lang="en-BR" smtClean="0"/>
              <a:t>‹nº›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388897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930748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ags" Target="../tags/tag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C09BC12C-5CF1-E931-E195-E1366248632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2"/>
            </p:custDataLst>
            <p:extLst>
              <p:ext uri="{D42A27DB-BD31-4B8C-83A1-F6EECF244321}">
                <p14:modId xmlns:p14="http://schemas.microsoft.com/office/powerpoint/2010/main" val="126385524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4" imgW="7772400" imgH="10058400" progId="TCLayout.ActiveDocument.1">
                  <p:embed/>
                </p:oleObj>
              </mc:Choice>
              <mc:Fallback>
                <p:oleObj name="think-cell Slide" r:id="rId14" imgW="7772400" imgH="10058400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09BC12C-5CF1-E931-E195-E1366248632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Marcador de título 6">
            <a:extLst>
              <a:ext uri="{FF2B5EF4-FFF2-40B4-BE49-F238E27FC236}">
                <a16:creationId xmlns:a16="http://schemas.microsoft.com/office/drawing/2014/main" id="{32B34AB6-479A-2F29-AA2F-7A6068A002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1811" y="2766218"/>
            <a:ext cx="4911811" cy="1325563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Título</a:t>
            </a:r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257636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rgbClr val="B3872C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44652" y="612648"/>
            <a:ext cx="1051560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9C41FF"/>
                </a:solidFill>
                <a:latin typeface="Avantt TRIAL ExtraBold"/>
              </a:rPr>
              <a:t>PERU</a:t>
            </a:r>
          </a:p>
          <a:p>
            <a:r>
              <a:rPr sz="4400" b="1">
                <a:solidFill>
                  <a:srgbClr val="9C41FF"/>
                </a:solidFill>
                <a:latin typeface="Avantt TRIAL ExtraBold"/>
              </a:rPr>
              <a:t>CONSUMER &amp; REWARDS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4652" y="2360652"/>
            <a:ext cx="1083564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 dirty="0">
                <a:solidFill>
                  <a:srgbClr val="FFFFFF"/>
                </a:solidFill>
                <a:latin typeface="Avantt TRIAL"/>
              </a:rPr>
              <a:t>Executive learnings for Product — Growth &amp; loyalty tracks only.</a:t>
            </a:r>
          </a:p>
          <a:p>
            <a:pPr>
              <a:spcAft>
                <a:spcPts val="500"/>
              </a:spcAft>
            </a:pPr>
            <a:endParaRPr sz="1500" b="0" dirty="0">
              <a:solidFill>
                <a:srgbClr val="FFFFFF"/>
              </a:solidFill>
              <a:latin typeface="Avantt TRIAL"/>
            </a:endParaRPr>
          </a:p>
          <a:p>
            <a:pPr>
              <a:spcAft>
                <a:spcPts val="500"/>
              </a:spcAft>
            </a:pPr>
            <a:r>
              <a:rPr sz="1500" b="0" dirty="0">
                <a:solidFill>
                  <a:srgbClr val="FFFFFF"/>
                </a:solidFill>
                <a:latin typeface="Avantt TRIAL"/>
              </a:rPr>
              <a:t>Sources: Aug 31 context + store visits · Sep 2 workshop · Sep 3 Consumer vision · Club </a:t>
            </a:r>
            <a:r>
              <a:rPr sz="1500" b="0" dirty="0" err="1">
                <a:solidFill>
                  <a:srgbClr val="FFFFFF"/>
                </a:solidFill>
                <a:latin typeface="Avantt TRIAL"/>
              </a:rPr>
              <a:t>TaDa</a:t>
            </a:r>
            <a:r>
              <a:rPr sz="1500" b="0" dirty="0">
                <a:solidFill>
                  <a:srgbClr val="FFFFFF"/>
                </a:solidFill>
                <a:latin typeface="Avantt TRIAL"/>
              </a:rPr>
              <a:t> launch week.</a:t>
            </a:r>
          </a:p>
          <a:p>
            <a:pPr>
              <a:spcAft>
                <a:spcPts val="500"/>
              </a:spcAft>
            </a:pPr>
            <a:endParaRPr sz="1500" b="0" dirty="0">
              <a:solidFill>
                <a:srgbClr val="FFFFFF"/>
              </a:solidFill>
              <a:latin typeface="Avantt TRIAL"/>
            </a:endParaRPr>
          </a:p>
          <a:p>
            <a:pPr>
              <a:spcAft>
                <a:spcPts val="500"/>
              </a:spcAft>
            </a:pPr>
            <a:r>
              <a:rPr sz="1500" b="0" dirty="0">
                <a:solidFill>
                  <a:srgbClr val="FFFFFF"/>
                </a:solidFill>
                <a:latin typeface="Avantt TRIAL"/>
              </a:rPr>
              <a:t>Scope: not Service Level (Seller/Courier/Admin/CX) — see companion deck.</a:t>
            </a:r>
          </a:p>
          <a:p>
            <a:pPr>
              <a:spcAft>
                <a:spcPts val="500"/>
              </a:spcAft>
            </a:pPr>
            <a:r>
              <a:rPr sz="1500" b="0" dirty="0">
                <a:solidFill>
                  <a:srgbClr val="FFFFFF"/>
                </a:solidFill>
                <a:latin typeface="Avantt TRIAL"/>
              </a:rPr>
              <a:t>Headline: reliability and data foundations before scale — map, MMP/Braze, wallet UX, then tiers/omnichannel.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44652" y="612648"/>
            <a:ext cx="4230645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 dirty="0">
                <a:solidFill>
                  <a:srgbClr val="9C41FF"/>
                </a:solidFill>
                <a:latin typeface="Avantt TRIAL ExtraBold"/>
              </a:rPr>
              <a:t>FIELD</a:t>
            </a:r>
            <a:r>
              <a:rPr lang="pt-BR" sz="4400" b="1" dirty="0">
                <a:solidFill>
                  <a:srgbClr val="9C41FF"/>
                </a:solidFill>
                <a:latin typeface="Avantt TRIAL ExtraBold"/>
              </a:rPr>
              <a:t> </a:t>
            </a:r>
            <a:r>
              <a:rPr sz="4400" b="1" dirty="0">
                <a:solidFill>
                  <a:srgbClr val="9C41FF"/>
                </a:solidFill>
                <a:latin typeface="Avantt TRIAL ExtraBold"/>
              </a:rPr>
              <a:t>MEETINGS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4652" y="1382089"/>
            <a:ext cx="1083564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400" b="1" dirty="0">
                <a:solidFill>
                  <a:srgbClr val="9C41FF"/>
                </a:solidFill>
                <a:latin typeface="Avantt TRIAL ExtraBold"/>
              </a:rPr>
              <a:t>Aug 31 · Context meeting (Lima office)</a:t>
            </a:r>
          </a:p>
          <a:p>
            <a:pPr>
              <a:spcAft>
                <a:spcPts val="300"/>
              </a:spcAft>
            </a:pPr>
            <a:r>
              <a:rPr sz="1150" b="0" dirty="0">
                <a:solidFill>
                  <a:srgbClr val="FFFFFF"/>
                </a:solidFill>
                <a:latin typeface="Avantt TRIAL"/>
              </a:rPr>
              <a:t>• Peru Growth/Commercial (Ulises, Eloy, Alex, acquisition &amp; retention leads) + visiting product — same morning as POC visits.</a:t>
            </a:r>
          </a:p>
          <a:p>
            <a:pPr>
              <a:spcAft>
                <a:spcPts val="300"/>
              </a:spcAft>
            </a:pPr>
            <a:r>
              <a:rPr sz="1150" b="0" dirty="0">
                <a:solidFill>
                  <a:srgbClr val="FFFFFF"/>
                </a:solidFill>
                <a:latin typeface="Avantt TRIAL"/>
              </a:rPr>
              <a:t>• Growth engine: 102k new customers target; healthy acquisition (no new-user coupon); TikTok ~40% of paid, Meta ~30%; homemade creative in Lima.</a:t>
            </a:r>
          </a:p>
          <a:p>
            <a:pPr>
              <a:spcAft>
                <a:spcPts val="300"/>
              </a:spcAft>
            </a:pPr>
            <a:r>
              <a:rPr sz="1150" b="0" dirty="0">
                <a:solidFill>
                  <a:srgbClr val="FFFFFF"/>
                </a:solidFill>
                <a:latin typeface="Avantt TRIAL"/>
              </a:rPr>
              <a:t>• Retention gap: RGB M1→M2 31.3% vs Marketplace-only 20.7%; only 27 of 100 new users buy </a:t>
            </a:r>
            <a:r>
              <a:rPr sz="1150" b="0" dirty="0" err="1">
                <a:solidFill>
                  <a:srgbClr val="FFFFFF"/>
                </a:solidFill>
                <a:latin typeface="Avantt TRIAL"/>
              </a:rPr>
              <a:t>returnables</a:t>
            </a:r>
            <a:r>
              <a:rPr sz="1150" b="0" dirty="0">
                <a:solidFill>
                  <a:srgbClr val="FFFFFF"/>
                </a:solidFill>
                <a:latin typeface="Avantt TRIAL"/>
              </a:rPr>
              <a:t> — education + price, not awareness alone.</a:t>
            </a:r>
          </a:p>
          <a:p>
            <a:pPr>
              <a:spcAft>
                <a:spcPts val="300"/>
              </a:spcAft>
            </a:pPr>
            <a:r>
              <a:rPr sz="1150" b="0" dirty="0">
                <a:solidFill>
                  <a:srgbClr val="FFFFFF"/>
                </a:solidFill>
                <a:latin typeface="Avantt TRIAL"/>
              </a:rPr>
              <a:t>• Club </a:t>
            </a:r>
            <a:r>
              <a:rPr sz="1150" b="0" dirty="0" err="1">
                <a:solidFill>
                  <a:srgbClr val="FFFFFF"/>
                </a:solidFill>
                <a:latin typeface="Avantt TRIAL"/>
              </a:rPr>
              <a:t>TaDa</a:t>
            </a:r>
            <a:r>
              <a:rPr sz="1150" b="0" dirty="0">
                <a:solidFill>
                  <a:srgbClr val="FFFFFF"/>
                </a:solidFill>
                <a:latin typeface="Avantt TRIAL"/>
              </a:rPr>
              <a:t> launch that week — points ladder (~2% effective), 10% Loyalty Rate year target; short term coupons, mid term Backus experiences (football, concerts).</a:t>
            </a:r>
          </a:p>
          <a:p>
            <a:pPr>
              <a:spcAft>
                <a:spcPts val="300"/>
              </a:spcAft>
            </a:pPr>
            <a:r>
              <a:rPr sz="1150" b="0" dirty="0">
                <a:solidFill>
                  <a:srgbClr val="FFFFFF"/>
                </a:solidFill>
                <a:latin typeface="Avantt TRIAL"/>
              </a:rPr>
              <a:t>• Awareness Kantar: </a:t>
            </a:r>
            <a:r>
              <a:rPr sz="1150" b="0" dirty="0" err="1">
                <a:solidFill>
                  <a:srgbClr val="FFFFFF"/>
                </a:solidFill>
                <a:latin typeface="Avantt TRIAL"/>
              </a:rPr>
              <a:t>TaDa</a:t>
            </a:r>
            <a:r>
              <a:rPr sz="1150" b="0" dirty="0">
                <a:solidFill>
                  <a:srgbClr val="FFFFFF"/>
                </a:solidFill>
                <a:latin typeface="Avantt TRIAL"/>
              </a:rPr>
              <a:t> 9% vs </a:t>
            </a:r>
            <a:r>
              <a:rPr sz="1150" b="0" dirty="0" err="1">
                <a:solidFill>
                  <a:srgbClr val="FFFFFF"/>
                </a:solidFill>
                <a:latin typeface="Avantt TRIAL"/>
              </a:rPr>
              <a:t>Rappi</a:t>
            </a:r>
            <a:r>
              <a:rPr sz="1150" b="0" dirty="0">
                <a:solidFill>
                  <a:srgbClr val="FFFFFF"/>
                </a:solidFill>
                <a:latin typeface="Avantt TRIAL"/>
              </a:rPr>
              <a:t> 41% / </a:t>
            </a:r>
            <a:r>
              <a:rPr sz="1150" b="0" dirty="0" err="1">
                <a:solidFill>
                  <a:srgbClr val="FFFFFF"/>
                </a:solidFill>
                <a:latin typeface="Avantt TRIAL"/>
              </a:rPr>
              <a:t>PedidosYa</a:t>
            </a:r>
            <a:r>
              <a:rPr sz="1150" b="0" dirty="0">
                <a:solidFill>
                  <a:srgbClr val="FFFFFF"/>
                </a:solidFill>
                <a:latin typeface="Avantt TRIAL"/>
              </a:rPr>
              <a:t> 37%; moats = </a:t>
            </a:r>
            <a:r>
              <a:rPr sz="1150" b="0" dirty="0" err="1">
                <a:solidFill>
                  <a:srgbClr val="FFFFFF"/>
                </a:solidFill>
                <a:latin typeface="Avantt TRIAL"/>
              </a:rPr>
              <a:t>returnables</a:t>
            </a:r>
            <a:r>
              <a:rPr sz="1150" b="0" dirty="0">
                <a:solidFill>
                  <a:srgbClr val="FFFFFF"/>
                </a:solidFill>
                <a:latin typeface="Avantt TRIAL"/>
              </a:rPr>
              <a:t> + cold drinks vs aggregators.</a:t>
            </a:r>
          </a:p>
          <a:p>
            <a:pPr>
              <a:spcAft>
                <a:spcPts val="300"/>
              </a:spcAft>
            </a:pPr>
            <a:r>
              <a:rPr sz="1150" b="0" dirty="0">
                <a:solidFill>
                  <a:srgbClr val="FFFFFF"/>
                </a:solidFill>
                <a:latin typeface="Avantt TRIAL"/>
              </a:rPr>
              <a:t>• Portfolio: monetary coupons steered 100% to beer so Marketplace + Take Rate does not go negative for POCs; brand pages ready locally but create-in-admin still engineering-only.</a:t>
            </a:r>
          </a:p>
          <a:p>
            <a:pPr>
              <a:spcAft>
                <a:spcPts val="300"/>
              </a:spcAft>
            </a:pPr>
            <a:r>
              <a:rPr sz="1150" b="0" dirty="0">
                <a:solidFill>
                  <a:srgbClr val="FFFFFF"/>
                </a:solidFill>
                <a:latin typeface="Avantt TRIAL"/>
              </a:rPr>
              <a:t>• Product levers on table: copy Brazil location UX (config); checkout address-review modal just launched; ZD Libri + Consumer Room for quant/qual research.</a:t>
            </a:r>
          </a:p>
          <a:p>
            <a:pPr>
              <a:spcBef>
                <a:spcPts val="800"/>
              </a:spcBef>
            </a:pPr>
            <a:r>
              <a:rPr sz="1400" b="1" dirty="0">
                <a:solidFill>
                  <a:srgbClr val="9C41FF"/>
                </a:solidFill>
                <a:latin typeface="Avantt TRIAL ExtraBold"/>
              </a:rPr>
              <a:t>Aug 31 · Store visits — La Marina, Merino, San Pedro</a:t>
            </a:r>
          </a:p>
          <a:p>
            <a:pPr>
              <a:spcAft>
                <a:spcPts val="300"/>
              </a:spcAft>
            </a:pPr>
            <a:r>
              <a:rPr sz="1150" b="0" dirty="0">
                <a:solidFill>
                  <a:srgbClr val="FFFFFF"/>
                </a:solidFill>
                <a:latin typeface="Avantt TRIAL"/>
              </a:rPr>
              <a:t>• 3/3 POCs: consumer map pin stuck (WhatsApp is real-time layer) — same theme as workshop #1 and Sep 3 P1.</a:t>
            </a:r>
          </a:p>
          <a:p>
            <a:pPr>
              <a:spcAft>
                <a:spcPts val="300"/>
              </a:spcAft>
            </a:pPr>
            <a:r>
              <a:rPr sz="1150" b="0" dirty="0">
                <a:solidFill>
                  <a:srgbClr val="FFFFFF"/>
                </a:solidFill>
                <a:latin typeface="Avantt TRIAL"/>
              </a:rPr>
              <a:t>• Search misses brand/format; deposit-bottle (“</a:t>
            </a:r>
            <a:r>
              <a:rPr sz="1150" b="0" dirty="0" err="1">
                <a:solidFill>
                  <a:srgbClr val="FFFFFF"/>
                </a:solidFill>
                <a:latin typeface="Avantt TRIAL"/>
              </a:rPr>
              <a:t>tengo</a:t>
            </a:r>
            <a:r>
              <a:rPr sz="1150" b="0" dirty="0">
                <a:solidFill>
                  <a:srgbClr val="FFFFFF"/>
                </a:solidFill>
                <a:latin typeface="Avantt TRIAL"/>
              </a:rPr>
              <a:t>/no </a:t>
            </a:r>
            <a:r>
              <a:rPr sz="1150" b="0" dirty="0" err="1">
                <a:solidFill>
                  <a:srgbClr val="FFFFFF"/>
                </a:solidFill>
                <a:latin typeface="Avantt TRIAL"/>
              </a:rPr>
              <a:t>tengo</a:t>
            </a:r>
            <a:r>
              <a:rPr sz="1150" b="0" dirty="0">
                <a:solidFill>
                  <a:srgbClr val="FFFFFF"/>
                </a:solidFill>
                <a:latin typeface="Avantt TRIAL"/>
              </a:rPr>
              <a:t>”) disputes; clients cancel repeatedly to route to preferred POC (store name visible).</a:t>
            </a:r>
          </a:p>
          <a:p>
            <a:pPr>
              <a:spcAft>
                <a:spcPts val="300"/>
              </a:spcAft>
            </a:pPr>
            <a:r>
              <a:rPr sz="1150" b="0" dirty="0">
                <a:solidFill>
                  <a:srgbClr val="FFFFFF"/>
                </a:solidFill>
                <a:latin typeface="Avantt TRIAL"/>
              </a:rPr>
              <a:t>• Consumer promo in app without BIS alert — stores cannot pre-stock for campaigns; hurts fill rate and campaign ROI.</a:t>
            </a:r>
          </a:p>
          <a:p>
            <a:pPr>
              <a:spcBef>
                <a:spcPts val="800"/>
              </a:spcBef>
            </a:pPr>
            <a:r>
              <a:rPr sz="1400" b="1" dirty="0">
                <a:solidFill>
                  <a:srgbClr val="9C41FF"/>
                </a:solidFill>
                <a:latin typeface="Avantt TRIAL ExtraBold"/>
              </a:rPr>
              <a:t>Sep 2 · Growth workshop (</a:t>
            </a:r>
            <a:r>
              <a:rPr sz="1400" b="1" dirty="0" err="1">
                <a:solidFill>
                  <a:srgbClr val="9C41FF"/>
                </a:solidFill>
                <a:latin typeface="Avantt TRIAL ExtraBold"/>
              </a:rPr>
              <a:t>BeerHub</a:t>
            </a:r>
            <a:r>
              <a:rPr sz="1400" b="1" dirty="0">
                <a:solidFill>
                  <a:srgbClr val="9C41FF"/>
                </a:solidFill>
                <a:latin typeface="Avantt TRIAL ExtraBold"/>
              </a:rPr>
              <a:t>) — summary</a:t>
            </a:r>
          </a:p>
          <a:p>
            <a:pPr>
              <a:spcAft>
                <a:spcPts val="300"/>
              </a:spcAft>
            </a:pPr>
            <a:r>
              <a:rPr sz="1150" b="0" dirty="0">
                <a:solidFill>
                  <a:srgbClr val="FFFFFF"/>
                </a:solidFill>
                <a:latin typeface="Avantt TRIAL"/>
              </a:rPr>
              <a:t>• 3h One Year Plan 2027; Consumer + Rewards shared board, separate top-4 votes (detail + photos on next slide).</a:t>
            </a:r>
          </a:p>
          <a:p>
            <a:pPr>
              <a:spcAft>
                <a:spcPts val="300"/>
              </a:spcAft>
            </a:pPr>
            <a:r>
              <a:rPr sz="1150" b="0" dirty="0">
                <a:solidFill>
                  <a:srgbClr val="FFFFFF"/>
                </a:solidFill>
                <a:latin typeface="Avantt TRIAL"/>
              </a:rPr>
              <a:t>• Consumer: map, MMP/data, payment gateways, wallet UX. Rewards: Braze enrichment, flash coupons, BEES admin, anti-fraud.</a:t>
            </a:r>
          </a:p>
          <a:p>
            <a:pPr>
              <a:spcAft>
                <a:spcPts val="300"/>
              </a:spcAft>
            </a:pPr>
            <a:r>
              <a:rPr sz="1150" b="0" dirty="0">
                <a:solidFill>
                  <a:srgbClr val="FFFFFF"/>
                </a:solidFill>
                <a:latin typeface="Avantt TRIAL"/>
              </a:rPr>
              <a:t>• Future vision + El </a:t>
            </a:r>
            <a:r>
              <a:rPr sz="1150" b="0" dirty="0" err="1">
                <a:solidFill>
                  <a:srgbClr val="FFFFFF"/>
                </a:solidFill>
                <a:latin typeface="Avantt TRIAL"/>
              </a:rPr>
              <a:t>Momento</a:t>
            </a:r>
            <a:r>
              <a:rPr sz="1150" b="0" dirty="0">
                <a:solidFill>
                  <a:srgbClr val="FFFFFF"/>
                </a:solidFill>
                <a:latin typeface="Avantt TRIAL"/>
              </a:rPr>
              <a:t> </a:t>
            </a:r>
            <a:r>
              <a:rPr sz="1150" b="0" dirty="0" err="1">
                <a:solidFill>
                  <a:srgbClr val="FFFFFF"/>
                </a:solidFill>
                <a:latin typeface="Avantt TRIAL"/>
              </a:rPr>
              <a:t>Inesperado</a:t>
            </a:r>
            <a:r>
              <a:rPr sz="1150" b="0" dirty="0">
                <a:solidFill>
                  <a:srgbClr val="FFFFFF"/>
                </a:solidFill>
                <a:latin typeface="Avantt TRIAL"/>
              </a:rPr>
              <a:t> hospitality (kits, birthdays, first Club order).</a:t>
            </a:r>
          </a:p>
          <a:p>
            <a:pPr>
              <a:spcBef>
                <a:spcPts val="800"/>
              </a:spcBef>
            </a:pPr>
            <a:r>
              <a:rPr sz="1400" b="1" dirty="0">
                <a:solidFill>
                  <a:srgbClr val="9C41FF"/>
                </a:solidFill>
                <a:latin typeface="Avantt TRIAL ExtraBold"/>
              </a:rPr>
              <a:t>Sep 3 · Consumer vision with Growth</a:t>
            </a:r>
          </a:p>
          <a:p>
            <a:pPr>
              <a:spcAft>
                <a:spcPts val="300"/>
              </a:spcAft>
            </a:pPr>
            <a:r>
              <a:rPr sz="1150" b="0" dirty="0">
                <a:solidFill>
                  <a:srgbClr val="FFFFFF"/>
                </a:solidFill>
                <a:latin typeface="Avantt TRIAL"/>
              </a:rPr>
              <a:t>• Victoria’s squad walked 12+ 2026 features (</a:t>
            </a:r>
            <a:r>
              <a:rPr sz="1150" b="0" dirty="0" err="1">
                <a:solidFill>
                  <a:srgbClr val="FFFFFF"/>
                </a:solidFill>
                <a:latin typeface="Avantt TRIAL"/>
              </a:rPr>
              <a:t>multishowcases</a:t>
            </a:r>
            <a:r>
              <a:rPr sz="1150" b="0" dirty="0">
                <a:solidFill>
                  <a:srgbClr val="FFFFFF"/>
                </a:solidFill>
                <a:latin typeface="Avantt TRIAL"/>
              </a:rPr>
              <a:t>, Buy Again 61% conversion, address flow, Live Activities Sep 1, brand pages, Turbo pilot).</a:t>
            </a:r>
          </a:p>
          <a:p>
            <a:pPr>
              <a:spcAft>
                <a:spcPts val="300"/>
              </a:spcAft>
            </a:pPr>
            <a:r>
              <a:rPr sz="1150" b="0" dirty="0">
                <a:solidFill>
                  <a:srgbClr val="FFFFFF"/>
                </a:solidFill>
                <a:latin typeface="Avantt TRIAL"/>
              </a:rPr>
              <a:t>• Eloy’s team listed 18 prioritized pains — 6 P1 consumer-centric (RGB education, map, partial order/stock, CX bot, search, wrong address / no-answer).</a:t>
            </a:r>
          </a:p>
          <a:p>
            <a:pPr>
              <a:spcAft>
                <a:spcPts val="300"/>
              </a:spcAft>
            </a:pPr>
            <a:r>
              <a:rPr sz="1150" b="0" dirty="0">
                <a:solidFill>
                  <a:srgbClr val="FFFFFF"/>
                </a:solidFill>
                <a:latin typeface="Avantt TRIAL"/>
              </a:rPr>
              <a:t>• Explicit bridges to Rewards: coupon wallet lifecycle (P2), Club </a:t>
            </a:r>
            <a:r>
              <a:rPr sz="1150" b="0" dirty="0" err="1">
                <a:solidFill>
                  <a:srgbClr val="FFFFFF"/>
                </a:solidFill>
                <a:latin typeface="Avantt TRIAL"/>
              </a:rPr>
              <a:t>TaDa</a:t>
            </a:r>
            <a:r>
              <a:rPr sz="1150" b="0" dirty="0">
                <a:solidFill>
                  <a:srgbClr val="FFFFFF"/>
                </a:solidFill>
                <a:latin typeface="Avantt TRIAL"/>
              </a:rPr>
              <a:t> ordering in admin, Braze cache (kill app), Fish Promo personalization (+6% GMV MX reference).</a:t>
            </a:r>
          </a:p>
          <a:p>
            <a:pPr>
              <a:spcAft>
                <a:spcPts val="300"/>
              </a:spcAft>
            </a:pPr>
            <a:r>
              <a:rPr sz="1150" b="0" dirty="0">
                <a:solidFill>
                  <a:srgbClr val="FFFFFF"/>
                </a:solidFill>
                <a:latin typeface="Avantt TRIAL"/>
              </a:rPr>
              <a:t>• Next steps captured: feature prioritization for Peru (not all at once), Braze event audit with Bruno, lifecycle deck for Club migration, </a:t>
            </a:r>
            <a:r>
              <a:rPr sz="1150" b="0" dirty="0" err="1">
                <a:solidFill>
                  <a:srgbClr val="FFFFFF"/>
                </a:solidFill>
                <a:latin typeface="Avantt TRIAL"/>
              </a:rPr>
              <a:t>returnables</a:t>
            </a:r>
            <a:r>
              <a:rPr sz="1150" b="0" dirty="0">
                <a:solidFill>
                  <a:srgbClr val="FFFFFF"/>
                </a:solidFill>
                <a:latin typeface="Avantt TRIAL"/>
              </a:rPr>
              <a:t> brand page for next campaign.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44652" y="612648"/>
            <a:ext cx="1051560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9C41FF"/>
                </a:solidFill>
                <a:latin typeface="Avantt TRIAL ExtraBold"/>
              </a:rPr>
              <a:t>GROWTH</a:t>
            </a:r>
          </a:p>
          <a:p>
            <a:r>
              <a:rPr sz="4400" b="1">
                <a:solidFill>
                  <a:srgbClr val="9C41FF"/>
                </a:solidFill>
                <a:latin typeface="Avantt TRIAL ExtraBold"/>
              </a:rPr>
              <a:t>WORKSHOP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8660" y="2097257"/>
            <a:ext cx="5074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600" b="1" dirty="0">
                <a:solidFill>
                  <a:srgbClr val="9C41FF"/>
                </a:solidFill>
                <a:latin typeface="Avantt TRIAL ExtraBold"/>
              </a:rPr>
              <a:t>How it ran</a:t>
            </a:r>
          </a:p>
          <a:p>
            <a:pPr>
              <a:spcAft>
                <a:spcPts val="300"/>
              </a:spcAft>
            </a:pPr>
            <a:r>
              <a:rPr sz="1300" b="0" dirty="0">
                <a:solidFill>
                  <a:srgbClr val="FFFFFF"/>
                </a:solidFill>
                <a:latin typeface="Avantt TRIAL"/>
              </a:rPr>
              <a:t>• Same day as OPS workshop — 3h One Year Plan 2027 with Product visit (Brazil/Mexico).</a:t>
            </a:r>
          </a:p>
          <a:p>
            <a:pPr>
              <a:spcAft>
                <a:spcPts val="300"/>
              </a:spcAft>
            </a:pPr>
            <a:r>
              <a:rPr sz="1300" b="0" dirty="0">
                <a:solidFill>
                  <a:srgbClr val="FFFFFF"/>
                </a:solidFill>
                <a:latin typeface="Avantt TRIAL"/>
              </a:rPr>
              <a:t>• Consumer and Rewards ideated on a shared board; each track presented priorities and voted top 4.</a:t>
            </a:r>
          </a:p>
          <a:p>
            <a:pPr>
              <a:spcAft>
                <a:spcPts val="300"/>
              </a:spcAft>
            </a:pPr>
            <a:r>
              <a:rPr sz="1300" b="0" dirty="0">
                <a:solidFill>
                  <a:srgbClr val="FFFFFF"/>
                </a:solidFill>
                <a:latin typeface="Avantt TRIAL"/>
              </a:rPr>
              <a:t>• Part 2: future vision (personalization, omnichannel loyalty, football occasion, social commerce).</a:t>
            </a:r>
          </a:p>
          <a:p>
            <a:pPr>
              <a:spcAft>
                <a:spcPts val="300"/>
              </a:spcAft>
            </a:pPr>
            <a:r>
              <a:rPr sz="1300" b="0" dirty="0">
                <a:solidFill>
                  <a:srgbClr val="FFFFFF"/>
                </a:solidFill>
                <a:latin typeface="Avantt TRIAL"/>
              </a:rPr>
              <a:t>• Closing: El </a:t>
            </a:r>
            <a:r>
              <a:rPr sz="1300" b="0" dirty="0" err="1">
                <a:solidFill>
                  <a:srgbClr val="FFFFFF"/>
                </a:solidFill>
                <a:latin typeface="Avantt TRIAL"/>
              </a:rPr>
              <a:t>Momento</a:t>
            </a:r>
            <a:r>
              <a:rPr sz="1300" b="0" dirty="0">
                <a:solidFill>
                  <a:srgbClr val="FFFFFF"/>
                </a:solidFill>
                <a:latin typeface="Avantt TRIAL"/>
              </a:rPr>
              <a:t> </a:t>
            </a:r>
            <a:r>
              <a:rPr sz="1300" b="0" dirty="0" err="1">
                <a:solidFill>
                  <a:srgbClr val="FFFFFF"/>
                </a:solidFill>
                <a:latin typeface="Avantt TRIAL"/>
              </a:rPr>
              <a:t>Inesperado</a:t>
            </a:r>
            <a:r>
              <a:rPr sz="1300" b="0" dirty="0">
                <a:solidFill>
                  <a:srgbClr val="FFFFFF"/>
                </a:solidFill>
                <a:latin typeface="Avantt TRIAL"/>
              </a:rPr>
              <a:t> — hospitality surprises (football kits, birthdays, Club first order).</a:t>
            </a:r>
          </a:p>
          <a:p>
            <a:pPr>
              <a:spcBef>
                <a:spcPts val="800"/>
              </a:spcBef>
            </a:pPr>
            <a:r>
              <a:rPr sz="1600" b="1" dirty="0">
                <a:solidFill>
                  <a:srgbClr val="9C41FF"/>
                </a:solidFill>
                <a:latin typeface="Avantt TRIAL ExtraBold"/>
              </a:rPr>
              <a:t>Peru context</a:t>
            </a:r>
          </a:p>
          <a:p>
            <a:pPr>
              <a:spcAft>
                <a:spcPts val="300"/>
              </a:spcAft>
            </a:pPr>
            <a:r>
              <a:rPr sz="1300" b="0" dirty="0">
                <a:solidFill>
                  <a:srgbClr val="FFFFFF"/>
                </a:solidFill>
                <a:latin typeface="Avantt TRIAL"/>
              </a:rPr>
              <a:t>• National awareness ~9% (Kantar) — growth and loyalty must earn trust, not only promos.</a:t>
            </a:r>
          </a:p>
          <a:p>
            <a:pPr>
              <a:spcAft>
                <a:spcPts val="300"/>
              </a:spcAft>
            </a:pPr>
            <a:r>
              <a:rPr sz="1300" b="0" dirty="0">
                <a:solidFill>
                  <a:srgbClr val="FFFFFF"/>
                </a:solidFill>
                <a:latin typeface="Avantt TRIAL"/>
              </a:rPr>
              <a:t>• Club </a:t>
            </a:r>
            <a:r>
              <a:rPr sz="1300" b="0" dirty="0" err="1">
                <a:solidFill>
                  <a:srgbClr val="FFFFFF"/>
                </a:solidFill>
                <a:latin typeface="Avantt TRIAL"/>
              </a:rPr>
              <a:t>TaDa</a:t>
            </a:r>
            <a:r>
              <a:rPr sz="1300" b="0" dirty="0">
                <a:solidFill>
                  <a:srgbClr val="FFFFFF"/>
                </a:solidFill>
                <a:latin typeface="Avantt TRIAL"/>
              </a:rPr>
              <a:t> launched during visit week; RGB ~44% of orders but low education on </a:t>
            </a:r>
            <a:r>
              <a:rPr sz="1300" b="0" dirty="0" err="1">
                <a:solidFill>
                  <a:srgbClr val="FFFFFF"/>
                </a:solidFill>
                <a:latin typeface="Avantt TRIAL"/>
              </a:rPr>
              <a:t>returnables</a:t>
            </a:r>
            <a:r>
              <a:rPr sz="1300" b="0" dirty="0">
                <a:solidFill>
                  <a:srgbClr val="FFFFFF"/>
                </a:solidFill>
                <a:latin typeface="Avantt TRIAL"/>
              </a:rPr>
              <a:t>.</a:t>
            </a:r>
          </a:p>
          <a:p>
            <a:pPr>
              <a:spcAft>
                <a:spcPts val="300"/>
              </a:spcAft>
            </a:pPr>
            <a:r>
              <a:rPr sz="1300" b="0" dirty="0">
                <a:solidFill>
                  <a:srgbClr val="FFFFFF"/>
                </a:solidFill>
                <a:latin typeface="Avantt TRIAL"/>
              </a:rPr>
              <a:t>• Consumer reliability gaps (map, address) overlap Service Level — same fixes unlock both.</a:t>
            </a:r>
          </a:p>
        </p:txBody>
      </p:sp>
      <p:pic>
        <p:nvPicPr>
          <p:cNvPr id="7" name="Picture 6" descr="Captura_de_Tela_2026-09-11_a_s_11.19.56-b826d917-f06b-43d3-b10f-a3a64ba277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868680"/>
            <a:ext cx="2880360" cy="3853455"/>
          </a:xfrm>
          <a:prstGeom prst="rect">
            <a:avLst/>
          </a:prstGeom>
        </p:spPr>
      </p:pic>
      <p:pic>
        <p:nvPicPr>
          <p:cNvPr id="8" name="Picture 7" descr="Captura_de_Tela_2026-09-11_a_s_11.20.00-8ebf02ca-6fa2-429a-99ad-541af8c8d2a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2520" y="868680"/>
            <a:ext cx="2880360" cy="38372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44652" y="612648"/>
            <a:ext cx="1051560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9C41FF"/>
                </a:solidFill>
                <a:latin typeface="Avantt TRIAL ExtraBold"/>
              </a:rPr>
              <a:t>CONSUMER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4652" y="1389888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CCCCCC"/>
                </a:solidFill>
                <a:latin typeface="Avantt TRIAL"/>
              </a:rPr>
              <a:t>Workshop Sep 2 + Vision Sep 3 · 18 Growth pains prioritized with commercial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4652" y="1847088"/>
            <a:ext cx="1083564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500" b="1" dirty="0">
                <a:solidFill>
                  <a:srgbClr val="9C41FF"/>
                </a:solidFill>
                <a:latin typeface="Avantt TRIAL ExtraBold"/>
              </a:rPr>
              <a:t>What we learned</a:t>
            </a:r>
          </a:p>
          <a:p>
            <a:pPr>
              <a:spcAft>
                <a:spcPts val="300"/>
              </a:spcAft>
            </a:pPr>
            <a:r>
              <a:rPr sz="1250" b="0" dirty="0">
                <a:solidFill>
                  <a:srgbClr val="FFFFFF"/>
                </a:solidFill>
                <a:latin typeface="Avantt TRIAL"/>
              </a:rPr>
              <a:t>• Live courier map is #1 ask — pin rarely moves; ETA reduced to ranges; overlaps seller map failure (3/3 stores).</a:t>
            </a:r>
          </a:p>
          <a:p>
            <a:pPr>
              <a:spcAft>
                <a:spcPts val="300"/>
              </a:spcAft>
            </a:pPr>
            <a:r>
              <a:rPr sz="1250" b="0" dirty="0">
                <a:solidFill>
                  <a:srgbClr val="FFFFFF"/>
                </a:solidFill>
                <a:latin typeface="Avantt TRIAL"/>
              </a:rPr>
              <a:t>• Data stack not homologated: </a:t>
            </a:r>
            <a:r>
              <a:rPr sz="1250" b="0" dirty="0" err="1">
                <a:solidFill>
                  <a:srgbClr val="FFFFFF"/>
                </a:solidFill>
                <a:latin typeface="Avantt TRIAL"/>
              </a:rPr>
              <a:t>AppsFlyer</a:t>
            </a:r>
            <a:r>
              <a:rPr sz="1250" b="0" dirty="0">
                <a:solidFill>
                  <a:srgbClr val="FFFFFF"/>
                </a:solidFill>
                <a:latin typeface="Avantt TRIAL"/>
              </a:rPr>
              <a:t>/Segment gaps block attribution, Braze triggers, and paid media optimization.</a:t>
            </a:r>
          </a:p>
          <a:p>
            <a:pPr>
              <a:spcAft>
                <a:spcPts val="300"/>
              </a:spcAft>
            </a:pPr>
            <a:r>
              <a:rPr sz="1250" b="0" dirty="0">
                <a:solidFill>
                  <a:srgbClr val="FFFFFF"/>
                </a:solidFill>
                <a:latin typeface="Avantt TRIAL"/>
              </a:rPr>
              <a:t>• Payments ~3% online — single gateway (</a:t>
            </a:r>
            <a:r>
              <a:rPr sz="1250" b="0" dirty="0" err="1">
                <a:solidFill>
                  <a:srgbClr val="FFFFFF"/>
                </a:solidFill>
                <a:latin typeface="Avantt TRIAL"/>
              </a:rPr>
              <a:t>Niubiz</a:t>
            </a:r>
            <a:r>
              <a:rPr sz="1250" b="0" dirty="0">
                <a:solidFill>
                  <a:srgbClr val="FFFFFF"/>
                </a:solidFill>
                <a:latin typeface="Avantt TRIAL"/>
              </a:rPr>
              <a:t>) blocks BIN/bank campaigns like Mercado Pago.</a:t>
            </a:r>
          </a:p>
          <a:p>
            <a:pPr>
              <a:spcAft>
                <a:spcPts val="300"/>
              </a:spcAft>
            </a:pPr>
            <a:r>
              <a:rPr sz="1250" b="0" dirty="0">
                <a:solidFill>
                  <a:srgbClr val="FFFFFF"/>
                </a:solidFill>
                <a:latin typeface="Avantt TRIAL"/>
              </a:rPr>
              <a:t>• </a:t>
            </a:r>
            <a:r>
              <a:rPr sz="1250" b="0" dirty="0" err="1">
                <a:solidFill>
                  <a:srgbClr val="FFFFFF"/>
                </a:solidFill>
                <a:latin typeface="Avantt TRIAL"/>
              </a:rPr>
              <a:t>Returnables</a:t>
            </a:r>
            <a:r>
              <a:rPr sz="1250" b="0" dirty="0">
                <a:solidFill>
                  <a:srgbClr val="FFFFFF"/>
                </a:solidFill>
                <a:latin typeface="Avantt TRIAL"/>
              </a:rPr>
              <a:t>/RGB (~44% orders): consumers don't understand exchange rules; inter-brand swap unclear.</a:t>
            </a:r>
          </a:p>
          <a:p>
            <a:pPr>
              <a:spcAft>
                <a:spcPts val="300"/>
              </a:spcAft>
            </a:pPr>
            <a:r>
              <a:rPr sz="1250" b="0" dirty="0">
                <a:solidFill>
                  <a:srgbClr val="FFFFFF"/>
                </a:solidFill>
                <a:latin typeface="Avantt TRIAL"/>
              </a:rPr>
              <a:t>• P1 gaps: search/discovery limits, CX bot not tropicalized (~45% deflection but stale AI), partial order blocked without seller stock quantity, consumer no-answer (#2 cancel driver), wrong address ~18%.</a:t>
            </a:r>
          </a:p>
          <a:p>
            <a:pPr>
              <a:spcAft>
                <a:spcPts val="300"/>
              </a:spcAft>
            </a:pPr>
            <a:r>
              <a:rPr sz="1250" b="0" dirty="0">
                <a:solidFill>
                  <a:srgbClr val="FFFFFF"/>
                </a:solidFill>
                <a:latin typeface="Avantt TRIAL"/>
              </a:rPr>
              <a:t>• Wallet/coupons: manual lifecycle clusters; Club </a:t>
            </a:r>
            <a:r>
              <a:rPr sz="1250" b="0" dirty="0" err="1">
                <a:solidFill>
                  <a:srgbClr val="FFFFFF"/>
                </a:solidFill>
                <a:latin typeface="Avantt TRIAL"/>
              </a:rPr>
              <a:t>TaDa</a:t>
            </a:r>
            <a:r>
              <a:rPr sz="1250" b="0" dirty="0">
                <a:solidFill>
                  <a:srgbClr val="FFFFFF"/>
                </a:solidFill>
                <a:latin typeface="Avantt TRIAL"/>
              </a:rPr>
              <a:t> ordering helps but flash UX and Braze cache (kill app) hurt campaigns.</a:t>
            </a:r>
          </a:p>
          <a:p>
            <a:pPr>
              <a:spcBef>
                <a:spcPts val="800"/>
              </a:spcBef>
            </a:pPr>
            <a:r>
              <a:rPr sz="1500" b="1" dirty="0">
                <a:solidFill>
                  <a:srgbClr val="9C41FF"/>
                </a:solidFill>
                <a:latin typeface="Avantt TRIAL ExtraBold"/>
              </a:rPr>
              <a:t>Workshop top 4 votes</a:t>
            </a:r>
          </a:p>
          <a:p>
            <a:pPr>
              <a:spcAft>
                <a:spcPts val="300"/>
              </a:spcAft>
            </a:pPr>
            <a:r>
              <a:rPr sz="1250" b="0" dirty="0">
                <a:solidFill>
                  <a:srgbClr val="FFFFFF"/>
                </a:solidFill>
                <a:latin typeface="Avantt TRIAL"/>
              </a:rPr>
              <a:t>• #1 Real-time courier tracking on map.</a:t>
            </a:r>
          </a:p>
          <a:p>
            <a:pPr>
              <a:spcAft>
                <a:spcPts val="300"/>
              </a:spcAft>
            </a:pPr>
            <a:r>
              <a:rPr sz="1250" b="0" dirty="0">
                <a:solidFill>
                  <a:srgbClr val="FFFFFF"/>
                </a:solidFill>
                <a:latin typeface="Avantt TRIAL"/>
              </a:rPr>
              <a:t>• #2 SDK + MMP integration &amp; data homologation (close </a:t>
            </a:r>
            <a:r>
              <a:rPr sz="1250" b="0" dirty="0" err="1">
                <a:solidFill>
                  <a:srgbClr val="FFFFFF"/>
                </a:solidFill>
                <a:latin typeface="Avantt TRIAL"/>
              </a:rPr>
              <a:t>AppsFlyer</a:t>
            </a:r>
            <a:r>
              <a:rPr sz="1250" b="0" dirty="0">
                <a:solidFill>
                  <a:srgbClr val="FFFFFF"/>
                </a:solidFill>
                <a:latin typeface="Avantt TRIAL"/>
              </a:rPr>
              <a:t> order gap).</a:t>
            </a:r>
          </a:p>
          <a:p>
            <a:pPr>
              <a:spcAft>
                <a:spcPts val="300"/>
              </a:spcAft>
            </a:pPr>
            <a:r>
              <a:rPr sz="1250" b="0" dirty="0">
                <a:solidFill>
                  <a:srgbClr val="FFFFFF"/>
                </a:solidFill>
                <a:latin typeface="Avantt TRIAL"/>
              </a:rPr>
              <a:t>• #3 Payment gateways — BIN / bank partnerships (BBVA, BCP).</a:t>
            </a:r>
          </a:p>
          <a:p>
            <a:pPr>
              <a:spcAft>
                <a:spcPts val="300"/>
              </a:spcAft>
            </a:pPr>
            <a:r>
              <a:rPr sz="1250" b="0" dirty="0">
                <a:solidFill>
                  <a:srgbClr val="FFFFFF"/>
                </a:solidFill>
                <a:latin typeface="Avantt TRIAL"/>
              </a:rPr>
              <a:t>• #4 Coupon wallet UX &amp; ordering (Club </a:t>
            </a:r>
            <a:r>
              <a:rPr sz="1250" b="0" dirty="0" err="1">
                <a:solidFill>
                  <a:srgbClr val="FFFFFF"/>
                </a:solidFill>
                <a:latin typeface="Avantt TRIAL"/>
              </a:rPr>
              <a:t>TaDa</a:t>
            </a:r>
            <a:r>
              <a:rPr sz="1250" b="0" dirty="0">
                <a:solidFill>
                  <a:srgbClr val="FFFFFF"/>
                </a:solidFill>
                <a:latin typeface="Avantt TRIAL"/>
              </a:rPr>
              <a:t> without burying other coupons).</a:t>
            </a:r>
          </a:p>
          <a:p>
            <a:pPr>
              <a:spcBef>
                <a:spcPts val="800"/>
              </a:spcBef>
            </a:pPr>
            <a:r>
              <a:rPr sz="1500" b="1" dirty="0">
                <a:solidFill>
                  <a:srgbClr val="9C41FF"/>
                </a:solidFill>
                <a:latin typeface="Avantt TRIAL ExtraBold"/>
              </a:rPr>
              <a:t>Shipping / near term (Sep 3)</a:t>
            </a:r>
          </a:p>
          <a:p>
            <a:pPr>
              <a:spcAft>
                <a:spcPts val="300"/>
              </a:spcAft>
            </a:pPr>
            <a:r>
              <a:rPr sz="1250" b="0" dirty="0">
                <a:solidFill>
                  <a:srgbClr val="FFFFFF"/>
                </a:solidFill>
                <a:latin typeface="Avantt TRIAL"/>
              </a:rPr>
              <a:t>• </a:t>
            </a:r>
            <a:r>
              <a:rPr sz="1250" b="0" dirty="0" err="1">
                <a:solidFill>
                  <a:srgbClr val="FFFFFF"/>
                </a:solidFill>
                <a:latin typeface="Avantt TRIAL"/>
              </a:rPr>
              <a:t>Multishowcases</a:t>
            </a:r>
            <a:r>
              <a:rPr sz="1250" b="0" dirty="0">
                <a:solidFill>
                  <a:srgbClr val="FFFFFF"/>
                </a:solidFill>
                <a:latin typeface="Avantt TRIAL"/>
              </a:rPr>
              <a:t> (Sep 15 target) · Buy Again 61% order conversion · new address flow (CO live).</a:t>
            </a:r>
          </a:p>
          <a:p>
            <a:pPr>
              <a:spcAft>
                <a:spcPts val="300"/>
              </a:spcAft>
            </a:pPr>
            <a:r>
              <a:rPr sz="1250" b="0" dirty="0">
                <a:solidFill>
                  <a:srgbClr val="FFFFFF"/>
                </a:solidFill>
                <a:latin typeface="Avantt TRIAL"/>
              </a:rPr>
              <a:t>• Live Activities on lock screen (Sep 1) · search typo fallback · brand pages for </a:t>
            </a:r>
            <a:r>
              <a:rPr sz="1250" b="0" dirty="0" err="1">
                <a:solidFill>
                  <a:srgbClr val="FFFFFF"/>
                </a:solidFill>
                <a:latin typeface="Avantt TRIAL"/>
              </a:rPr>
              <a:t>returnables</a:t>
            </a:r>
            <a:r>
              <a:rPr sz="1250" b="0" dirty="0">
                <a:solidFill>
                  <a:srgbClr val="FFFFFF"/>
                </a:solidFill>
                <a:latin typeface="Avantt TRIAL"/>
              </a:rPr>
              <a:t> education.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44652" y="612648"/>
            <a:ext cx="1051560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9C41FF"/>
                </a:solidFill>
                <a:latin typeface="Avantt TRIAL ExtraBold"/>
              </a:rPr>
              <a:t>REWARDS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4652" y="1389888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CCCCCC"/>
                </a:solidFill>
                <a:latin typeface="Avantt TRIAL"/>
              </a:rPr>
              <a:t>Workshop Sep 2 + Club TaDa launch week · dependency-heavy stack before tiers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1708" y="1847088"/>
            <a:ext cx="1083564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500" b="1" dirty="0">
                <a:solidFill>
                  <a:srgbClr val="9C41FF"/>
                </a:solidFill>
                <a:latin typeface="Avantt TRIAL ExtraBold"/>
              </a:rPr>
              <a:t>What we learned</a:t>
            </a:r>
          </a:p>
          <a:p>
            <a:pPr>
              <a:spcAft>
                <a:spcPts val="300"/>
              </a:spcAft>
            </a:pPr>
            <a:r>
              <a:rPr sz="1250" b="0" dirty="0">
                <a:solidFill>
                  <a:srgbClr val="FFFFFF"/>
                </a:solidFill>
                <a:latin typeface="Avantt TRIAL"/>
              </a:rPr>
              <a:t>• Club </a:t>
            </a:r>
            <a:r>
              <a:rPr sz="1250" b="0" dirty="0" err="1">
                <a:solidFill>
                  <a:srgbClr val="FFFFFF"/>
                </a:solidFill>
                <a:latin typeface="Avantt TRIAL"/>
              </a:rPr>
              <a:t>TaDa</a:t>
            </a:r>
            <a:r>
              <a:rPr sz="1250" b="0" dirty="0">
                <a:solidFill>
                  <a:srgbClr val="FFFFFF"/>
                </a:solidFill>
                <a:latin typeface="Avantt TRIAL"/>
              </a:rPr>
              <a:t> launched during visit — ~85% active users enrolled, mostly B tier; tiers not live yet.</a:t>
            </a:r>
          </a:p>
          <a:p>
            <a:pPr>
              <a:spcAft>
                <a:spcPts val="300"/>
              </a:spcAft>
            </a:pPr>
            <a:r>
              <a:rPr sz="1250" b="0" dirty="0">
                <a:solidFill>
                  <a:srgbClr val="FFFFFF"/>
                </a:solidFill>
                <a:latin typeface="Avantt TRIAL"/>
              </a:rPr>
              <a:t>• Heavy reliance on monetary coupons; want Braze enrichment — points for surveys, channels, data (vote #1).</a:t>
            </a:r>
          </a:p>
          <a:p>
            <a:pPr>
              <a:spcAft>
                <a:spcPts val="300"/>
              </a:spcAft>
            </a:pPr>
            <a:r>
              <a:rPr sz="1250" b="0" dirty="0">
                <a:solidFill>
                  <a:srgbClr val="FFFFFF"/>
                </a:solidFill>
                <a:latin typeface="Avantt TRIAL"/>
              </a:rPr>
              <a:t>• Flash burn coupons with countdown not built; wallet visuals and coupon images lag competitors.</a:t>
            </a:r>
          </a:p>
          <a:p>
            <a:pPr>
              <a:spcAft>
                <a:spcPts val="300"/>
              </a:spcAft>
            </a:pPr>
            <a:r>
              <a:rPr sz="1250" b="0" dirty="0">
                <a:solidFill>
                  <a:srgbClr val="FFFFFF"/>
                </a:solidFill>
                <a:latin typeface="Avantt TRIAL"/>
              </a:rPr>
              <a:t>• Rewards admin outside BEES — CAO list downloads, manual anti-fraud for </a:t>
            </a:r>
            <a:r>
              <a:rPr sz="1250" b="0" dirty="0" err="1">
                <a:solidFill>
                  <a:srgbClr val="FFFFFF"/>
                </a:solidFill>
                <a:latin typeface="Avantt TRIAL"/>
              </a:rPr>
              <a:t>bodegueros</a:t>
            </a:r>
            <a:r>
              <a:rPr sz="1250" b="0" dirty="0">
                <a:solidFill>
                  <a:srgbClr val="FFFFFF"/>
                </a:solidFill>
                <a:latin typeface="Avantt TRIAL"/>
              </a:rPr>
              <a:t>, raffle winners manual.</a:t>
            </a:r>
          </a:p>
          <a:p>
            <a:pPr>
              <a:spcAft>
                <a:spcPts val="300"/>
              </a:spcAft>
            </a:pPr>
            <a:r>
              <a:rPr sz="1250" b="0" dirty="0">
                <a:solidFill>
                  <a:srgbClr val="FFFFFF"/>
                </a:solidFill>
                <a:latin typeface="Avantt TRIAL"/>
              </a:rPr>
              <a:t>• </a:t>
            </a:r>
            <a:r>
              <a:rPr sz="1250" b="0" dirty="0" err="1">
                <a:solidFill>
                  <a:srgbClr val="FFFFFF"/>
                </a:solidFill>
                <a:latin typeface="Avantt TRIAL"/>
              </a:rPr>
              <a:t>SessionM</a:t>
            </a:r>
            <a:r>
              <a:rPr sz="1250" b="0" dirty="0">
                <a:solidFill>
                  <a:srgbClr val="FFFFFF"/>
                </a:solidFill>
                <a:latin typeface="Avantt TRIAL"/>
              </a:rPr>
              <a:t> ↔ Bees One catalog sync friction; batch points and custom events need hardening.</a:t>
            </a:r>
          </a:p>
          <a:p>
            <a:pPr>
              <a:spcAft>
                <a:spcPts val="300"/>
              </a:spcAft>
            </a:pPr>
            <a:r>
              <a:rPr sz="1250" b="0" dirty="0">
                <a:solidFill>
                  <a:srgbClr val="FFFFFF"/>
                </a:solidFill>
                <a:latin typeface="Avantt TRIAL"/>
              </a:rPr>
              <a:t>• Future vision voted: football occasion earn/burn + API, omnichannel redeem (Tambo/OXXO test), tiers 3–4 yr horizon.</a:t>
            </a:r>
          </a:p>
          <a:p>
            <a:pPr>
              <a:spcAft>
                <a:spcPts val="300"/>
              </a:spcAft>
            </a:pPr>
            <a:r>
              <a:rPr sz="1250" b="0" dirty="0">
                <a:solidFill>
                  <a:srgbClr val="FFFFFF"/>
                </a:solidFill>
                <a:latin typeface="Avantt TRIAL"/>
              </a:rPr>
              <a:t>• National awareness 9% — loyalty must pair with reliability (Consumer map/address) and CRM data quality.</a:t>
            </a:r>
          </a:p>
          <a:p>
            <a:pPr>
              <a:spcBef>
                <a:spcPts val="800"/>
              </a:spcBef>
            </a:pPr>
            <a:r>
              <a:rPr sz="1500" b="1" dirty="0">
                <a:solidFill>
                  <a:srgbClr val="9C41FF"/>
                </a:solidFill>
                <a:latin typeface="Avantt TRIAL ExtraBold"/>
              </a:rPr>
              <a:t>Workshop top 4 votes</a:t>
            </a:r>
          </a:p>
          <a:p>
            <a:pPr>
              <a:spcAft>
                <a:spcPts val="300"/>
              </a:spcAft>
            </a:pPr>
            <a:r>
              <a:rPr sz="1250" b="0" dirty="0">
                <a:solidFill>
                  <a:srgbClr val="FFFFFF"/>
                </a:solidFill>
                <a:latin typeface="Avantt TRIAL"/>
              </a:rPr>
              <a:t>• #1 Club </a:t>
            </a:r>
            <a:r>
              <a:rPr sz="1250" b="0" dirty="0" err="1">
                <a:solidFill>
                  <a:srgbClr val="FFFFFF"/>
                </a:solidFill>
                <a:latin typeface="Avantt TRIAL"/>
              </a:rPr>
              <a:t>TaDa</a:t>
            </a:r>
            <a:r>
              <a:rPr sz="1250" b="0" dirty="0">
                <a:solidFill>
                  <a:srgbClr val="FFFFFF"/>
                </a:solidFill>
                <a:latin typeface="Avantt TRIAL"/>
              </a:rPr>
              <a:t> × Braze — points for enrichment, surveys, channel opt-in.</a:t>
            </a:r>
          </a:p>
          <a:p>
            <a:pPr>
              <a:spcAft>
                <a:spcPts val="300"/>
              </a:spcAft>
            </a:pPr>
            <a:r>
              <a:rPr sz="1250" b="0" dirty="0">
                <a:solidFill>
                  <a:srgbClr val="FFFFFF"/>
                </a:solidFill>
                <a:latin typeface="Avantt TRIAL"/>
              </a:rPr>
              <a:t>• #2 Flash coupon (burn) with time-boxed countdown in wallet.</a:t>
            </a:r>
          </a:p>
          <a:p>
            <a:pPr>
              <a:spcAft>
                <a:spcPts val="300"/>
              </a:spcAft>
            </a:pPr>
            <a:r>
              <a:rPr sz="1250" b="0" dirty="0">
                <a:solidFill>
                  <a:srgbClr val="FFFFFF"/>
                </a:solidFill>
                <a:latin typeface="Avantt TRIAL"/>
              </a:rPr>
              <a:t>• #3 Rewards admin inside BEES — coupons, missions, rules in one place.</a:t>
            </a:r>
          </a:p>
          <a:p>
            <a:pPr>
              <a:spcAft>
                <a:spcPts val="300"/>
              </a:spcAft>
            </a:pPr>
            <a:r>
              <a:rPr sz="1250" b="0" dirty="0">
                <a:solidFill>
                  <a:srgbClr val="FFFFFF"/>
                </a:solidFill>
                <a:latin typeface="Avantt TRIAL"/>
              </a:rPr>
              <a:t>• #4 Automated anti-fraud — </a:t>
            </a:r>
            <a:r>
              <a:rPr sz="1250" b="0" dirty="0" err="1">
                <a:solidFill>
                  <a:srgbClr val="FFFFFF"/>
                </a:solidFill>
                <a:latin typeface="Avantt TRIAL"/>
              </a:rPr>
              <a:t>bodeguero</a:t>
            </a:r>
            <a:r>
              <a:rPr sz="1250" b="0" dirty="0">
                <a:solidFill>
                  <a:srgbClr val="FFFFFF"/>
                </a:solidFill>
                <a:latin typeface="Avantt TRIAL"/>
              </a:rPr>
              <a:t> patterns, abnormal earn/burn.</a:t>
            </a:r>
          </a:p>
          <a:p>
            <a:pPr>
              <a:spcBef>
                <a:spcPts val="800"/>
              </a:spcBef>
            </a:pPr>
            <a:r>
              <a:rPr sz="1500" b="1" dirty="0">
                <a:solidFill>
                  <a:srgbClr val="9C41FF"/>
                </a:solidFill>
                <a:latin typeface="Avantt TRIAL ExtraBold"/>
              </a:rPr>
              <a:t>Now vs later</a:t>
            </a:r>
          </a:p>
          <a:p>
            <a:pPr>
              <a:spcAft>
                <a:spcPts val="300"/>
              </a:spcAft>
            </a:pPr>
            <a:r>
              <a:rPr sz="1250" b="0" dirty="0">
                <a:solidFill>
                  <a:srgbClr val="FFFFFF"/>
                </a:solidFill>
                <a:latin typeface="Avantt TRIAL"/>
              </a:rPr>
              <a:t>• Now: wallet UX + flash mechanics with Club admin · Braze triggers · BEES admin centralization.</a:t>
            </a:r>
          </a:p>
          <a:p>
            <a:pPr>
              <a:spcAft>
                <a:spcPts val="300"/>
              </a:spcAft>
            </a:pPr>
            <a:r>
              <a:rPr sz="1250" b="0" dirty="0">
                <a:solidFill>
                  <a:srgbClr val="FFFFFF"/>
                </a:solidFill>
                <a:latin typeface="Avantt TRIAL"/>
              </a:rPr>
              <a:t>• Gate: homologate events before scaling personalized earn/burn.</a:t>
            </a:r>
          </a:p>
          <a:p>
            <a:pPr>
              <a:spcAft>
                <a:spcPts val="300"/>
              </a:spcAft>
            </a:pPr>
            <a:r>
              <a:rPr sz="1250" b="0" dirty="0">
                <a:solidFill>
                  <a:srgbClr val="FFFFFF"/>
                </a:solidFill>
                <a:latin typeface="Avantt TRIAL"/>
              </a:rPr>
              <a:t>• Later: tiers, omnichannel redemption, football API, premium hospitality experiences.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Tema4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ema4" id="{2A339A7A-944F-6643-AA14-B14628DB3669}" vid="{678B67D1-45DF-F84A-97FF-5A3FBCCD3286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1312</Words>
  <Application>Microsoft Macintosh PowerPoint</Application>
  <PresentationFormat>Widescreen</PresentationFormat>
  <Paragraphs>77</Paragraphs>
  <Slides>5</Slides>
  <Notes>0</Notes>
  <HiddenSlides>0</HiddenSlides>
  <MMClips>0</MMClips>
  <ScaleCrop>false</ScaleCrop>
  <HeadingPairs>
    <vt:vector size="8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Servidores OLE inseridos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12" baseType="lpstr">
      <vt:lpstr>Aptos</vt:lpstr>
      <vt:lpstr>Arial</vt:lpstr>
      <vt:lpstr>Arial Black</vt:lpstr>
      <vt:lpstr>Avantt TRIAL</vt:lpstr>
      <vt:lpstr>Avantt TRIAL ExtraBold</vt:lpstr>
      <vt:lpstr>Tema4</vt:lpstr>
      <vt:lpstr>think-cell Slide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JUAN PEDRO NICOTRA</dc:creator>
  <cp:lastModifiedBy>Damasceno, Vivian</cp:lastModifiedBy>
  <cp:revision>8</cp:revision>
  <dcterms:created xsi:type="dcterms:W3CDTF">2025-09-01T22:18:54Z</dcterms:created>
  <dcterms:modified xsi:type="dcterms:W3CDTF">2026-09-11T14:36:02Z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8104b14-b53d-46de-9ae8-975cc0e84815_Enabled">
    <vt:lpwstr>true</vt:lpwstr>
  </property>
  <property fmtid="{D5CDD505-2E9C-101B-9397-08002B2CF9AE}" pid="3" name="MSIP_Label_68104b14-b53d-46de-9ae8-975cc0e84815_SetDate">
    <vt:lpwstr>2025-09-02T03:58:10Z</vt:lpwstr>
  </property>
  <property fmtid="{D5CDD505-2E9C-101B-9397-08002B2CF9AE}" pid="4" name="MSIP_Label_68104b14-b53d-46de-9ae8-975cc0e84815_Method">
    <vt:lpwstr>Standard</vt:lpwstr>
  </property>
  <property fmtid="{D5CDD505-2E9C-101B-9397-08002B2CF9AE}" pid="5" name="MSIP_Label_68104b14-b53d-46de-9ae8-975cc0e84815_Name">
    <vt:lpwstr>ABI_MIP_InternalUseOnly</vt:lpwstr>
  </property>
  <property fmtid="{D5CDD505-2E9C-101B-9397-08002B2CF9AE}" pid="6" name="MSIP_Label_68104b14-b53d-46de-9ae8-975cc0e84815_SiteId">
    <vt:lpwstr>cef04b19-7776-4a94-b89b-375c77a8f936</vt:lpwstr>
  </property>
  <property fmtid="{D5CDD505-2E9C-101B-9397-08002B2CF9AE}" pid="7" name="MSIP_Label_68104b14-b53d-46de-9ae8-975cc0e84815_ActionId">
    <vt:lpwstr>8d5afb12-6287-4686-a515-b929b02cbe92</vt:lpwstr>
  </property>
  <property fmtid="{D5CDD505-2E9C-101B-9397-08002B2CF9AE}" pid="8" name="MSIP_Label_68104b14-b53d-46de-9ae8-975cc0e84815_ContentBits">
    <vt:lpwstr>0</vt:lpwstr>
  </property>
  <property fmtid="{D5CDD505-2E9C-101B-9397-08002B2CF9AE}" pid="9" name="MSIP_Label_68104b14-b53d-46de-9ae8-975cc0e84815_Tag">
    <vt:lpwstr>50, 3, 0, 1</vt:lpwstr>
  </property>
</Properties>
</file>